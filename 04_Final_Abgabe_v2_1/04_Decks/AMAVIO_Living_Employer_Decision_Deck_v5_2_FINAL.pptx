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1e33e1b594017" /><Relationship Type="http://schemas.openxmlformats.org/officeDocument/2006/relationships/extended-properties" Target="/docProps/app.xml" Id="Rbcceaef12dd24086" /><Relationship Type="http://schemas.openxmlformats.org/officeDocument/2006/relationships/officeDocument" Target="/ppt/presentation.xml" Id="R056f4390568e4a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52f07d9014a81"/>
  </p:sldMasterIdLst>
  <p:notesMasterIdLst>
    <p:notesMasterId xmlns:r="http://schemas.openxmlformats.org/officeDocument/2006/relationships" r:id="Ra840dd1cae204b54"/>
  </p:notesMasterIdLst>
  <p:sldIdLst>
    <p:sldId xmlns:r="http://schemas.openxmlformats.org/officeDocument/2006/relationships" id="256" r:id="R08e0849db3f443f1"/>
    <p:sldId xmlns:r="http://schemas.openxmlformats.org/officeDocument/2006/relationships" id="257" r:id="Rf4f2b33129a5496c"/>
    <p:sldId xmlns:r="http://schemas.openxmlformats.org/officeDocument/2006/relationships" id="258" r:id="R54af7b69dc654de3"/>
    <p:sldId xmlns:r="http://schemas.openxmlformats.org/officeDocument/2006/relationships" id="259" r:id="R80d584d27aba4442"/>
    <p:sldId xmlns:r="http://schemas.openxmlformats.org/officeDocument/2006/relationships" id="260" r:id="R479b29c8ab3a46a1"/>
    <p:sldId xmlns:r="http://schemas.openxmlformats.org/officeDocument/2006/relationships" id="261" r:id="R047ed1c36a924a14"/>
    <p:sldId xmlns:r="http://schemas.openxmlformats.org/officeDocument/2006/relationships" id="262" r:id="R073bde3f671142f5"/>
    <p:sldId xmlns:r="http://schemas.openxmlformats.org/officeDocument/2006/relationships" id="263" r:id="R3c496e83d2344564"/>
    <p:sldId xmlns:r="http://schemas.openxmlformats.org/officeDocument/2006/relationships" id="264" r:id="R57f97c55f111450b"/>
    <p:sldId xmlns:r="http://schemas.openxmlformats.org/officeDocument/2006/relationships" id="265" r:id="R6a284474af484239"/>
    <p:sldId xmlns:r="http://schemas.openxmlformats.org/officeDocument/2006/relationships" id="266" r:id="Rebbe61f503e84505"/>
    <p:sldId xmlns:r="http://schemas.openxmlformats.org/officeDocument/2006/relationships" id="267" r:id="R3a8cd570ce2641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9b31020644a79" /><Relationship Type="http://schemas.openxmlformats.org/officeDocument/2006/relationships/slideMaster" Target="/ppt/slideMasters/slideMaster1.xml" Id="R2b652f07d9014a81" /><Relationship Type="http://schemas.openxmlformats.org/officeDocument/2006/relationships/notesMaster" Target="/ppt/notesMasters/notesMaster1.xml" Id="Ra840dd1cae204b54" /><Relationship Type="http://schemas.openxmlformats.org/officeDocument/2006/relationships/presProps" Target="/ppt/presProps.xml" Id="Refd688dbd0a14178" /><Relationship Type="http://schemas.openxmlformats.org/officeDocument/2006/relationships/tableStyles" Target="/ppt/tableStyles.xml" Id="R4654fe4e7b104f16" /><Relationship Type="http://schemas.openxmlformats.org/officeDocument/2006/relationships/slide" Target="/ppt/slides/slide1.xml" Id="R08e0849db3f443f1" /><Relationship Type="http://schemas.openxmlformats.org/officeDocument/2006/relationships/slide" Target="/ppt/slides/slide2.xml" Id="Rf4f2b33129a5496c" /><Relationship Type="http://schemas.openxmlformats.org/officeDocument/2006/relationships/slide" Target="/ppt/slides/slide3.xml" Id="R54af7b69dc654de3" /><Relationship Type="http://schemas.openxmlformats.org/officeDocument/2006/relationships/slide" Target="/ppt/slides/slide4.xml" Id="R80d584d27aba4442" /><Relationship Type="http://schemas.openxmlformats.org/officeDocument/2006/relationships/slide" Target="/ppt/slides/slide5.xml" Id="R479b29c8ab3a46a1" /><Relationship Type="http://schemas.openxmlformats.org/officeDocument/2006/relationships/slide" Target="/ppt/slides/slide6.xml" Id="R047ed1c36a924a14" /><Relationship Type="http://schemas.openxmlformats.org/officeDocument/2006/relationships/slide" Target="/ppt/slides/slide7.xml" Id="R073bde3f671142f5" /><Relationship Type="http://schemas.openxmlformats.org/officeDocument/2006/relationships/slide" Target="/ppt/slides/slide8.xml" Id="R3c496e83d2344564" /><Relationship Type="http://schemas.openxmlformats.org/officeDocument/2006/relationships/slide" Target="/ppt/slides/slide9.xml" Id="R57f97c55f111450b" /><Relationship Type="http://schemas.openxmlformats.org/officeDocument/2006/relationships/slide" Target="/ppt/slides/slide10.xml" Id="R6a284474af484239" /><Relationship Type="http://schemas.openxmlformats.org/officeDocument/2006/relationships/slide" Target="/ppt/slides/slide11.xml" Id="Rebbe61f503e84505" /><Relationship Type="http://schemas.openxmlformats.org/officeDocument/2006/relationships/slide" Target="/ppt/slides/slide12.xml" Id="R3a8cd570ce26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20a5206e24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02e49d4904e0a" /><Relationship Type="http://schemas.openxmlformats.org/officeDocument/2006/relationships/notesMaster" Target="/ppt/notesMasters/notesMaster1.xml" Id="R1cd6c1bcd9344b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bfc09e0d1d4c9a" /><Relationship Type="http://schemas.openxmlformats.org/officeDocument/2006/relationships/notesMaster" Target="/ppt/notesMasters/notesMaster1.xml" Id="Rf8e3466aa4f541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a031223b4422e" /><Relationship Type="http://schemas.openxmlformats.org/officeDocument/2006/relationships/notesMaster" Target="/ppt/notesMasters/notesMaster1.xml" Id="R53b08504d2bf4e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c3042c8f524d88" /><Relationship Type="http://schemas.openxmlformats.org/officeDocument/2006/relationships/notesMaster" Target="/ppt/notesMasters/notesMaster1.xml" Id="Rad0dc49e6375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ee93846dfe4ff1" /><Relationship Type="http://schemas.openxmlformats.org/officeDocument/2006/relationships/notesMaster" Target="/ppt/notesMasters/notesMaster1.xml" Id="R0ad5cb5eeb69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aaec1c7f5945cf" /><Relationship Type="http://schemas.openxmlformats.org/officeDocument/2006/relationships/notesMaster" Target="/ppt/notesMasters/notesMaster1.xml" Id="Rc534e2e2021945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7137ced2914f1b" /><Relationship Type="http://schemas.openxmlformats.org/officeDocument/2006/relationships/notesMaster" Target="/ppt/notesMasters/notesMaster1.xml" Id="R9ab66072116549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79e2528bfc496c" /><Relationship Type="http://schemas.openxmlformats.org/officeDocument/2006/relationships/notesMaster" Target="/ppt/notesMasters/notesMaster1.xml" Id="Rb6b45441f5554a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3a35fbf65345a3" /><Relationship Type="http://schemas.openxmlformats.org/officeDocument/2006/relationships/notesMaster" Target="/ppt/notesMasters/notesMaster1.xml" Id="R272a629ba2c149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c689458218494d" /><Relationship Type="http://schemas.openxmlformats.org/officeDocument/2006/relationships/notesMaster" Target="/ppt/notesMasters/notesMaster1.xml" Id="Rb647cf4e55c543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cb7084b9a6462a" /><Relationship Type="http://schemas.openxmlformats.org/officeDocument/2006/relationships/notesMaster" Target="/ppt/notesMasters/notesMaster1.xml" Id="R138fb18b02a944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16ffd4c8cc42e3" /><Relationship Type="http://schemas.openxmlformats.org/officeDocument/2006/relationships/notesMaster" Target="/ppt/notesMasters/notesMaster1.xml" Id="R174868ed03d0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Produktarchitektur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a983147f1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73f1b8700c4ec0" /><Relationship Type="http://schemas.openxmlformats.org/officeDocument/2006/relationships/slideLayout" Target="/ppt/slideLayouts/slideLayout1.xml" Id="Rbca81983e10a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81983e10a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7fdb3b044bdd" /><Relationship Type="http://schemas.openxmlformats.org/officeDocument/2006/relationships/image" Target="/ppt/media/image.png" Id="Raaa8f3a59dc44ed9" /><Relationship Type="http://schemas.openxmlformats.org/officeDocument/2006/relationships/notesSlide" Target="/ppt/notesSlides/notesSlide1.xml" Id="R8aa91231fac7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ed1ef30804571" /><Relationship Type="http://schemas.openxmlformats.org/officeDocument/2006/relationships/notesSlide" Target="/ppt/notesSlides/notesSlide2.xml" Id="Rdbd37299353743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cdab8c66c462a" /><Relationship Type="http://schemas.openxmlformats.org/officeDocument/2006/relationships/notesSlide" Target="/ppt/notesSlides/notesSlide3.xml" Id="R7c13e688c11542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ab65493f74134" /><Relationship Type="http://schemas.openxmlformats.org/officeDocument/2006/relationships/notesSlide" Target="/ppt/notesSlides/notesSlide4.xml" Id="Rf7a17ca4eaee45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3457bed04664" /><Relationship Type="http://schemas.openxmlformats.org/officeDocument/2006/relationships/notesSlide" Target="/ppt/notesSlides/notesSlide5.xml" Id="R817023f7a0db46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0ef4766bf4122" /><Relationship Type="http://schemas.openxmlformats.org/officeDocument/2006/relationships/notesSlide" Target="/ppt/notesSlides/notesSlide6.xml" Id="R97dea2ef861245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c6ef1a0a04c40" /><Relationship Type="http://schemas.openxmlformats.org/officeDocument/2006/relationships/notesSlide" Target="/ppt/notesSlides/notesSlide7.xml" Id="Rbd697e14e6ce4a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11563e82f478c" /><Relationship Type="http://schemas.openxmlformats.org/officeDocument/2006/relationships/notesSlide" Target="/ppt/notesSlides/notesSlide8.xml" Id="R1ace34b80ffa49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df792fafb483d" /><Relationship Type="http://schemas.openxmlformats.org/officeDocument/2006/relationships/notesSlide" Target="/ppt/notesSlides/notesSlide9.xml" Id="Rab33965953fc47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0187fe0e49d1" /><Relationship Type="http://schemas.openxmlformats.org/officeDocument/2006/relationships/notesSlide" Target="/ppt/notesSlides/notesSlide10.xml" Id="Re8033fdaa67c4d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e962bdb8148c4" /><Relationship Type="http://schemas.openxmlformats.org/officeDocument/2006/relationships/notesSlide" Target="/ppt/notesSlides/notesSlide11.xml" Id="Rb89be3c881b543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1f879b60a4be1" /><Relationship Type="http://schemas.openxmlformats.org/officeDocument/2006/relationships/notesSlide" Target="/ppt/notesSlides/notesSlide12.xml" Id="R255dda99e1ab47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8f3a59dc44e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D17A6-E919-431F-954B-B5A858BC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09C8F-0DC0-47D2-A9DC-1C85623E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8F8B8-1721-474D-9389-BCA610B6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2996-CAE1-42B3-9592-B7FD23E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4806-5F9A-4639-8C11-9A698DE4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AC0E0-5CBD-4F76-9E90-14402CB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994FD-62B1-4938-ACE6-8830912D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ARBEITGEBER-ENTSCHEIDUNGSDECK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8A7CE-94F4-47ED-A28E-5326669F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D110E-C315-4FC0-9BCF-30CCD51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619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Internationale Fachkräfte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sollen arbeitsfähig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starten.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6F9F2-2057-410C-8B43-3958076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7E4E4"/>
                </a:solidFill>
              </a:defRPr>
            </a:pPr>
            <a:r>
              <a:rPr sz="1500" b="0" i="0">
                <a:solidFill>
                  <a:srgbClr val="D7E4E4"/>
                </a:solidFill>
              </a:rPr>
              <a:t>AMAVIO Living organisiert Wohnen, Bezugsfertigkeit und Ankunft in einem verantworteten Prozess.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098E6-FBFD-479D-B213-76F7442D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F9BFB-9E0C-4302-897C-766DE1C8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AMAVIO Living · Workforce Housing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36564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BCC63-7BDF-41A8-B12D-675969A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6819-062E-451C-AE78-0B531E6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4EEB1-A648-4FF3-B263-DF311DA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32AE0-5335-4069-AFB7-3ADEC28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6B4C-956A-4394-94D1-D43EE22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OPERATIVE REALITÄT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F10D-30B1-426B-8728-D5B4BE2D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86ECB-730D-49BF-A721-6412A47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Der Arbeitsvertrag löst die wichtigste operative Frage noch nicht.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CA9B2-C713-4580-AC81-0965DB8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Zwischen Zusage und erstem Arbeitstag müssen fünf Abhängigkeiten sauber zusammengeführt werden.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3799A-9183-4BCD-B3E0-03200F9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34341-A818-4C93-AC6E-16108337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5B6FC-8EEC-4D2B-A198-9F2BBA0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Bedarf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CD74-8BEC-4D29-AA7A-F8D86DB5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Kohorte, Standort, Startfenster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6AF4-E553-4565-A17A-F36393F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1B44A-B1CB-4CF6-8031-D3A42E4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E4A38-E99C-4CD6-9C44-8941D3A1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Wohnlösung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082C4-11AA-4E9B-AF55-93150B1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Optionen, Budget, Pendelzeit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533E3-9F7E-4BC3-9410-C48BC5F4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1C12C-DAC9-4837-A11B-F5EDD4AF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7C65F-0DD2-404E-A952-A33D287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Bezugsfertigkeit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1E821-0324-4685-B6FF-0016A61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Ausstattung, Übergabe, Dokumente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92376-DF7E-4000-A200-AA2FF11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FE72E-D62D-435A-A63E-B046255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399BE-259D-4F05-BE13-E000016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Ankunft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469F7-93D0-4574-9458-43448487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Zimmer, Schlüssel, Orientierung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FABB3-30C7-4587-946D-26ECB99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815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B4E16-EB6D-4AFA-BD2A-03DEC3F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0B2D2-4C41-4E5C-BE3C-C7C4961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Stabilisierung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F194B-4493-4D9C-8EA3-99E3F7B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30/60/90-Tage, Eskalation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03D5E-BF0A-414D-A0B4-0FA928C6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B7181-C915-4631-B177-56164DE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Ein kontrollierter Start schützt Recruiting-Investment, Teams und neue Mitarbeitende.</a:t>
            </a:r>
          </a:p>
        </p:txBody>
      </p:sp>
    </p:spTree>
    <p:extLst>
      <p:ext uri="{BB962C8B-B14F-4D97-AF65-F5344CB8AC3E}">
        <p14:creationId xmlns:p14="http://schemas.microsoft.com/office/powerpoint/2010/main" val="1437611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77FE2-D788-4328-AA3D-3E34176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6DB22-994A-4DAB-A97D-607C1E2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B49C2-1FA0-4E57-AA43-B73849F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7AFD1-193F-48F4-875C-4507364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125D9-BA3C-43B6-B89A-37FD336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DAS BETRIEBSSYSTEM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ADCD-748C-4E95-8092-7337CEC4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3A503-11F5-49BA-97C4-CDE5CE89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AMAVIO macht aus vielen Parteien einen steuerbaren Projektpfad.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EC62-59BB-4F2A-BEFF-09D5148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Wir strukturieren die Zusammenarbeit; Verträge, Genehmigungen und Fremdkosten bleiben bei den zuständigen Parteien.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C2E13-FBCE-45AA-A837-4D3B989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5FE97-A352-4634-89AC-F4F441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53887-EE77-4061-9591-0434453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C652F-7BA1-4607-9D79-E824A7C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Entscheidungsreife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F3E90-2373-44DA-9EC4-6E7370E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Bedarf, Zielbild, Budgetroute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BA38A-0DA1-4285-88F4-54F3EF6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96186-5641-4712-B792-895A527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E1A0C-6708-4CCA-8576-4D2F304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Launch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14689-FA6B-4ACA-A9A3-8A9482B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Taktung, Partner, Status, Abnahme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01897-BFA9-40EF-8090-21E76B7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89410-F8C8-4C0B-A6CB-8A758FA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FF19C-5959-4797-815A-40D3C11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Stabiler Übergang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43A2-E737-452E-A92B-6002CB4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Einzug, Issue Log, 30-Tage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4E39E-A6F3-4578-A864-14F93BF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9DA86-254B-4D77-9D78-EFAE50F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AMAVIO Living ist Projekt- und Implementierungspartner – keine Wohnraum- oder Rechtsgarantie.</a:t>
            </a:r>
          </a:p>
        </p:txBody>
      </p:sp>
    </p:spTree>
    <p:extLst>
      <p:ext uri="{BB962C8B-B14F-4D97-AF65-F5344CB8AC3E}">
        <p14:creationId xmlns:p14="http://schemas.microsoft.com/office/powerpoint/2010/main" val="649801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C1381-B69C-4EDF-B51C-2215F14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E564A-419F-4D2E-BDC7-35E897C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0150-7E96-4ECA-9033-3E9D3A6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283A-7FA5-428A-937D-A0B8292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87791-E7F4-4A90-8E87-67B46DC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FREIGABEN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FDF3B-BAE8-4C98-8078-928EFB74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80C0-A3D9-493C-AE9A-C9C03F9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Ein guter Launch beginnt mit fünf bestätigten Entscheidungen.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BFA8A-44F8-495A-A506-5447F00C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Freigaben machen Risiken sichtbar, bevor Budget, Teams oder Bewohner in einen unklaren Prozess geraten.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4B92-4EF4-41CD-8178-7755284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313D-A56D-4102-A298-4E9C6F9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AC27-6AEF-45FF-B115-3815330F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F7377-3B70-44F1-BC5F-861B2F5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F0E51-8180-438A-87E3-19DACD77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B5950-4F4E-4C78-9431-3E6A624F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50801-0DE9-4D97-AA79-BC7DBD6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5E8F2-88F4-4541-A567-2A471E5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8836E-FB7B-4751-AE71-9B0B5F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Daten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211C2-895C-4A6B-9A29-9D97E9A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D9750-2CD0-4FA1-8D81-8105E20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853FC-396F-43A7-AE91-ADE347D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Kapazität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1F88F-CA44-43A5-849F-B14FF21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FAD39-2D34-4104-8BF3-A8DCCC51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12258-D7CD-4D8A-B24C-7B297F75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EF985-3DD1-45CA-B789-0A7D36F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9E5B3-8D74-4C76-9EC3-A5BBBBE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102A43"/>
                </a:solidFill>
              </a:defRPr>
            </a:pPr>
            <a:r>
              <a:rPr sz="1950" b="0" i="1">
                <a:solidFill>
                  <a:srgbClr val="102A43"/>
                </a:solidFill>
              </a:rPr>
              <a:t>„Klarheit vor Geschwindigkeit schützt den Arbeitsstart.“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B90FC-9B2C-416E-BBB3-77FA393A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67785"/>
                </a:solidFill>
              </a:defRPr>
            </a:pPr>
            <a:r>
              <a:rPr sz="825" b="1" i="0">
                <a:solidFill>
                  <a:srgbClr val="667785"/>
                </a:solidFill>
              </a:rPr>
              <a:t>AMAVIO Launch Principle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68184-6279-4397-9E02-54518D3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B5B14-E9C7-498B-81FA-D210E55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Diese Gates werden vor jeder verbindlichen Leistungserbringung dokumentiert.</a:t>
            </a:r>
          </a:p>
        </p:txBody>
      </p:sp>
    </p:spTree>
    <p:extLst>
      <p:ext uri="{BB962C8B-B14F-4D97-AF65-F5344CB8AC3E}">
        <p14:creationId xmlns:p14="http://schemas.microsoft.com/office/powerpoint/2010/main" val="490779957"/>
      </p:ext>
    </p:extLst>
  </p:cSld>
</p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BF8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76988EED-2070-41D4-A826-4F5C5DCF86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619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125" b="1" i="0">
                <ns1:solidFill>
                  <ns1:srgbClr val="102A43"/>
                </ns1:solidFill>
              </ns1:defRPr>
            </ns1:pPr>
            <ns1:r>
              <ns1:rPr sz="1125" b="1" i="0">
                <ns1:solidFill>
                  <ns1:srgbClr val="102A43"/>
                </ns1:solidFill>
              </ns1:rPr>
              <ns1:t>AMAVIO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C43B43C-A039-415A-B4D0-7CEEC1BA43A1}"/>
              </ns1:ext>
            </ns1:extLst>
          </ns0:cNvPr>
          <ns0:cNvSpPr>
            <ns1:spLocks noGrp="1"/>
          </ns0:cNvSpPr>
          <ns0:nvPr/>
        </ns0:nvSpPr>
        <ns0:spPr>
          <ns1:xfrm>
            <ns1:off x="1466850" y="466725"/>
            <ns1:ext cx="857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B8955A"/>
                </ns1:solidFill>
              </ns1:defRPr>
            </ns1:pPr>
            <ns1:r>
              <ns1:rPr sz="750" b="1" i="0">
                <ns1:solidFill>
                  <ns1:srgbClr val="B8955A"/>
                </ns1:solidFill>
              </ns1:rPr>
              <ns1:t>LIVING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B2C6107-20E0-43D8-96AB-A3311BC73582}"/>
              </ns1:ext>
            </ns1:extLst>
          </ns0:cNvPr>
          <ns0:cNvSpPr>
            <ns1:spLocks noGrp="1"/>
          </ns0:cNvSpPr>
          <ns0:nvPr/>
        </ns0:nvSpPr>
        <ns0:spPr>
          <ns1:xfrm>
            <ns1:off x="2628900" y="476250"/>
            <ns1:ext cx="2952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667785"/>
                </ns1:solidFill>
              </ns1:defRPr>
            </ns1:pPr>
            <ns1:r>
              <ns1:rPr sz="750" b="1" i="0">
                <ns1:solidFill>
                  <ns1:srgbClr val="667785"/>
                </ns1:solidFill>
              </ns1:rPr>
              <ns1:t>WORKFORCE HOUSING &amp; INTEGRATION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401F2B0-6181-475B-B84E-99FEEF039293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476250"/>
            <ns1:ext cx="3238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05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358D15E-5821-473E-AD71-D7A0C128D2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047750"/>
            <ns1:ext cx="38100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00" b="1" i="0">
                <ns1:solidFill>
                  <ns1:srgbClr val="0C6B70"/>
                </ns1:solidFill>
              </ns1:defRPr>
            </ns1:pPr>
            <ns1:r>
              <ns1:rPr sz="900" b="1" i="0">
                <ns1:solidFill>
                  <ns1:srgbClr val="0C6B70"/>
                </ns1:solidFill>
              </ns1:rPr>
              <ns1:t>DIE PRODUKTARCHITEKTUR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C0FDC309-DC1C-4522-BEC7-6F2161B394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333500"/>
            <ns1:ext cx="6667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63679845-7478-4748-A43E-0EFFFFFFD48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81150"/>
            <ns1:ext cx="81915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2850" b="1" i="0">
                <ns1:solidFill>
                  <ns1:srgbClr val="102A43"/>
                </ns1:solidFill>
              </ns1:defRPr>
            </ns1:pPr>
            <ns1:r>
              <ns1:rPr sz="2850" b="1" i="0">
                <ns1:solidFill>
                  <ns1:srgbClr val="102A43"/>
                </ns1:solidFill>
              </ns1:rPr>
              <ns1:t>Der Einstieg richtet sich nach Ihrem Reifegrad – nicht nach einem Standard-Pitch.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041B466-433E-4327-9694-4F9FB20885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4020D65-015F-44A2-BB26-115CDDC3F45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DECISION READY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B890E1A-B15E-4B6E-B158-7DE04800E31B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Readiness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Blueprint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B77961F-DFFB-4B19-972C-74686B808C76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B404022C-083F-431F-9C12-31799CCCA09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12.500 € netto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7FA123A-B839-4031-AEDF-AF02094E5CB7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Entscheidungsreife Housing- und Arrival-Strategie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22D0DDD1-AF2D-427C-9C17-C7857FCCCFF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4–6 Wochen · Bedarf, Optionen, Budgetroute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9A26D854-7BD8-4ED4-9E6F-B7E8B0348328}"/>
              </ns1:ext>
            </ns1:extLst>
          </ns0:cNvPr>
          <ns0:cNvSpPr>
            <ns1:spLocks noGrp="1"/>
          </ns0:cNvSpPr>
          <ns0:nvPr/>
        </ns0:nvSpPr>
        <ns0:spPr>
          <ns1:xfrm>
            <ns1:off x="4486275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102A43"/>
          </ns1:solidFill>
          <ns1:ln w="9525">
            <ns1:solidFill>
              <ns1:srgbClr val="102A43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432FE037-4E0F-4688-ABB4-C038A9678F9F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F1E9DC"/>
                </ns1:solidFill>
              </ns1:defRPr>
            </ns1:pPr>
            <ns1:r>
              <ns1:rPr sz="825" b="1" i="0">
                <ns1:solidFill>
                  <ns1:srgbClr val="F1E9DC"/>
                </ns1:solidFill>
              </ns1:rPr>
              <ns1:t>LAUNCH READY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D0779E10-5B23-4F46-A56F-9A746DBE6CB5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Cohort</ns1:t>
            </ns1:r>
          </ns1:p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Landing Launch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1FAE2D8-A96D-4211-B5D6-91EAA732FD68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924300"/>
            <ns1:ext cx="400050" cy="28575"/>
          </ns1:xfrm>
          <ns1:prstGeom prst="rect">
            <ns1:avLst/>
          </ns1:prstGeom>
          <ns1:solidFill>
            <ns1:srgbClr val="F1E9DC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FED69E35-421F-4805-B830-39B86BD50F61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F1E9DC"/>
                </ns1:solidFill>
              </ns1:defRPr>
            </ns1:pPr>
            <ns1:r>
              <ns1:rPr sz="1350" b="1" i="0">
                <ns1:solidFill>
                  <ns1:srgbClr val="F1E9DC"/>
                </ns1:solidFill>
              </ns1:rPr>
              <ns1:t>ab 29.500 € netto netto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6F89E7F9-61ED-41F3-9A30-815139D66636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FFFFFF"/>
                </ns1:solidFill>
              </ns1:defRPr>
            </ns1:pPr>
            <ns1:r>
              <ns1:rPr sz="1200" b="1" i="0">
                <ns1:solidFill>
                  <ns1:srgbClr val="FFFFFF"/>
                </ns1:solidFill>
              </ns1:rPr>
              <ns1:t>Bezugsfertiger, koordinierter Launch für eine konkrete Kohorte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2377383-9A39-4BCF-B8A5-2665222E5DA3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CFDADA"/>
                </ns1:solidFill>
              </ns1:defRPr>
            </ns1:pPr>
            <ns1:r>
              <ns1:rPr sz="975" b="0" i="0">
                <ns1:solidFill>
                  <ns1:srgbClr val="CFDADA"/>
                </ns1:solidFill>
              </ns1:rPr>
              <ns1:t>1 Stadt · bis 20 Ankünfte · 4 Wochen Stabilisierung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3E1124B3-32E4-423F-9A1B-9037E089B677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37CCEA51-CC1D-434F-AED4-DF32F9371AA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SCALE READY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6E902A00-CC2C-41DD-96AA-08A251715DB1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Arrival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Office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60C5C944-2CA4-4B21-83B6-534D35388F1F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7A55350B-2DE8-40EB-A332-AD2A09CD85D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15.000 € Setup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3997E024-D827-41F8-813B-02D01738C9E4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Laufende Housing- und Arrival-Funktion mit Reporting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5CC63059-1E89-4840-A17C-F702DEEFD90C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Setup + SLA · Retainer ab 4.500 €/Monat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506B5DD5-0DE6-4A9C-8139-2A779DC2FB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153150"/>
            <ns1:ext cx="10820400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1C4171B1-21F0-4B8E-AF7A-CBB099BCD5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248400"/>
            <ns1:ext cx="59055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675" b="0" i="0">
                <ns1:solidFill>
                  <ns1:srgbClr val="667785"/>
                </ns1:solidFill>
              </ns1:defRPr>
            </ns1:pPr>
            <ns1:r>
              <ns1:rPr sz="675" b="0" i="0">
                <ns1:solidFill>
                  <ns1:srgbClr val="667785"/>
                </ns1:solidFill>
              </ns1:rPr>
              <ns1:t>Netto-Startpreise. Fremdkosten, Abnahme und Zahlungsmeilensteine werden im SOW vereinbart.</ns1:t>
            </ns1:r>
          </ns1:p>
        </ns0:txBody>
      </ns0:sp>
    </ns0:spTree>
    <ns0:extLst>
      <ns0:ext uri="{BB962C8B-B14F-4D97-AF65-F5344CB8AC3E}">
        <ns3:creationId val="439984594"/>
      </ns0:ext>
    </ns0:extLst>
  </ns0:cSld>
</ns0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5B706-FF66-41C5-89A8-9365606B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BD06-ECBC-4097-80B0-E6FC2D8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FBED8-0C14-4B47-879B-42C65F6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0B0A7-D268-497B-8553-512A166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1B7B4-DDD8-4DCF-9617-0DD825D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DER LAUNCH-RAHMEN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08A96-99DA-48A4-A91A-B4C680EB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F73A2-35B2-450B-B485-0526F7E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Der Cohort Landing Launch gibt einer Rekrutierungswelle eine belastbare Taktung.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317C-E048-4790-9A03-32C543D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Beispiel für einen klar begrenzten Auftrag – mit dokumentiertem Status statt ungeprüften Versprechen.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F53C-4127-4D63-A6A5-984BC66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DB7D7-3C45-42AE-B40D-E20E24C6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Stadt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A1FA-4C03-4D25-9CF3-5567D939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klarer Standort- und Entscheidungsrahmen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E66C0-6A63-43BB-A2D2-E56E645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≤20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E2E76-2CEB-4DE7-A000-EE22864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Ankünfte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1821D-5074-4A69-AC17-726B631E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definierte Kohorte und Einzugstaktung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4C5DD-A622-42A7-8633-79A50E19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3D81C-3B5C-4AF2-A64B-E9D4A9F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Wochen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D11B3-39D7-41F4-94B4-E2BA5AA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Stabilisierung nach dem Einzug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EEB09-5199-4411-8CD7-AA130DF9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F4F73-528F-4A2E-A576-4C0BBE2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Readout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6558D-0A19-4ED9-98AB-233F467F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Status, offene Punkte, nächste Entscheidung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E8F96-B745-4676-9F9B-0FBC16A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8784F-7FB2-4FE9-A797-9E47AD5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Keine Garantie für Mietvertrag, Visa, Anerkennung, Lieferverfügbarkeit oder Arbeitsbeginn.</a:t>
            </a:r>
          </a:p>
        </p:txBody>
      </p:sp>
    </p:spTree>
    <p:extLst>
      <p:ext uri="{BB962C8B-B14F-4D97-AF65-F5344CB8AC3E}">
        <p14:creationId xmlns:p14="http://schemas.microsoft.com/office/powerpoint/2010/main" val="495363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77FE2-D788-4328-AA3D-3E34176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6DB22-994A-4DAB-A97D-607C1E2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B49C2-1FA0-4E57-AA43-B73849F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7AFD1-193F-48F4-875C-4507364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125D9-BA3C-43B6-B89A-37FD336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ROLLENKLARHEIT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ADCD-748C-4E95-8092-7337CEC4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3A503-11F5-49BA-97C4-CDE5CE89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Die Verantwortung bleibt dort, wo sie hingehört.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EC62-59BB-4F2A-BEFF-09D5148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AMAVIO steuert Projekt, Status und Eskalation. Der Arbeitgeber entscheidet, Partner liefern ihre fachliche Leistung.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C2E13-FBCE-45AA-A837-4D3B989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5FE97-A352-4634-89AC-F4F441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53887-EE77-4061-9591-0434453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C652F-7BA1-4607-9D79-E824A7C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Arbeitgeber entscheidet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F3E90-2373-44DA-9EC4-6E7370E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Zielbild, Budget, Abnahme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BA38A-0DA1-4285-88F4-54F3EF6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96186-5641-4712-B792-895A527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E1A0C-6708-4CCA-8576-4D2F304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AMAVIO steuert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14689-FA6B-4ACA-A9A3-8A9482B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Plan, Status, Issues, Eskalation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01897-BFA9-40EF-8090-21E76B7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89410-F8C8-4C0B-A6CB-8A758FA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FF19C-5959-4797-815A-40D3C11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Partner liefern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43A2-E737-452E-A92B-6002CB4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Objekt, Leistung, Freigabe, Übergabe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4E39E-A6F3-4578-A864-14F93BF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9DA86-254B-4D77-9D78-EFAE50F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Kein Ersatz für Vermieter-, Rechts-, Visa- oder Arbeitgeberpflichten – sondern klare Schnittstellensteuerung.</a:t>
            </a:r>
          </a:p>
        </p:txBody>
      </p:sp>
    </p:spTree>
    <p:extLst>
      <p:ext uri="{BB962C8B-B14F-4D97-AF65-F5344CB8AC3E}">
        <p14:creationId xmlns:p14="http://schemas.microsoft.com/office/powerpoint/2010/main" val="649801442"/>
      </p:ext>
    </p:extLst>
  </p:cSld>
</p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BF8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76988EED-2070-41D4-A826-4F5C5DCF86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619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125" b="1" i="0">
                <ns1:solidFill>
                  <ns1:srgbClr val="102A43"/>
                </ns1:solidFill>
              </ns1:defRPr>
            </ns1:pPr>
            <ns1:r>
              <ns1:rPr sz="1125" b="1" i="0">
                <ns1:solidFill>
                  <ns1:srgbClr val="102A43"/>
                </ns1:solidFill>
              </ns1:rPr>
              <ns1:t>AMAVIO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C43B43C-A039-415A-B4D0-7CEEC1BA43A1}"/>
              </ns1:ext>
            </ns1:extLst>
          </ns0:cNvPr>
          <ns0:cNvSpPr>
            <ns1:spLocks noGrp="1"/>
          </ns0:cNvSpPr>
          <ns0:nvPr/>
        </ns0:nvSpPr>
        <ns0:spPr>
          <ns1:xfrm>
            <ns1:off x="1466850" y="466725"/>
            <ns1:ext cx="857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B8955A"/>
                </ns1:solidFill>
              </ns1:defRPr>
            </ns1:pPr>
            <ns1:r>
              <ns1:rPr sz="750" b="1" i="0">
                <ns1:solidFill>
                  <ns1:srgbClr val="B8955A"/>
                </ns1:solidFill>
              </ns1:rPr>
              <ns1:t>LIVING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B2C6107-20E0-43D8-96AB-A3311BC73582}"/>
              </ns1:ext>
            </ns1:extLst>
          </ns0:cNvPr>
          <ns0:cNvSpPr>
            <ns1:spLocks noGrp="1"/>
          </ns0:cNvSpPr>
          <ns0:nvPr/>
        </ns0:nvSpPr>
        <ns0:spPr>
          <ns1:xfrm>
            <ns1:off x="2628900" y="476250"/>
            <ns1:ext cx="2952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667785"/>
                </ns1:solidFill>
              </ns1:defRPr>
            </ns1:pPr>
            <ns1:r>
              <ns1:rPr sz="750" b="1" i="0">
                <ns1:solidFill>
                  <ns1:srgbClr val="667785"/>
                </ns1:solidFill>
              </ns1:rPr>
              <ns1:t>WORKFORCE HOUSING &amp; INTEGRATION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C401F2B0-6181-475B-B84E-99FEEF039293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476250"/>
            <ns1:ext cx="3238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08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358D15E-5821-473E-AD71-D7A0C128D2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047750"/>
            <ns1:ext cx="38100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00" b="1" i="0">
                <ns1:solidFill>
                  <ns1:srgbClr val="0C6B70"/>
                </ns1:solidFill>
              </ns1:defRPr>
            </ns1:pPr>
            <ns1:r>
              <ns1:rPr sz="900" b="1" i="0">
                <ns1:solidFill>
                  <ns1:srgbClr val="0C6B70"/>
                </ns1:solidFill>
              </ns1:rPr>
              <ns1:t>DAS ERGEBNIS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C0FDC309-DC1C-4522-BEC7-6F2161B3940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333500"/>
            <ns1:ext cx="6667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63679845-7478-4748-A43E-0EFFFFFFD48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81150"/>
            <ns1:ext cx="81915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2850" b="1" i="0">
                <ns1:solidFill>
                  <ns1:srgbClr val="102A43"/>
                </ns1:solidFill>
              </ns1:defRPr>
            </ns1:pPr>
            <ns1:r>
              <ns1:rPr sz="2850" b="1" i="0">
                <ns1:solidFill>
                  <ns1:srgbClr val="102A43"/>
                </ns1:solidFill>
              </ns1:rPr>
              <ns1:t>Sie kaufen kein Sammelsurium. Sie kaufen ein definiertes Ergebnis.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041B466-433E-4327-9694-4F9FB20885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4020D65-015F-44A2-BB26-115CDDC3F45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DECISION READY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B890E1A-B15E-4B6E-B158-7DE04800E31B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Readiness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Blueprint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B77961F-DFFB-4B19-972C-74686B808C76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B404022C-083F-431F-9C12-31799CCCA09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12.500 € netto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7FA123A-B839-4031-AEDF-AF02094E5CB7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Entscheidungsvorlage mit Bedarf, Optionen, Budget und Risiko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22D0DDD1-AF2D-427C-9C17-C7857FCCCFF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Ergebnis: Klarheit vor Umsetzung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9A26D854-7BD8-4ED4-9E6F-B7E8B0348328}"/>
              </ns1:ext>
            </ns1:extLst>
          </ns0:cNvPr>
          <ns0:cNvSpPr>
            <ns1:spLocks noGrp="1"/>
          </ns0:cNvSpPr>
          <ns0:nvPr/>
        </ns0:nvSpPr>
        <ns0:spPr>
          <ns1:xfrm>
            <ns1:off x="4486275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102A43"/>
          </ns1:solidFill>
          <ns1:ln w="9525">
            <ns1:solidFill>
              <ns1:srgbClr val="102A43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432FE037-4E0F-4688-ABB4-C038A9678F9F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F1E9DC"/>
                </ns1:solidFill>
              </ns1:defRPr>
            </ns1:pPr>
            <ns1:r>
              <ns1:rPr sz="825" b="1" i="0">
                <ns1:solidFill>
                  <ns1:srgbClr val="F1E9DC"/>
                </ns1:solidFill>
              </ns1:rPr>
              <ns1:t>LAUNCH READY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D0779E10-5B23-4F46-A56F-9A746DBE6CB5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Cohort</ns1:t>
            </ns1:r>
          </ns1:p>
          <ns1:p>
            <ns1:pPr algn="l">
              <ns1:buNone/>
              <ns1:defRPr sz="1875" b="1" i="0">
                <ns1:solidFill>
                  <ns1:srgbClr val="FFFFFF"/>
                </ns1:solidFill>
              </ns1:defRPr>
            </ns1:pPr>
            <ns1:r>
              <ns1:rPr sz="1875" b="1" i="0">
                <ns1:solidFill>
                  <ns1:srgbClr val="FFFFFF"/>
                </ns1:solidFill>
              </ns1:rPr>
              <ns1:t>Landing Launch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1FAE2D8-A96D-4211-B5D6-91EAA732FD68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3924300"/>
            <ns1:ext cx="400050" cy="28575"/>
          </ns1:xfrm>
          <ns1:prstGeom prst="rect">
            <ns1:avLst/>
          </ns1:prstGeom>
          <ns1:solidFill>
            <ns1:srgbClr val="F1E9DC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FED69E35-421F-4805-B830-39B86BD50F61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F1E9DC"/>
                </ns1:solidFill>
              </ns1:defRPr>
            </ns1:pPr>
            <ns1:r>
              <ns1:rPr sz="1350" b="1" i="0">
                <ns1:solidFill>
                  <ns1:srgbClr val="F1E9DC"/>
                </ns1:solidFill>
              </ns1:rPr>
              <ns1:t>ab 29.500 € netto netto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6F89E7F9-61ED-41F3-9A30-815139D66636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FFFFFF"/>
                </ns1:solidFill>
              </ns1:defRPr>
            </ns1:pPr>
            <ns1:r>
              <ns1:rPr sz="1200" b="1" i="0">
                <ns1:solidFill>
                  <ns1:srgbClr val="FFFFFF"/>
                </ns1:solidFill>
              </ns1:rPr>
              <ns1:t>Lieferplan, Taktung, Abnahme und 4-Wochen-Stabilisierung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2377383-9A39-4BCF-B8A5-2665222E5DA3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CFDADA"/>
                </ns1:solidFill>
              </ns1:defRPr>
            </ns1:pPr>
            <ns1:r>
              <ns1:rPr sz="975" b="0" i="0">
                <ns1:solidFill>
                  <ns1:srgbClr val="CFDADA"/>
                </ns1:solidFill>
              </ns1:rPr>
              <ns1:t>Ergebnis: kontrollierter Arbeitsstart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3E1124B3-32E4-423F-9A1B-9037E089B677}"/>
              </ns1:ext>
            </ns1:extLst>
          </ns0:cNvPr>
          <ns0:cNvSpPr>
            <ns1:spLocks noGrp="1"/>
          </ns0:cNvSpPr>
          <ns0:nvPr/>
        </ns0:nvSpPr>
        <ns0:spPr>
          <ns1:xfrm>
            <ns1:off x="8286750" y="2590800"/>
            <ns1:ext cx="3219450" cy="3571875"/>
          </ns1:xfrm>
          <ns1:prstGeom prst="roundRect">
            <ns1:avLst>
              <ns1:gd name="adj" fmla="val 5325"/>
            </ns1:avLst>
          </ns1:prstGeom>
          <ns1:solidFill>
            <ns1:srgbClr val="FFFFFF"/>
          </ns1:solidFill>
          <ns1:ln w="9525">
            <ns1:solidFill>
              <ns1:srgbClr val="D5DCE0"/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37CCEA51-CC1D-434F-AED4-DF32F9371AA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2857500"/>
            <ns1:ext cx="1714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SCALE READY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6E902A00-CC2C-41DD-96AA-08A251715DB1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162300"/>
            <ns1:ext cx="25717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Arrival</ns1:t>
            </ns1:r>
          </ns1:p>
          <ns1:p>
            <ns1:pPr algn="l">
              <ns1:buNone/>
              <ns1:defRPr sz="1875" b="1" i="0">
                <ns1:solidFill>
                  <ns1:srgbClr val="102A43"/>
                </ns1:solidFill>
              </ns1:defRPr>
            </ns1:pPr>
            <ns1:r>
              <ns1:rPr sz="1875" b="1" i="0">
                <ns1:solidFill>
                  <ns1:srgbClr val="102A43"/>
                </ns1:solidFill>
              </ns1:rPr>
              <ns1:t>Office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60C5C944-2CA4-4B21-83B6-534D35388F1F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924300"/>
            <ns1:ext cx="40005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7A55350B-2DE8-40EB-A332-AD2A09CD85DB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171950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0C6B70"/>
                </ns1:solidFill>
              </ns1:defRPr>
            </ns1:pPr>
            <ns1:r>
              <ns1:rPr sz="1350" b="1" i="0">
                <ns1:solidFill>
                  <ns1:srgbClr val="0C6B70"/>
                </ns1:solidFill>
              </ns1:rPr>
              <ns1:t>ab 15.000 € Setup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3997E024-D827-41F8-813B-02D01738C9E4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4638675"/>
            <ns1:ext cx="26289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200" b="1" i="0">
                <ns1:solidFill>
                  <ns1:srgbClr val="1C2C38"/>
                </ns1:solidFill>
              </ns1:defRPr>
            </ns1:pPr>
            <ns1:r>
              <ns1:rPr sz="1200" b="1" i="0">
                <ns1:solidFill>
                  <ns1:srgbClr val="1C2C38"/>
                </ns1:solidFill>
              </ns1:rPr>
              <ns1:t>SLA, Reporting, Eskalation und laufende Optimierung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5CC63059-1E89-4840-A17C-F702DEEFD90C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5438775"/>
            <ns1:ext cx="26289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0" i="0">
                <ns1:solidFill>
                  <ns1:srgbClr val="667785"/>
                </ns1:solidFill>
              </ns1:defRPr>
            </ns1:pPr>
            <ns1:r>
              <ns1:rPr sz="975" b="0" i="0">
                <ns1:solidFill>
                  <ns1:srgbClr val="667785"/>
                </ns1:solidFill>
              </ns1:rPr>
              <ns1:t>Ergebnis: wiederholbare interne Entlastung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506B5DD5-0DE6-4A9C-8139-2A779DC2FB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153150"/>
            <ns1:ext cx="10820400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30" name="">
            <ns1:extLst>
              <ns1:ext uri="{FF2B5EF4-FFF2-40B4-BE49-F238E27FC236}">
                <ns2:creationId id="{1C4171B1-21F0-4B8E-AF7A-CBB099BCD5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248400"/>
            <ns1:ext cx="59055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675" b="0" i="0">
                <ns1:solidFill>
                  <ns1:srgbClr val="667785"/>
                </ns1:solidFill>
              </ns1:defRPr>
            </ns1:pPr>
            <ns1:r>
              <ns1:rPr sz="675" b="0" i="0">
                <ns1:solidFill>
                  <ns1:srgbClr val="667785"/>
                </ns1:solidFill>
              </ns1:rPr>
              <ns1:t>Die konkrete Leistungsgrenze wird pro Projekt schriftlich im SOW festgelegt.</ns1:t>
            </ns1:r>
          </ns1:p>
        </ns0:txBody>
      </ns0:sp>
    </ns0:spTree>
    <ns0:extLst>
      <ns0:ext uri="{BB962C8B-B14F-4D97-AF65-F5344CB8AC3E}">
        <ns3:creationId val="439984594"/>
      </ns0:ext>
    </ns0:extLst>
  </ns0:cSld>
</ns0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C1381-B69C-4EDF-B51C-2215F14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E564A-419F-4D2E-BDC7-35E897C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0150-7E96-4ECA-9033-3E9D3A6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283A-7FA5-428A-937D-A0B8292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87791-E7F4-4A90-8E87-67B46DC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SCHUTZLOGIK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FDF3B-BAE8-4C98-8078-928EFB74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80C0-A3D9-493C-AE9A-C9C03F9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Fünf Regeln schützen Budget, Vertrauen und Lieferfähigkeit.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BFA8A-44F8-495A-A506-5447F00C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Ein sauberer Projektstart verhindert, dass informelle Entscheidungen später zu Risiken, Mehrkosten oder Rework werden.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4B92-4EF4-41CD-8178-7755284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313D-A56D-4102-A298-4E9C6F9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AC27-6AEF-45FF-B115-3815330F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F7377-3B70-44F1-BC5F-861B2F5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F0E51-8180-438A-87E3-19DACD77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B5950-4F4E-4C78-9431-3E6A624F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Kosten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50801-0DE9-4D97-AA79-BC7DBD6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5E8F2-88F4-4541-A567-2A471E5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8836E-FB7B-4751-AE71-9B0B5F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Daten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211C2-895C-4A6B-9A29-9D97E9A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D9750-2CD0-4FA1-8D81-8105E20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853FC-396F-43A7-AE91-ADE347D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Abnahme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1F88F-CA44-43A5-849F-B14FF21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FAD39-2D34-4104-8BF3-A8DCCC51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12258-D7CD-4D8A-B24C-7B297F75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EF985-3DD1-45CA-B789-0A7D36F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9E5B3-8D74-4C76-9EC3-A5BBBBE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102A43"/>
                </a:solidFill>
              </a:defRPr>
            </a:pPr>
            <a:r>
              <a:rPr sz="1950" b="0" i="1">
                <a:solidFill>
                  <a:srgbClr val="102A43"/>
                </a:solidFill>
              </a:rPr>
              <a:t>„Verlässlichkeit entsteht, wenn auch der Ausnahmefall geregelt ist.“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B90FC-9B2C-416E-BBB3-77FA393A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67785"/>
                </a:solidFill>
              </a:defRPr>
            </a:pPr>
            <a:r>
              <a:rPr sz="825" b="1" i="0">
                <a:solidFill>
                  <a:srgbClr val="667785"/>
                </a:solidFill>
              </a:rPr>
              <a:t>AMAVIO Delivery Principle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68184-6279-4397-9E02-54518D3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B5B14-E9C7-498B-81FA-D210E55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Jede Erweiterung wird vor Umsetzung sichtbar gemacht und bestätigt.</a:t>
            </a:r>
          </a:p>
        </p:txBody>
      </p:sp>
    </p:spTree>
    <p:extLst>
      <p:ext uri="{BB962C8B-B14F-4D97-AF65-F5344CB8AC3E}">
        <p14:creationId xmlns:p14="http://schemas.microsoft.com/office/powerpoint/2010/main" val="490779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9263A-2EE5-4FED-9CB3-900F8392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7F9AC-43D4-4088-AA1F-886CFEA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5FA2-743B-49B4-AC0C-FF7279C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F5F8B-766E-4D99-BC59-6B975ED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37282-C05C-485C-8262-7DA5D68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READINESS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8CED-A978-4C4A-8278-251B48F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59280-F3B9-45F5-BC04-1BEC0B0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45 Minuten trennen dringlichen Bedarf von teurer Hektik.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1834-A448-4639-994E-41016FE7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Wir bewerten nicht nur die Nachfrage, sondern auch die Voraussetzungen für eine sichere Umsetzung.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39F0-7B48-47CD-8F61-C11C288A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01  Kohorte und Startfenster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4EF36-68A0-43E0-B0E2-B67CEE5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02  Standort und Pendellogik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E0B62-0FE4-41C7-AF6E-6EBF4AF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03  Budgetroute und Entscheider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6D57-F929-4DDD-AAC7-44F702B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04  Bestehende Wohnoptionen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3CBD-09D7-4032-85AA-E7BEEFB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05  Freigaben und Fremdkosten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484E-69B7-4F3F-A7C4-5748086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C6B70"/>
                </a:solidFill>
              </a:defRPr>
            </a:pPr>
            <a:r>
              <a:rPr sz="1275" b="1" i="0">
                <a:solidFill>
                  <a:srgbClr val="0C6B70"/>
                </a:solidFill>
              </a:rPr>
              <a:t>06  Die wichtigste offene Stop-Frage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C9782-F7C7-4239-A6F2-A767833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CAAA2-A070-463B-9453-D4B27F5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Ergebnis: eine dokumentierte Empfehlung – stoppen, Blueprint, Launch oder Übergabe an die bestehende Struktur.</a:t>
            </a:r>
          </a:p>
        </p:txBody>
      </p:sp>
    </p:spTree>
    <p:extLst>
      <p:ext uri="{BB962C8B-B14F-4D97-AF65-F5344CB8AC3E}">
        <p14:creationId xmlns:p14="http://schemas.microsoft.com/office/powerpoint/2010/main" val="197158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9263A-2EE5-4FED-9CB3-900F8392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7F9AC-43D4-4088-AA1F-886CFEA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5FA2-743B-49B4-AC0C-FF7279C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F5F8B-766E-4D99-BC59-6B975ED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37282-C05C-485C-8262-7DA5D68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ENTSCHEIDUNG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8CED-A978-4C4A-8278-251B48F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59280-F3B9-45F5-BC04-1BEC0B0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Nach der Discovery liegt eine klare nächste Entscheidung vor.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1834-A448-4639-994E-41016FE7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Sie erhalten einen fokussierten Weg statt eines allgemeinen Beratungspapiers.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39F0-7B48-47CD-8F61-C11C288A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01  Sofort umsetzbar – mit klaren 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4EF36-68A0-43E0-B0E2-B67CEE5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02  Blueprint – wenn Optionen und Budget erst geklärt werden müssen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E0B62-0FE4-41C7-AF6E-6EBF4AF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03  Launch – wenn Kohorte, Ort und Budgetroute belastbar sind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6D57-F929-4DDD-AAC7-44F702B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04  Arrival Office – wenn der Bedarf wiederkehrt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3CBD-09D7-4032-85AA-E7BEEFB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05  Übergabe – wenn Ihre interne Struktur bereits passend 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484E-69B7-4F3F-A7C4-5748086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C6B70"/>
                </a:solidFill>
              </a:defRPr>
            </a:pPr>
            <a:r>
              <a:rPr sz="1275" b="1" i="0">
                <a:solidFill>
                  <a:srgbClr val="0C6B70"/>
                </a:solidFill>
              </a:rPr>
              <a:t>06  Stop – wenn ein kritisches Gate offen bleibt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C9782-F7C7-4239-A6F2-A767833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CAAA2-A070-463B-9453-D4B27F5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Empfohlener Start: Discovery → passende Leistung → dokumentierte Umsetzung.</a:t>
            </a:r>
          </a:p>
        </p:txBody>
      </p:sp>
    </p:spTree>
    <p:extLst>
      <p:ext uri="{BB962C8B-B14F-4D97-AF65-F5344CB8AC3E}">
        <p14:creationId xmlns:p14="http://schemas.microsoft.com/office/powerpoint/2010/main" val="197158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71920-986C-440B-A93C-F883580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EFC6-C1DB-4A04-85BF-1A211CD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DA7DC-8FC7-490B-9345-199545DA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79BE-0128-4D10-8BC5-FA82CB74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D66C8-462A-486E-9F51-0F3106E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Ein verlässlicher Start ist ein Wettbewerbsvorteil.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BC06-2D3F-4411-B506-A8FCA5AA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7E4E4"/>
                </a:solidFill>
              </a:defRPr>
            </a:pPr>
            <a:r>
              <a:rPr sz="1650" b="0" i="0">
                <a:solidFill>
                  <a:srgbClr val="D7E4E4"/>
                </a:solidFill>
              </a:rPr>
              <a:t>AMAVIO Living verbindet Housing, Bezugsfertigkeit und Ankunft in einer verantworteten Lieferlogik – damit internationale Teams nicht nur rekrutiert werden, sondern wirklich starten können.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B0708-97D5-4581-93C0-55EA8B46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8C2B2-E044-4F45-AA45-06765322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1E9DC"/>
                </a:solidFill>
              </a:defRPr>
            </a:pPr>
            <a:r>
              <a:rPr sz="975" b="1" i="0">
                <a:solidFill>
                  <a:srgbClr val="F1E9DC"/>
                </a:solidFill>
              </a:rPr>
              <a:t>Startpunkt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EF635-5C62-4E52-8A62-40089DA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45-Minuten Readiness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FFA80-69D7-4F37-AB37-7114DE4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B6C6C8"/>
                </a:solidFill>
              </a:defRPr>
            </a:pPr>
            <a:r>
              <a:rPr sz="900" b="0" i="0">
                <a:solidFill>
                  <a:srgbClr val="B6C6C8"/>
                </a:solidFill>
              </a:rPr>
              <a:t>AMAVIO Holding UG (haftungsbeschränkt) · Düsseldorf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1B50D-9E29-4EB2-8A65-28D1408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730DB-4110-4EFE-A90A-513BB7C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AMAVIO Living · Workforce Housing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145608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2026-07-28T07:55:14.6100000Z</dcterms:created>
  <dcterms:modified xsi:type="dcterms:W3CDTF">2026-07-28T07:55:14.6100000Z</dcterms:modified>
</coreProperties>
</file>