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5960890614522" /><Relationship Type="http://schemas.openxmlformats.org/officeDocument/2006/relationships/extended-properties" Target="/docProps/app.xml" Id="R23a0b88a9d1d4818" /><Relationship Type="http://schemas.openxmlformats.org/officeDocument/2006/relationships/officeDocument" Target="/ppt/presentation.xml" Id="R9bdac210f9e348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d0a0394a9492a"/>
  </p:sldMasterIdLst>
  <p:notesMasterIdLst>
    <p:notesMasterId xmlns:r="http://schemas.openxmlformats.org/officeDocument/2006/relationships" r:id="Re987e2f9bc974fb5"/>
  </p:notesMasterIdLst>
  <p:sldIdLst>
    <p:sldId xmlns:r="http://schemas.openxmlformats.org/officeDocument/2006/relationships" id="256" r:id="Re987632c937a4d3e"/>
  </p:sldIdLst>
  <p:sldSz cx="11344275" cy="80200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72641930741ba" /><Relationship Type="http://schemas.openxmlformats.org/officeDocument/2006/relationships/slideMaster" Target="/ppt/slideMasters/slideMaster1.xml" Id="R46ed0a0394a9492a" /><Relationship Type="http://schemas.openxmlformats.org/officeDocument/2006/relationships/notesMaster" Target="/ppt/notesMasters/notesMaster1.xml" Id="Re987e2f9bc974fb5" /><Relationship Type="http://schemas.openxmlformats.org/officeDocument/2006/relationships/presProps" Target="/ppt/presProps.xml" Id="R60ac30f602ae4411" /><Relationship Type="http://schemas.openxmlformats.org/officeDocument/2006/relationships/tableStyles" Target="/ppt/tableStyles.xml" Id="Rad3da0a2728b499d" /><Relationship Type="http://schemas.openxmlformats.org/officeDocument/2006/relationships/slide" Target="/ppt/slides/slide1.xml" Id="Re987632c937a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08ec294a47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bbebe28564b7b" /><Relationship Type="http://schemas.openxmlformats.org/officeDocument/2006/relationships/notesMaster" Target="/ppt/notesMasters/notesMaster1.xml" Id="Rc65b00fedf4745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Produktarchitektur und Businessplan v2.2 (Stand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0ad2b6c00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f2a8856724887" /><Relationship Type="http://schemas.openxmlformats.org/officeDocument/2006/relationships/slideLayout" Target="/ppt/slideLayouts/slideLayout1.xml" Id="R4eb16d970f1842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16d970f1842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7ee620d3640de" /><Relationship Type="http://schemas.openxmlformats.org/officeDocument/2006/relationships/image" Target="/ppt/media/image.png" Id="R084156768c814a0d" /><Relationship Type="http://schemas.openxmlformats.org/officeDocument/2006/relationships/notesSlide" Target="/ppt/notesSlides/notesSlide1.xml" Id="Rdde90223d48046a3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B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9" name=""/>
          <ns0:cNvPicPr>
            <ns1:picLocks noChangeAspect="1"/>
          </ns0:cNvPicPr>
          <ns0:nvPr/>
        </ns0:nvPicPr>
        <ns0:blipFill>
          <ns1:blip ns2:embed="R084156768c814a0d"/>
          <ns1:srcRect l="33457" t="0" r="33457" b="0"/>
          <ns1:stretch>
            <ns1:fillRect l="0" t="0" r="0" b="0"/>
          </ns1:stretch>
        </ns0:blipFill>
        <ns0:spPr>
          <ns1:xfrm>
            <ns1:off x="6629400" y="0"/>
            <ns1:ext cx="4714875" cy="8020050"/>
          </ns1:xfrm>
          <ns1:prstGeom prst="round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3:creationId id="{CEBEE0BF-BD50-44F1-B5C4-4C0A3D3EBE97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0"/>
            <ns1:ext cx="4714875" cy="8020050"/>
          </ns1:xfrm>
          <ns1:prstGeom prst="rect">
            <ns1:avLst/>
          </ns1:prstGeom>
          <ns1:ln w="0">
            <ns1:noFill/>
            <ns1:prstDash val="solid"/>
          </ns1:ln>
        </ns0:spPr>
      </ns0:sp>
      <ns0:sp>
        <ns0:nvSpPr>
          <ns0:cNvPr id="3" name="">
            <ns1:extLst>
              <ns1:ext uri="{FF2B5EF4-FFF2-40B4-BE49-F238E27FC236}">
                <ns3:creationId id="{B46AF74E-7D42-41C0-B27E-30349782731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19100"/>
            <ns1:ext cx="1619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125" b="1" i="0">
                <ns1:solidFill>
                  <ns1:srgbClr val="102A43"/>
                </ns1:solidFill>
              </ns1:defRPr>
            </ns1:pPr>
            <ns1:r>
              <ns1:rPr sz="1125" b="1" i="0">
                <ns1:solidFill>
                  <ns1:srgbClr val="102A43"/>
                </ns1:solidFill>
              </ns1:rPr>
              <ns1:t>AMAVIO</ns1:t>
            </ns1:r>
          </ns1:p>
        </ns0:txBody>
      </ns0:sp>
      <ns0:sp>
        <ns0:nvSpPr>
          <ns0:cNvPr id="4" name="">
            <ns1:extLst>
              <ns1:ext uri="{FF2B5EF4-FFF2-40B4-BE49-F238E27FC236}">
                <ns3:creationId id="{37742C93-FEC1-4ADE-87AC-89E01CFB2EF8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" y="428625"/>
            <ns1:ext cx="8572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B8955A"/>
                </ns1:solidFill>
              </ns1:defRPr>
            </ns1:pPr>
            <ns1:r>
              <ns1:rPr sz="750" b="1" i="0">
                <ns1:solidFill>
                  <ns1:srgbClr val="B8955A"/>
                </ns1:solidFill>
              </ns1:rPr>
              <ns1:t>LIVING</ns1:t>
            </ns1:r>
          </ns1:p>
        </ns0:txBody>
      </ns0:sp>
      <ns0:sp>
        <ns0:nvSpPr>
          <ns0:cNvPr id="5" name="">
            <ns1:extLst>
              <ns1:ext uri="{FF2B5EF4-FFF2-40B4-BE49-F238E27FC236}">
                <ns3:creationId id="{5330514A-8200-4A90-9125-4E1BDCD94A2A}"/>
              </ns1:ext>
            </ns1:extLst>
          </ns0:cNvPr>
          <ns0:cNvSpPr>
            <ns1:spLocks noGrp="1"/>
          </ns0:cNvSpPr>
          <ns0:nvPr/>
        </ns0:nvSpPr>
        <ns0:spPr>
          <ns1:xfrm>
            <ns1:off x="2571750" y="438150"/>
            <ns1:ext cx="2952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1" i="0">
                <ns1:solidFill>
                  <ns1:srgbClr val="667785"/>
                </ns1:solidFill>
              </ns1:defRPr>
            </ns1:pPr>
            <ns1:r>
              <ns1:rPr sz="750" b="1" i="0">
                <ns1:solidFill>
                  <ns1:srgbClr val="667785"/>
                </ns1:solidFill>
              </ns1:rPr>
              <ns1:t>WORKFORCE HOUSING &amp; INTEGRATION</ns1:t>
            </ns1:r>
          </ns1:p>
        </ns0:txBody>
      </ns0:sp>
      <ns0:sp>
        <ns0:nvSpPr>
          <ns0:cNvPr id="6" name="">
            <ns1:extLst>
              <ns1:ext uri="{FF2B5EF4-FFF2-40B4-BE49-F238E27FC236}">
                <ns3:creationId id="{67B791D8-59D3-4EEF-B966-08C412AE638B}"/>
              </ns1:ext>
            </ns1:extLst>
          </ns0:cNvPr>
          <ns0:cNvSpPr>
            <ns1:spLocks noGrp="1"/>
          </ns0:cNvSpPr>
          <ns0:nvPr/>
        </ns0:nvSpPr>
        <ns0:spPr>
          <ns1:xfrm>
            <ns1:off x="10391775" y="438150"/>
            <ns1:ext cx="3238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01</ns1:t>
            </ns1:r>
          </ns1:p>
        </ns0:txBody>
      </ns0:sp>
      <ns0:sp>
        <ns0:nvSpPr>
          <ns0:cNvPr id="7" name="">
            <ns1:extLst>
              <ns1:ext uri="{FF2B5EF4-FFF2-40B4-BE49-F238E27FC236}">
                <ns3:creationId id="{0203E0D2-D1D5-448E-BA49-0BE28D1AE498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476375"/>
            <ns1:ext cx="5476875" cy="904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3000" b="1" i="0">
                <ns1:solidFill>
                  <ns1:srgbClr val="102A43"/>
                </ns1:solidFill>
              </ns1:defRPr>
            </ns1:pPr>
            <ns1:r>
              <ns1:rPr sz="3000" b="1" i="0">
                <ns1:solidFill>
                  <ns1:srgbClr val="102A43"/>
                </ns1:solidFill>
              </ns1:rPr>
              <ns1:t>Ankommen.</ns1:t>
            </ns1:r>
          </ns1:p>
          <ns1:p>
            <ns1:pPr algn="l">
              <ns1:buNone/>
              <ns1:defRPr sz="3000" b="1" i="0">
                <ns1:solidFill>
                  <ns1:srgbClr val="102A43"/>
                </ns1:solidFill>
              </ns1:defRPr>
            </ns1:pPr>
            <ns1:r>
              <ns1:rPr sz="3000" b="1" i="0">
                <ns1:solidFill>
                  <ns1:srgbClr val="102A43"/>
                </ns1:solidFill>
              </ns1:rPr>
              <ns1:t>Arbeitsfähig starten.</ns1:t>
            </ns1:r>
          </ns1:p>
        </ns0:txBody>
      </ns0:sp>
      <ns0:sp>
        <ns0:nvSpPr>
          <ns0:cNvPr id="8" name="">
            <ns1:extLst>
              <ns1:ext uri="{FF2B5EF4-FFF2-40B4-BE49-F238E27FC236}">
                <ns3:creationId id="{DEB5D7D2-ECFC-4ECD-A34B-9DCEF10B22DD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590800"/>
            <ns1:ext cx="542925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500" b="0" i="0">
                <ns1:solidFill>
                  <ns1:srgbClr val="667785"/>
                </ns1:solidFill>
              </ns1:defRPr>
            </ns1:pPr>
            <ns1:r>
              <ns1:rPr sz="1500" b="0" i="0">
                <ns1:solidFill>
                  <ns1:srgbClr val="667785"/>
                </ns1:solidFill>
              </ns1:rPr>
              <ns1:t>AMAVIO Living verbindet Wohnen, Bezugsfertigkeit und Ankunft zu einem kontrollierten Projekt- und Servicepfad.</ns1:t>
            </ns1:r>
          </ns1:p>
        </ns0:txBody>
      </ns0:sp>
      <ns0:sp>
        <ns0:nvSpPr>
          <ns0:cNvPr id="9" name="">
            <ns1:extLst>
              <ns1:ext uri="{FF2B5EF4-FFF2-40B4-BE49-F238E27FC236}">
                <ns3:creationId id="{66EEC38C-B496-475D-9CEA-FCD493D3A7C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448050"/>
            <ns1:ext cx="685800" cy="28575"/>
          </ns1:xfrm>
          <ns1:prstGeom prst="rect">
            <ns1:avLst/>
          </ns1:prstGeom>
          <ns1:solidFill>
            <ns1:srgbClr val="B8955A"/>
          </ns1:solidFill>
          <ns1:ln w="0">
            <ns1:noFill/>
            <ns1:prstDash val="solid"/>
          </ns1:ln>
        </ns0:spPr>
      </ns0:sp>
      <ns0:sp>
        <ns0:nvSpPr>
          <ns0:cNvPr id="10" name="">
            <ns1:extLst>
              <ns1:ext uri="{FF2B5EF4-FFF2-40B4-BE49-F238E27FC236}">
                <ns3:creationId id="{78A800A8-C977-42F6-8700-10AB5D25A2B1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3695700"/>
            <ns1:ext cx="4762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825" b="1" i="0">
                <ns1:solidFill>
                  <ns1:srgbClr val="0C6B70"/>
                </ns1:solidFill>
              </ns1:defRPr>
            </ns1:pPr>
            <ns1:r>
              <ns1:rPr sz="825" b="1" i="0">
                <ns1:solidFill>
                  <ns1:srgbClr val="0C6B70"/>
                </ns1:solidFill>
              </ns1:rPr>
              <ns1:t>FÜR KLINIKEN, PFLEGEEINRICHTUNGEN UND ARBEITGEBER MIT INTERNATIONALEN TEAMS</ns1:t>
            </ns1:r>
          </ns1:p>
        </ns0:txBody>
      </ns0:sp>
      <ns0:sp>
        <ns0:nvSpPr>
          <ns0:cNvPr id="11" name="">
            <ns1:extLst>
              <ns1:ext uri="{FF2B5EF4-FFF2-40B4-BE49-F238E27FC236}">
                <ns3:creationId id="{2AF3FF17-34AA-485E-B45D-118CA233F40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11480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Readiness Blueprint</ns1:t>
            </ns1:r>
          </ns1:p>
        </ns0:txBody>
      </ns0:sp>
      <ns0:sp>
        <ns0:nvSpPr>
          <ns0:cNvPr id="12" name="">
            <ns1:extLst>
              <ns1:ext uri="{FF2B5EF4-FFF2-40B4-BE49-F238E27FC236}">
                <ns3:creationId id="{564951B1-F2B7-4728-9F7D-0ABCDF43D0F4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38150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Entscheidungsreife Strategie</ns1:t>
            </ns1:r>
          </ns1:p>
        </ns0:txBody>
      </ns0:sp>
      <ns0:sp>
        <ns0:nvSpPr>
          <ns0:cNvPr id="13" name="">
            <ns1:extLst>
              <ns1:ext uri="{FF2B5EF4-FFF2-40B4-BE49-F238E27FC236}">
                <ns3:creationId id="{1A0891CA-8F39-42C9-83FE-257CD4957AE1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417195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12.500 €</ns1:t>
            </ns1:r>
          </ns1:p>
        </ns0:txBody>
      </ns0:sp>
      <ns0:sp>
        <ns0:nvSpPr>
          <ns0:cNvPr id="14" name="">
            <ns1:extLst>
              <ns1:ext uri="{FF2B5EF4-FFF2-40B4-BE49-F238E27FC236}">
                <ns3:creationId id="{FBE7AB4B-2B99-46C4-8A15-F73EF827CB1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743450"/>
            <ns1:ext cx="5038725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15" name="">
            <ns1:extLst>
              <ns1:ext uri="{FF2B5EF4-FFF2-40B4-BE49-F238E27FC236}">
                <ns3:creationId id="{5E847F83-D682-4E2A-86F7-7A67537640CF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489585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Cohort Landing Launch</ns1:t>
            </ns1:r>
          </ns1:p>
        </ns0:txBody>
      </ns0:sp>
      <ns0:sp>
        <ns0:nvSpPr>
          <ns0:cNvPr id="16" name="">
            <ns1:extLst>
              <ns1:ext uri="{FF2B5EF4-FFF2-40B4-BE49-F238E27FC236}">
                <ns3:creationId id="{EFC74D79-CD78-4E13-9BEB-DE0F32771E59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16255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Bezugsfertige Rekrutierungswelle</ns1:t>
            </ns1:r>
          </ns1:p>
        </ns0:txBody>
      </ns0:sp>
      <ns0:sp>
        <ns0:nvSpPr>
          <ns0:cNvPr id="17" name="">
            <ns1:extLst>
              <ns1:ext uri="{FF2B5EF4-FFF2-40B4-BE49-F238E27FC236}">
                <ns3:creationId id="{76D25249-79E3-46C2-ACB3-1D32C4A470E0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495300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29.500 € netto</ns1:t>
            </ns1:r>
          </ns1:p>
        </ns0:txBody>
      </ns0:sp>
      <ns0:sp>
        <ns0:nvSpPr>
          <ns0:cNvPr id="18" name="">
            <ns1:extLst>
              <ns1:ext uri="{FF2B5EF4-FFF2-40B4-BE49-F238E27FC236}">
                <ns3:creationId id="{723B8CA9-480B-449F-A78B-566D9B664117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524500"/>
            <ns1:ext cx="5038725" cy="9525"/>
          </ns1:xfrm>
          <ns1:prstGeom prst="rect">
            <ns1:avLst/>
          </ns1:prstGeom>
          <ns1:solidFill>
            <ns1:srgbClr val="D5DCE0"/>
          </ns1:solidFill>
          <ns1:ln w="0">
            <ns1:noFill/>
            <ns1:prstDash val="solid"/>
          </ns1:ln>
        </ns0:spPr>
      </ns0:sp>
      <ns0:sp>
        <ns0:nvSpPr>
          <ns0:cNvPr id="19" name="">
            <ns1:extLst>
              <ns1:ext uri="{FF2B5EF4-FFF2-40B4-BE49-F238E27FC236}">
                <ns3:creationId id="{4C6BF546-1CEC-4F50-B820-93514E7C2CF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676900"/>
            <ns1:ext cx="2905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102A43"/>
                </ns1:solidFill>
              </ns1:defRPr>
            </ns1:pPr>
            <ns1:r>
              <ns1:rPr sz="1350" b="1" i="0">
                <ns1:solidFill>
                  <ns1:srgbClr val="102A43"/>
                </ns1:solidFill>
              </ns1:rPr>
              <ns1:t>Arrival Office</ns1:t>
            </ns1:r>
          </ns1:p>
        </ns0:txBody>
      </ns0:sp>
      <ns0:sp>
        <ns0:nvSpPr>
          <ns0:cNvPr id="20" name="">
            <ns1:extLst>
              <ns1:ext uri="{FF2B5EF4-FFF2-40B4-BE49-F238E27FC236}">
                <ns3:creationId id="{3DB3B869-77C1-40CE-91E4-59AB2D2746F5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5943600"/>
            <ns1:ext cx="2952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050" b="0" i="0">
                <ns1:solidFill>
                  <ns1:srgbClr val="667785"/>
                </ns1:solidFill>
              </ns1:defRPr>
            </ns1:pPr>
            <ns1:r>
              <ns1:rPr sz="1050" b="0" i="0">
                <ns1:solidFill>
                  <ns1:srgbClr val="667785"/>
                </ns1:solidFill>
              </ns1:rPr>
              <ns1:t>Laufende Housing- &amp; Arrival-Funktion</ns1:t>
            </ns1:r>
          </ns1:p>
        </ns0:txBody>
      </ns0:sp>
      <ns0:sp>
        <ns0:nvSpPr>
          <ns0:cNvPr id="21" name="">
            <ns1:extLst>
              <ns1:ext uri="{FF2B5EF4-FFF2-40B4-BE49-F238E27FC236}">
                <ns3:creationId id="{AF463FEF-88B1-406F-BA08-41A1877121E9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5734050"/>
            <ns1:ext cx="1762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r">
              <ns1:buNone/>
              <ns1:defRPr sz="1125" b="1" i="0">
                <ns1:solidFill>
                  <ns1:srgbClr val="0C6B70"/>
                </ns1:solidFill>
              </ns1:defRPr>
            </ns1:pPr>
            <ns1:r>
              <ns1:rPr sz="1125" b="1" i="0">
                <ns1:solidFill>
                  <ns1:srgbClr val="0C6B70"/>
                </ns1:solidFill>
              </ns1:rPr>
              <ns1:t>ab 15.000 € Setup</ns1:t>
            </ns1:r>
          </ns1:p>
        </ns0:txBody>
      </ns0:sp>
      <ns0:sp>
        <ns0:nvSpPr>
          <ns0:cNvPr id="22" name="">
            <ns1:extLst>
              <ns1:ext uri="{FF2B5EF4-FFF2-40B4-BE49-F238E27FC236}">
                <ns3:creationId id="{EB6E0188-B0A6-4AE2-9714-3BCD9401E10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6629400"/>
            <ns1:ext cx="5219700" cy="685800"/>
          </ns1:xfrm>
          <ns1:prstGeom prst="roundRect">
            <ns1:avLst>
              <ns1:gd name="adj" fmla="val 16667"/>
            </ns1:avLst>
          </ns1:prstGeom>
          <ns1:solidFill>
            <ns1:srgbClr val="102A43"/>
          </ns1:solidFill>
          <ns1:ln w="0">
            <ns1:noFill/>
            <ns1:prstDash val="solid"/>
          </ns1:ln>
        </ns0:spPr>
      </ns0:sp>
      <ns0:sp>
        <ns0:nvSpPr>
          <ns0:cNvPr id="23" name="">
            <ns1:extLst>
              <ns1:ext uri="{FF2B5EF4-FFF2-40B4-BE49-F238E27FC236}">
                <ns3:creationId id="{5C1B458C-6A53-49B7-B092-D4BA60CDBBA1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6810375"/>
            <ns1:ext cx="4572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1350" b="1" i="0">
                <ns1:solidFill>
                  <ns1:srgbClr val="FFFFFF"/>
                </ns1:solidFill>
              </ns1:defRPr>
            </ns1:pPr>
            <ns1:r>
              <ns1:rPr sz="1350" b="1" i="0">
                <ns1:solidFill>
                  <ns1:srgbClr val="FFFFFF"/>
                </ns1:solidFill>
              </ns1:rPr>
              <ns1:t>Startpunkt: 45-Minuten Readiness Discovery</ns1:t>
            </ns1:r>
          </ns1:p>
        </ns0:txBody>
      </ns0:sp>
      <ns0:sp>
        <ns0:nvSpPr>
          <ns0:cNvPr id="24" name="">
            <ns1:extLst>
              <ns1:ext uri="{FF2B5EF4-FFF2-40B4-BE49-F238E27FC236}">
                <ns3:creationId id="{AC342C96-5DCA-437D-AC51-FF9273AFBFEF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7067550"/>
            <ns1:ext cx="4333875" cy="1524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00" b="0" i="0">
                <ns1:solidFill>
                  <ns1:srgbClr val="D7E4E4"/>
                </ns1:solidFill>
              </ns1:defRPr>
            </ns1:pPr>
            <ns1:r>
              <ns1:rPr sz="900" b="0" i="0">
                <ns1:solidFill>
                  <ns1:srgbClr val="D7E4E4"/>
                </ns1:solidFill>
              </ns1:rPr>
              <ns1:t>Kohorte · Standort · Startfenster · Budgetroute · offene Gates</ns1:t>
            </ns1:r>
          </ns1:p>
        </ns0:txBody>
      </ns0:sp>
      <ns0:sp>
        <ns0:nvSpPr>
          <ns0:cNvPr id="25" name="">
            <ns1:extLst>
              <ns1:ext uri="{FF2B5EF4-FFF2-40B4-BE49-F238E27FC236}">
                <ns3:creationId id="{9F053FDA-A4B5-4324-AEFF-1BBA4588A8E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7524750"/>
            <ns1:ext cx="4953000" cy="133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750" b="0" i="0">
                <ns1:solidFill>
                  <ns1:srgbClr val="667785"/>
                </ns1:solidFill>
              </ns1:defRPr>
            </ns1:pPr>
            <ns1:r>
              <ns1:rPr sz="750" b="0" i="0">
                <ns1:solidFill>
                  <ns1:srgbClr val="667785"/>
                </ns1:solidFill>
              </ns1:rPr>
              <ns1:t>AMAVIO Holding UG (haftungsbeschränkt) · Düsseldorf</ns1:t>
            </ns1:r>
          </ns1:p>
        </ns0:txBody>
      </ns0:sp>
      <ns0:sp>
        <ns0:nvSpPr>
          <ns0:cNvPr id="26" name="">
            <ns1:extLst>
              <ns1:ext uri="{FF2B5EF4-FFF2-40B4-BE49-F238E27FC236}">
                <ns3:creationId id="{B765BD04-4961-4316-80D9-0BA07982416F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6286500"/>
            <ns1:ext cx="257175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2325" b="1" i="0">
                <ns1:solidFill>
                  <ns1:srgbClr val="FFFFFF"/>
                </ns1:solidFill>
              </ns1:defRPr>
            </ns1:pPr>
            <ns1:r>
              <ns1:rPr sz="2325" b="1" i="0">
                <ns1:solidFill>
                  <ns1:srgbClr val="FFFFFF"/>
                </ns1:solidFill>
              </ns1:rPr>
              <ns1:t>AMAVIO</ns1:t>
            </ns1:r>
          </ns1:p>
          <ns1:p>
            <ns1:pPr algn="l">
              <ns1:buNone/>
              <ns1:defRPr sz="2325" b="1" i="0">
                <ns1:solidFill>
                  <ns1:srgbClr val="FFFFFF"/>
                </ns1:solidFill>
              </ns1:defRPr>
            </ns1:pPr>
            <ns1:r>
              <ns1:rPr sz="2325" b="1" i="0">
                <ns1:solidFill>
                  <ns1:srgbClr val="FFFFFF"/>
                </ns1:solidFill>
              </ns1:rPr>
              <ns1:t>LIVING</ns1:t>
            </ns1:r>
          </ns1:p>
        </ns0:txBody>
      </ns0:sp>
      <ns0:sp>
        <ns0:nvSpPr>
          <ns0:cNvPr id="27" name="">
            <ns1:extLst>
              <ns1:ext uri="{FF2B5EF4-FFF2-40B4-BE49-F238E27FC236}">
                <ns3:creationId id="{A09B9AE8-1CFF-41D1-ABB1-B2142D259CE8}"/>
              </ns1:ext>
            </ns1:extLst>
          </ns0:cNvPr>
          <ns0:cNvSpPr>
            <ns1:spLocks noGrp="1"/>
          </ns0:cNvSpPr>
          <ns0:nvPr/>
        </ns0:nvSpPr>
        <ns0:spPr>
          <ns1:xfrm>
            <ns1:off x="7162800" y="6934200"/>
            <ns1:ext cx="25717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buNone/>
              <ns1:defRPr sz="975" b="1" i="0">
                <ns1:solidFill>
                  <ns1:srgbClr val="F1E9DC"/>
                </ns1:solidFill>
              </ns1:defRPr>
            </ns1:pPr>
            <ns1:r>
              <ns1:rPr sz="975" b="1" i="0">
                <ns1:solidFill>
                  <ns1:srgbClr val="F1E9DC"/>
                </ns1:solidFill>
              </ns1:rPr>
              <ns1:t>WORKFORCE HOUSING</ns1:t>
            </ns1:r>
          </ns1:p>
          <ns1:p>
            <ns1:pPr algn="l">
              <ns1:buNone/>
              <ns1:defRPr sz="975" b="1" i="0">
                <ns1:solidFill>
                  <ns1:srgbClr val="F1E9DC"/>
                </ns1:solidFill>
              </ns1:defRPr>
            </ns1:pPr>
            <ns1:r>
              <ns1:rPr sz="975" b="1" i="0">
                <ns1:solidFill>
                  <ns1:srgbClr val="F1E9DC"/>
                </ns1:solidFill>
              </ns1:rPr>
              <ns1:t>&amp; INTEGRATION</ns1:t>
            </ns1:r>
          </ns1:p>
        </ns0:txBody>
      </ns0:sp>
    </ns0:spTree>
    <ns0:extLst>
      <ns0:ext uri="{BB962C8B-B14F-4D97-AF65-F5344CB8AC3E}">
        <ns4:creationId val="9655231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2026-07-28T07:55:16.3800000Z</dcterms:created>
  <dcterms:modified xsi:type="dcterms:W3CDTF">2026-07-28T07:55:16.3800000Z</dcterms:modified>
</coreProperties>
</file>