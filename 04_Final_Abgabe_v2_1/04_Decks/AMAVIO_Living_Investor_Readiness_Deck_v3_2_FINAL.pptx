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add41cfc2431b" /><Relationship Type="http://schemas.openxmlformats.org/officeDocument/2006/relationships/extended-properties" Target="/docProps/app.xml" Id="Rf59894f13f56419f" /><Relationship Type="http://schemas.openxmlformats.org/officeDocument/2006/relationships/officeDocument" Target="/ppt/presentation.xml" Id="R5efe69e3d354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6968e77664186"/>
  </p:sldMasterIdLst>
  <p:notesMasterIdLst>
    <p:notesMasterId xmlns:r="http://schemas.openxmlformats.org/officeDocument/2006/relationships" r:id="Rbc1e7347c05e4273"/>
  </p:notesMasterIdLst>
  <p:sldIdLst>
    <p:sldId xmlns:r="http://schemas.openxmlformats.org/officeDocument/2006/relationships" id="256" r:id="R0062fd305c474462"/>
    <p:sldId xmlns:r="http://schemas.openxmlformats.org/officeDocument/2006/relationships" id="257" r:id="R67d342e74b914495"/>
    <p:sldId xmlns:r="http://schemas.openxmlformats.org/officeDocument/2006/relationships" id="258" r:id="Rae869ad6c3d14cfd"/>
    <p:sldId xmlns:r="http://schemas.openxmlformats.org/officeDocument/2006/relationships" id="259" r:id="R1b51b0ad0b47485a"/>
    <p:sldId xmlns:r="http://schemas.openxmlformats.org/officeDocument/2006/relationships" id="260" r:id="Rc357d19a7c844027"/>
    <p:sldId xmlns:r="http://schemas.openxmlformats.org/officeDocument/2006/relationships" id="261" r:id="R489c8b8b3e52488f"/>
    <p:sldId xmlns:r="http://schemas.openxmlformats.org/officeDocument/2006/relationships" id="262" r:id="R235cb2fcea654ef1"/>
    <p:sldId xmlns:r="http://schemas.openxmlformats.org/officeDocument/2006/relationships" id="263" r:id="R2d9b361a6ae74127"/>
    <p:sldId xmlns:r="http://schemas.openxmlformats.org/officeDocument/2006/relationships" id="264" r:id="R6359af11a7f146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330d7a906c49b3" /><Relationship Type="http://schemas.openxmlformats.org/officeDocument/2006/relationships/slideMaster" Target="/ppt/slideMasters/slideMaster1.xml" Id="Raaa6968e77664186" /><Relationship Type="http://schemas.openxmlformats.org/officeDocument/2006/relationships/notesMaster" Target="/ppt/notesMasters/notesMaster1.xml" Id="Rbc1e7347c05e4273" /><Relationship Type="http://schemas.openxmlformats.org/officeDocument/2006/relationships/presProps" Target="/ppt/presProps.xml" Id="R09c6b457025e411d" /><Relationship Type="http://schemas.openxmlformats.org/officeDocument/2006/relationships/tableStyles" Target="/ppt/tableStyles.xml" Id="R9a9b475fca484197" /><Relationship Type="http://schemas.openxmlformats.org/officeDocument/2006/relationships/slide" Target="/ppt/slides/slide1.xml" Id="R0062fd305c474462" /><Relationship Type="http://schemas.openxmlformats.org/officeDocument/2006/relationships/slide" Target="/ppt/slides/slide2.xml" Id="R67d342e74b914495" /><Relationship Type="http://schemas.openxmlformats.org/officeDocument/2006/relationships/slide" Target="/ppt/slides/slide3.xml" Id="Rae869ad6c3d14cfd" /><Relationship Type="http://schemas.openxmlformats.org/officeDocument/2006/relationships/slide" Target="/ppt/slides/slide4.xml" Id="R1b51b0ad0b47485a" /><Relationship Type="http://schemas.openxmlformats.org/officeDocument/2006/relationships/slide" Target="/ppt/slides/slide5.xml" Id="Rc357d19a7c844027" /><Relationship Type="http://schemas.openxmlformats.org/officeDocument/2006/relationships/slide" Target="/ppt/slides/slide6.xml" Id="R489c8b8b3e52488f" /><Relationship Type="http://schemas.openxmlformats.org/officeDocument/2006/relationships/slide" Target="/ppt/slides/slide7.xml" Id="R235cb2fcea654ef1" /><Relationship Type="http://schemas.openxmlformats.org/officeDocument/2006/relationships/slide" Target="/ppt/slides/slide8.xml" Id="R2d9b361a6ae74127" /><Relationship Type="http://schemas.openxmlformats.org/officeDocument/2006/relationships/slide" Target="/ppt/slides/slide9.xml" Id="R6359af11a7f1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a0739894f43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381e701d54f2f" /><Relationship Type="http://schemas.openxmlformats.org/officeDocument/2006/relationships/notesMaster" Target="/ppt/notesMasters/notesMaster1.xml" Id="R3d2c808f72df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65007f7b14da7" /><Relationship Type="http://schemas.openxmlformats.org/officeDocument/2006/relationships/notesMaster" Target="/ppt/notesMasters/notesMaster1.xml" Id="R37e6f15611b94b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fceceee7e0424c" /><Relationship Type="http://schemas.openxmlformats.org/officeDocument/2006/relationships/notesMaster" Target="/ppt/notesMasters/notesMaster1.xml" Id="R828c7b03749848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416574aba24312" /><Relationship Type="http://schemas.openxmlformats.org/officeDocument/2006/relationships/notesMaster" Target="/ppt/notesMasters/notesMaster1.xml" Id="R4d17bf9ef322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0adebb0f464f7b" /><Relationship Type="http://schemas.openxmlformats.org/officeDocument/2006/relationships/notesMaster" Target="/ppt/notesMasters/notesMaster1.xml" Id="R60cf0b5982b8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e9ad895704827" /><Relationship Type="http://schemas.openxmlformats.org/officeDocument/2006/relationships/notesMaster" Target="/ppt/notesMasters/notesMaster1.xml" Id="Rebc4d8fb089d41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4d3c584f994e08" /><Relationship Type="http://schemas.openxmlformats.org/officeDocument/2006/relationships/notesMaster" Target="/ppt/notesMasters/notesMaster1.xml" Id="R478c6c039fe148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af505c073c4583" /><Relationship Type="http://schemas.openxmlformats.org/officeDocument/2006/relationships/notesMaster" Target="/ppt/notesMasters/notesMaster1.xml" Id="Rb3e6c2befdad4d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85b341b60049e0" /><Relationship Type="http://schemas.openxmlformats.org/officeDocument/2006/relationships/notesMaster" Target="/ppt/notesMasters/notesMaster1.xml" Id="R87af4c6b0e7843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AMAVIO Businessplan v2.2 und 36-Monats-Finanzmodell v1.8 (interne Planannahmen, Stand 28. Juli 2026).</a:t>
            </a:r>
          </a:p>
          <a:p xmlns:a="http://schemas.openxmlformats.org/drawingml/2006/main">
            <a:r>
              <a:t>- Editorial image retained from the AMAVIO source deck where shown.</a:t>
            </a:r>
          </a:p>
          <a:p xmlns:a="http://schemas.openxmlformats.org/drawingml/2006/main">
            <a:r>
              <a:t>- Prices are net starting prices; scope, third-party costs and acceptance remain project-specific.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167cf12a647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85382fb7f044e0" /><Relationship Type="http://schemas.openxmlformats.org/officeDocument/2006/relationships/slideLayout" Target="/ppt/slideLayouts/slideLayout1.xml" Id="Rc095ca01c4cf46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95ca01c4cf46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6bb0e279f42ec" /><Relationship Type="http://schemas.openxmlformats.org/officeDocument/2006/relationships/image" Target="/ppt/media/image.png" Id="Re67c73cc9ab9472b" /><Relationship Type="http://schemas.openxmlformats.org/officeDocument/2006/relationships/notesSlide" Target="/ppt/notesSlides/notesSlide1.xml" Id="R030c0e19a09f4a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1dab00f284c24" /><Relationship Type="http://schemas.openxmlformats.org/officeDocument/2006/relationships/notesSlide" Target="/ppt/notesSlides/notesSlide2.xml" Id="R0f0999aad67941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81c62d28645f9" /><Relationship Type="http://schemas.openxmlformats.org/officeDocument/2006/relationships/notesSlide" Target="/ppt/notesSlides/notesSlide3.xml" Id="R88641f01cc1b47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e9b5f766247dd" /><Relationship Type="http://schemas.openxmlformats.org/officeDocument/2006/relationships/notesSlide" Target="/ppt/notesSlides/notesSlide4.xml" Id="R4a36a0c0c97f49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a735263a64353" /><Relationship Type="http://schemas.openxmlformats.org/officeDocument/2006/relationships/notesSlide" Target="/ppt/notesSlides/notesSlide5.xml" Id="Rf8122063f2764b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c112f2584c65" /><Relationship Type="http://schemas.openxmlformats.org/officeDocument/2006/relationships/notesSlide" Target="/ppt/notesSlides/notesSlide6.xml" Id="R6215f8ec83b84e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c6fc41838433f" /><Relationship Type="http://schemas.openxmlformats.org/officeDocument/2006/relationships/notesSlide" Target="/ppt/notesSlides/notesSlide7.xml" Id="Refcbe20edd0146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0eaff50f9489c" /><Relationship Type="http://schemas.openxmlformats.org/officeDocument/2006/relationships/notesSlide" Target="/ppt/notesSlides/notesSlide8.xml" Id="Rbe162a7b10434a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83e70373945e6" /><Relationship Type="http://schemas.openxmlformats.org/officeDocument/2006/relationships/notesSlide" Target="/ppt/notesSlides/notesSlide9.xml" Id="R6a8c9e5b0c1e4a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c73cc9ab947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32C7C-2C0C-4829-A3E8-BCA80C1F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E77A4-A774-45F1-8B9C-1272AFE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F032B-56D4-40EB-970B-17EAF03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EF0E5-6629-41A3-886C-9485DAE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CE302-B985-4214-95BD-CD7CA861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21004-F552-4F31-972C-777E0702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35ADB-A649-43A1-99FA-6F78EED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INVESTOR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341EC-3CCF-4F7B-8830-4CC9B78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15C31-A903-40A4-9849-32025D38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Workforce Housing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wird zur Infrastruktur,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FFFFFF"/>
                </a:solidFill>
              </a:defRPr>
            </a:pPr>
            <a:r>
              <a:rPr sz="3300" b="1" i="0">
                <a:solidFill>
                  <a:srgbClr val="FFFFFF"/>
                </a:solidFill>
              </a:rPr>
              <a:t>wenn Hiring skaliert.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C30CB-24B4-4F88-AAF5-6611C14E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7E4E4"/>
                </a:solidFill>
              </a:defRPr>
            </a:pPr>
            <a:r>
              <a:rPr sz="1500" b="0" i="0">
                <a:solidFill>
                  <a:srgbClr val="D7E4E4"/>
                </a:solidFill>
              </a:rPr>
              <a:t>AMAVIO Living startet kapitalarm mit produktisierten Projekt- und Serviceumsätzen – vor eigener Objektbindung.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C13EA-64A5-4B6E-A1D5-E6AA5E63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34057-462D-4F7B-969D-7E56784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Investor Readiness · interne Strategiegrundlage · keine Anlage- oder Finanzierungsaufforderung</a:t>
            </a:r>
          </a:p>
        </p:txBody>
      </p:sp>
    </p:spTree>
    <p:extLst>
      <p:ext uri="{BB962C8B-B14F-4D97-AF65-F5344CB8AC3E}">
        <p14:creationId xmlns:p14="http://schemas.microsoft.com/office/powerpoint/2010/main" val="241854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85A0B-F3C6-4655-A0D7-3E33AF0F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10666-4879-4BC9-A5F3-38BEC8C6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F658C-D6BC-4C85-899A-B3FF6706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7AECF-7101-421F-BC1E-8A38BBAB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AD5A6-8A55-44D6-A1FF-A7357576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DAS KUNDENPROBLEM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46666-3522-4692-A518-5AAC504B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30480-B832-44C7-A4EE-8F86FF25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Recruiting wird erst wertvoll, wenn der Arbeitsstart gelingt.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0BB3B-9617-4357-B4DA-AB3E2F1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Zwischen Personalzusage und tatsächlicher Arbeitsaufnahme fehlt Arbeitgebern häufig eine integrierte Operating Function.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B680D-0276-4D6C-9858-04270E8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HR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146D3-C117-419A-9C85-3AC9A8F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hat die Zusage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13AEB-FB2F-4710-818A-8A1B766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aber oft keinen Housing- und Arrival-Prozess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49225-357C-4CEC-95CA-53868C8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Objekte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762CC-472A-418E-B611-5CDF2D2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müssen bereit sein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9309E-29EE-46F3-BE42-109E43AC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bevor die Kohorte tatsächlich ankommt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4E1ED-3FC8-4593-A25C-DBDD12C6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45BDC-2659-48DC-8D3C-F59C47E6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brauchen Stabilität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776AC-5C77-4D79-94E8-D315E6AB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damit Ankunft nicht zusätzlich belastet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C005D-A002-4CB0-B1F3-59D2BE1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670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0C6B70"/>
                </a:solidFill>
              </a:defRPr>
            </a:pPr>
            <a:r>
              <a:rPr sz="2700" b="1" i="0">
                <a:solidFill>
                  <a:srgbClr val="0C6B70"/>
                </a:solidFill>
              </a:rPr>
              <a:t>AMAVIO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40A81-E72F-4728-8B87-FD5AC68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3857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schließt die Lücke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6AF7D2-E495-4646-9791-89F259BF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71950"/>
            <a:ext cx="2428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als definierter Projekt- und Servicepartner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28801-A978-44C7-A655-E54CF2F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828384-4FF2-4F5E-A3BD-7987DE44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Positionierung: Workforce Housing &amp; Integration – kein unkontrollierter Objektbetreiber.</a:t>
            </a:r>
          </a:p>
        </p:txBody>
      </p:sp>
    </p:spTree>
    <p:extLst>
      <p:ext uri="{BB962C8B-B14F-4D97-AF65-F5344CB8AC3E}">
        <p14:creationId xmlns:p14="http://schemas.microsoft.com/office/powerpoint/2010/main" val="12814991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1A126-E4AC-4B66-B68A-ED4FE6C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8678-8C7D-464D-9B34-00615E5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00CC2-944C-429D-92F5-81EADEAB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77AA2-5A8F-47CB-92BB-DEE3D0A0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5EBA8-0E4B-47C9-8942-AD2DC2BF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MARKTEINTRITTSLOGIK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E4436-F995-4D8F-A686-EF2F36E9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108EC-7B6B-481F-AF07-8DD59674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Proof zuerst. Asset-Risiko erst nach einem wiederholbaren Servicekern.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4D54B-DA4E-417D-8B9E-B997D7D7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Der erste Cash-Generator ist entscheidungsfähige Projekt- und Implementierungsleistung – nicht ein vorfinanziertes Betreiberportfolio.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25A16-E136-4A17-BF6A-E19C49A4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795E3-6E9E-4EB4-BF1F-8780D4C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BE8E6-1807-473C-8257-60F3BEED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Blueprint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1DDFA-F472-43BA-9E8C-4A3B16A7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05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Bedarf, Budgetroute, Entscheidung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56172-9E8F-4692-AD6E-52A8B8ED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9F4A8-6E5C-45AC-89BC-1A16DAC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8CE9E-5ADD-41F5-AE9D-50334705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Launch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C42C8-EE63-45A1-9855-48E0645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05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Koordinierte Umsetzung und Abnahme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269D3-34D2-4B97-AE31-BB6AD70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CDA19-9C3F-4F08-B2F5-95179941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02A43"/>
                </a:solidFill>
              </a:defRPr>
            </a:pPr>
            <a:r>
              <a:rPr sz="1050" b="1" i="0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FB70D0-697A-479A-8294-B37B578E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Office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D1E4A-0E29-4E85-9838-935C910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785"/>
                </a:solidFill>
              </a:defRPr>
            </a:pPr>
            <a:r>
              <a:rPr sz="1050" b="0" i="0">
                <a:solidFill>
                  <a:srgbClr val="667785"/>
                </a:solidFill>
              </a:rPr>
              <a:t>Wiederholbarer Betrieb mit SLA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125E4-57B7-4325-A7CA-3F7BAF87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93AFD-C778-407B-A5F3-C316DDD9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102A43"/>
                </a:solidFill>
              </a:defRPr>
            </a:pPr>
            <a:r>
              <a:rPr sz="1950" b="0" i="1">
                <a:solidFill>
                  <a:srgbClr val="102A43"/>
                </a:solidFill>
              </a:rPr>
              <a:t>„Objekte sind eine spätere Einzelentscheidung – kein Wachstumsreflex.“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9A349-6F5F-4CE4-BD53-E55DA80A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578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67785"/>
                </a:solidFill>
              </a:defRPr>
            </a:pPr>
            <a:r>
              <a:rPr sz="825" b="1" i="0">
                <a:solidFill>
                  <a:srgbClr val="667785"/>
                </a:solidFill>
              </a:rPr>
              <a:t>AMAVIO Capital Discipline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4C92E-A7D0-4CE0-9748-A56D1421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25D83-A5B9-4011-A021-30B5A6AF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Eigene Anmietung oder Betrieb nur nach Nachfrage-, Rechts-, Finanz- und Exit-Gate.</a:t>
            </a:r>
          </a:p>
        </p:txBody>
      </p:sp>
    </p:spTree>
    <p:extLst>
      <p:ext uri="{BB962C8B-B14F-4D97-AF65-F5344CB8AC3E}">
        <p14:creationId xmlns:p14="http://schemas.microsoft.com/office/powerpoint/2010/main" val="1006225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A00C4-AF2F-4981-B6C8-57FD14F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91923-EC34-481D-A5E0-48DD5ED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177A-51BF-4E58-81E6-49F8C88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2B551-BB96-4F1B-A2FF-37D602C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117F6-D8D0-4174-AE24-6D431FA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UMSATZLOGIK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27090-57F9-405E-98EF-0C3A8BF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349F5-ACC5-4661-9DDA-2DF375E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Das Modell skaliert zuerst über wiederholbare Serviceumsätze.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CDFF4-3FE7-4DDD-B6F0-2372EBF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Basiscase-Planannahmen: Produktumsatz vor Asset-Umsatz; kein externer Forecast und keine Zusicherung.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49413-BA95-4CEA-9A65-4540AE6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DF3D6-51F1-4824-9818-E0FB593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Planjahr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D93B-6D9E-43DE-B499-18779EC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93.500 € Umsatz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2F884-7055-4985-A1B8-FCFA3F4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337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97B1F-5D19-4EB7-83E0-77B3CAF8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4BC1-79CF-4803-8C3D-A245DA8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Planjahr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7032A-80D2-4B70-B98D-F9AB062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95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269.000 € Umsatz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D169E-6ABA-4950-B1BE-E102AE3B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E087B-6BCF-4431-8EB2-90A23D5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9E984-521C-40CE-AD99-BC42C16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Planjahr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09C2A-A593-4802-AE81-AEF0D06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53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442.000 € Umsatz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22EDD-79CB-4BFD-BF71-183AC8A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873F8-9F9A-4A94-A5D1-6C7AEAC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204DE-DE2F-4E73-9B69-A4FCCABB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Asset-Modell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61FD9-FE9E-4400-979A-7A5C94A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nur nach Sondergate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D0A2C-38F2-49E0-8421-D721FE83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2DD83-88A6-48B0-A395-A728D9A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Quelle: internes 36-Monats-Finanzmodell v1.8; alle Werte sind steuerbare Planannahmen.</a:t>
            </a:r>
          </a:p>
        </p:txBody>
      </p:sp>
    </p:spTree>
    <p:extLst>
      <p:ext uri="{BB962C8B-B14F-4D97-AF65-F5344CB8AC3E}">
        <p14:creationId xmlns:p14="http://schemas.microsoft.com/office/powerpoint/2010/main" val="234813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D61A0-A642-4683-A69E-E066401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A07C-4B49-4E38-8599-F40F9AC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F2B0B-4ACE-4E8F-856E-28E3F91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E89F-540D-4410-B635-078671E4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6D7C-49F0-4ED2-8996-994DDD62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DIE BEWEISKETTE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2201-7F1F-4086-B2CA-C2746BF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ED91C-A84A-41C1-91DE-1C96F72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Wachstum wird erst investierbar, wenn Delivery wiederholbar wird.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C7315-2195-4568-BB4B-4F30BD3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Die ersten Mandate liefern nicht nur Umsatz, sondern die operativen Belege für Preis, Qualität und Skalierbarkeit.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0880-6479-46A6-818D-258D147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31FCB-5EA6-4257-B9F7-D317D60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Bezahlter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EE07-EB93-49C7-82F9-5B02235F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Anzahlung, Scope, Abnahme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12748-26EC-4E3E-B601-81B643C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DCD31-45BF-439C-8500-44FB61B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0F689-A855-46C4-95C0-115E3DD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Delivery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2DF90-D614-4B1C-BC5B-EE94B43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Stunden, Zeit, Budget, Qualität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1F8D-1EF7-4D19-A7F0-11CDDD17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79A8-A8B6-4CA8-A030-92BA314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2E1A7-CA45-41CF-B1F4-288BFB8C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Wiederholung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BEF96-29AF-4C3B-AE84-6B54380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SLA, Partnerqualität, Folgeauftrag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9E8D-A7F4-48F9-8DEA-A4D6EFA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5E451-58BC-4BF4-8EAF-D550CFF8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FB14E-0146-4B1D-AF5C-4CCE65C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Capital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54A46-3CC2-4907-8947-870045B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Cash, Unit Economics, Asset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AEC06-F966-45F2-BE00-C37AD06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6138-FD02-4339-8FB4-38E9B8E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Investor Readiness folgt dokumentierter Delivery – nicht der anderen Richtung.</a:t>
            </a:r>
          </a:p>
        </p:txBody>
      </p:sp>
    </p:spTree>
    <p:extLst>
      <p:ext uri="{BB962C8B-B14F-4D97-AF65-F5344CB8AC3E}">
        <p14:creationId xmlns:p14="http://schemas.microsoft.com/office/powerpoint/2010/main" val="8826581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A00C4-AF2F-4981-B6C8-57FD14F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91923-EC34-481D-A5E0-48DD5ED7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F177A-51BF-4E58-81E6-49F8C88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2B551-BB96-4F1B-A2FF-37D602C1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117F6-D8D0-4174-AE24-6D431FA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DER OPERATING VORTEIL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27090-57F9-405E-98EF-0C3A8BF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349F5-ACC5-4661-9DDA-2DF375E8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Mit jedem Mandat wird die Lieferlogik wertvoller.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9CDFF4-3FE7-4DDD-B6F0-2372EBF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AMAVIO sammelt kein beliebiges Datenvolumen, sondern strukturiert die wiederkehrenden Entscheidungen im Projektalltag.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49413-BA95-4CEA-9A65-4540AE61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DF3D6-51F1-4824-9818-E0FB593D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Bedarfssignal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DD93B-6D9E-43DE-B499-18779EC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Kohorte, Ort, Zeit,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2F884-7055-4985-A1B8-FCFA3F4D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337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97B1F-5D19-4EB7-83E0-77B3CAF8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4BC1-79CF-4803-8C3D-A245DA8D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909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Lieferwissen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7032A-80D2-4B70-B98D-F9AB062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95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Partner, Kosten, Durchlaufzeiten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D169E-6ABA-4950-B1BE-E102AE3B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95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E087B-6BCF-4431-8EB2-90A23D5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9E984-521C-40CE-AD99-BC42C16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Qualitätsdaten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09C2A-A593-4802-AE81-AEF0D06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053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Abnahme, Issues,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22EDD-79CB-4BFD-BF71-183AC8A6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873F8-9F9A-4A94-A5D1-6C7AEACD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6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3204DE-DE2F-4E73-9B69-A4FCCABB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Playbook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61FD9-FE9E-4400-979A-7A5C94A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91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785"/>
                </a:solidFill>
              </a:defRPr>
            </a:pPr>
            <a:r>
              <a:rPr sz="1125" b="0" i="0">
                <a:solidFill>
                  <a:srgbClr val="667785"/>
                </a:solidFill>
              </a:rPr>
              <a:t>SOPs, Reporting, Eskalationslogik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D0A2C-38F2-49E0-8421-D721FE83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B2DD83-88A6-48B0-A395-A728D9AB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Digitalisierung folgt erst nach Rollenfreigabe und realer Prozesswiederholung.</a:t>
            </a:r>
          </a:p>
        </p:txBody>
      </p:sp>
    </p:spTree>
    <p:extLst>
      <p:ext uri="{BB962C8B-B14F-4D97-AF65-F5344CB8AC3E}">
        <p14:creationId xmlns:p14="http://schemas.microsoft.com/office/powerpoint/2010/main" val="234813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73785-A63B-47CD-AAFD-25612E93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9B999-A05F-467B-ABB7-C17BFC3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B8955A"/>
                </a:solidFill>
              </a:defRPr>
            </a:pPr>
            <a:r>
              <a:rPr sz="750" b="1" i="0">
                <a:solidFill>
                  <a:srgbClr val="B8955A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1BAD8-2F36-4BA6-A384-32524FBB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667785"/>
                </a:solidFill>
              </a:defRPr>
            </a:pPr>
            <a:r>
              <a:rPr sz="750" b="1" i="0">
                <a:solidFill>
                  <a:srgbClr val="667785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CFC69-F736-4598-BCF7-C8D3812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667785"/>
                </a:solidFill>
              </a:defRPr>
            </a:pPr>
            <a:r>
              <a:rPr sz="750" b="0" i="0">
                <a:solidFill>
                  <a:srgbClr val="6677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25D46-2D19-4C3F-8230-0B0D339B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0C6B70"/>
                </a:solidFill>
              </a:defRPr>
            </a:pPr>
            <a:r>
              <a:rPr sz="900" b="1" i="0">
                <a:solidFill>
                  <a:srgbClr val="0C6B70"/>
                </a:solidFill>
              </a:rPr>
              <a:t>DIE KAPITALGATES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538A4-FED5-451C-ADAE-797F6CE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9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1AF99-174D-4093-AF3A-C0659E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02A43"/>
                </a:solidFill>
              </a:defRPr>
            </a:pPr>
            <a:r>
              <a:rPr sz="2850" b="1" i="0">
                <a:solidFill>
                  <a:srgbClr val="102A43"/>
                </a:solidFill>
              </a:rPr>
              <a:t>Kapital soll Evidenz beschleunigen – nicht Unklarheit finanzieren.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1DA0F-C8EF-4DD1-83B4-B25E4074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785"/>
                </a:solidFill>
              </a:defRPr>
            </a:pPr>
            <a:r>
              <a:rPr sz="1425" b="0" i="0">
                <a:solidFill>
                  <a:srgbClr val="667785"/>
                </a:solidFill>
              </a:rPr>
              <a:t>Vor einer Asset- oder Plattformfinanzierung müssen die Grundlagen sauber dokumentiert und operativ nachweisbar sein.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45913-0ECD-423E-B6BF-663C358D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42363-3264-4AB0-85C1-FEFD23F2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A7B95-AF00-4775-99D8-6AC8867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Rechts- &amp; Wohnmodell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A5672-3590-4B02-A509-1228C022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EE0C7-2777-4FFD-B157-CBA9DC5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5EFC7-29EE-4FED-B5BC-7FA2FB09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Marke &amp;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423C6F-8A3F-44BF-86A6-9BD1DE67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0D41A-B785-45C8-89E3-2CA4115C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A86912-6CB0-4A38-8B68-790E0B81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Datenschutz &amp;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48405F-B580-499A-A9BA-2A7221EE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1E9DC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C65DD-F604-40CF-9353-6D8F70C9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E299B7-0DE6-4848-B44F-D01DEA3A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Bezahlter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BC10F-FF1D-4D49-8BCA-466B5A4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14668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BF8F2"/>
          </a:solidFill>
          <a:ln xmlns:a="http://schemas.openxmlformats.org/drawingml/2006/main" w="9525">
            <a:solidFill>
              <a:srgbClr val="D5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385D4-9891-4D2D-A32D-D15306C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86175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C6B70"/>
                </a:solidFill>
              </a:defRPr>
            </a:pPr>
            <a:r>
              <a:rPr sz="825" b="1" i="0">
                <a:solidFill>
                  <a:srgbClr val="0C6B70"/>
                </a:solidFill>
              </a:rPr>
              <a:t>G4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47E5F6-5DA7-4312-BE2C-A777A0E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Cash &amp; Economics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533EC6-6AE5-4CF1-B415-293B4E65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89889-13D5-404E-A4F5-CBDF0F2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67785"/>
                </a:solidFill>
              </a:defRPr>
            </a:pPr>
            <a:r>
              <a:rPr sz="675" b="0" i="0">
                <a:solidFill>
                  <a:srgbClr val="667785"/>
                </a:solidFill>
              </a:rPr>
              <a:t>Status: interne Strategiegrundlage; externe Marktfreigaben bleiben projekt- und fachprüfungsabhängig.</a:t>
            </a:r>
          </a:p>
        </p:txBody>
      </p:sp>
    </p:spTree>
    <p:extLst>
      <p:ext uri="{BB962C8B-B14F-4D97-AF65-F5344CB8AC3E}">
        <p14:creationId xmlns:p14="http://schemas.microsoft.com/office/powerpoint/2010/main" val="1085081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1D61A0-A642-4683-A69E-E0664017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1A07C-4B49-4E38-8599-F40F9AC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F2B0B-4ACE-4E8F-856E-28E3F91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E89F-540D-4410-B635-078671E4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16D7C-49F0-4ED2-8996-994DDD62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DIE NÄCHSTEN NACHWEISE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42201-7F1F-4086-B2CA-C2746BF0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ED91C-A84A-41C1-91DE-1C96F72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FFFFFF"/>
                </a:solidFill>
              </a:defRPr>
            </a:pPr>
            <a:r>
              <a:rPr sz="2850" b="1" i="0">
                <a:solidFill>
                  <a:srgbClr val="FFFFFF"/>
                </a:solidFill>
              </a:rPr>
              <a:t>Die ersten 90 Tage messen Wahrheit – nicht Aufmerksamkeit.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C7315-2195-4568-BB4B-4F30BD35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D9E5E5"/>
                </a:solidFill>
              </a:defRPr>
            </a:pPr>
            <a:r>
              <a:rPr sz="1425" b="0" i="0">
                <a:solidFill>
                  <a:srgbClr val="D9E5E5"/>
                </a:solidFill>
              </a:rPr>
              <a:t>Für ein späteres Investmentgespräch zählen konkrete Belege, nicht eine lange Liste möglicher Optionen.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0880-6479-46A6-818D-258D147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31FCB-5EA6-4257-B9F7-D317D603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EE07-EB93-49C7-82F9-5B02235F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unterschriebener Scope und Anzahlung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12748-26EC-4E3E-B601-81B643C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DCD31-45BF-439C-8500-44FB61B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B0F689-A855-46C4-95C0-115E3DDF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Abnahme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2DF90-D614-4B1C-BC5B-EE94B43D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Zeit, Kosten, Qualität, Kundennutzen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C11F8D-1EF7-4D19-A7F0-11CDDD17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879A8-A8B6-4CA8-A030-92BA3148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2E1A7-CA45-41CF-B1F4-288BFB8C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Wiederholung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BEF96-29AF-4C3B-AE84-6B543803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zweiter Auftrag oder Office-Retainer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49E8D-A7F4-48F9-8DEA-A4D6EFA3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E5E451-58BC-4BF4-8EAF-D550CFF8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67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1E9DC"/>
                </a:solidFill>
              </a:defRPr>
            </a:pPr>
            <a:r>
              <a:rPr sz="900" b="1" i="0">
                <a:solidFill>
                  <a:srgbClr val="F1E9D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FB14E-0146-4B1D-AF5C-4CCE65C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Kapitalpfad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54A46-3CC2-4907-8947-870045B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CFDADA"/>
                </a:solidFill>
              </a:defRPr>
            </a:pPr>
            <a:r>
              <a:rPr sz="1050" b="0" i="0">
                <a:solidFill>
                  <a:srgbClr val="CFDADA"/>
                </a:solidFill>
              </a:rPr>
              <a:t>geprüfter Cash- und Asset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AEC06-F966-45F2-BE00-C37AD06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E6138-FD02-4339-8FB4-38E9B8E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Die Reihenfolge ist verbindlich: liefern, messen, standardisieren, erst dann kapitalisieren.</a:t>
            </a:r>
          </a:p>
        </p:txBody>
      </p:sp>
    </p:spTree>
    <p:extLst>
      <p:ext uri="{BB962C8B-B14F-4D97-AF65-F5344CB8AC3E}">
        <p14:creationId xmlns:p14="http://schemas.microsoft.com/office/powerpoint/2010/main" val="882658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BB6634-FA89-4A12-AE02-9845EA90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AMAVIO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319F3-3102-4B88-839E-AA18A887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1E9DC"/>
                </a:solidFill>
              </a:defRPr>
            </a:pPr>
            <a:r>
              <a:rPr sz="750" b="1" i="0">
                <a:solidFill>
                  <a:srgbClr val="F1E9DC"/>
                </a:solidFill>
              </a:rPr>
              <a:t>LIVING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D3949-05EE-47FF-8490-882B8253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62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D7E4E4"/>
                </a:solidFill>
              </a:defRPr>
            </a:pPr>
            <a:r>
              <a:rPr sz="750" b="1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4E262-0A27-4271-828D-6E2DC17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6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 i="0">
                <a:solidFill>
                  <a:srgbClr val="D7E4E4"/>
                </a:solidFill>
              </a:defRPr>
            </a:pPr>
            <a:r>
              <a:rPr sz="750" b="0" i="0">
                <a:solidFill>
                  <a:srgbClr val="D7E4E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4837C-3DB3-412B-BC8F-D8F77D8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38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Workforce Housing</a:t>
            </a:r>
          </a:p>
          <a:p xmlns:a="http://schemas.openxmlformats.org/drawingml/2006/main">
            <a:pPr algn="l">
              <a:buNone/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ist kein Nebenprozess.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8C91B-0FAD-4810-9990-7BBC146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334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1E9DC"/>
                </a:solidFill>
              </a:defRPr>
            </a:pPr>
            <a:r>
              <a:rPr sz="1875" b="1" i="0">
                <a:solidFill>
                  <a:srgbClr val="F1E9DC"/>
                </a:solidFill>
              </a:rPr>
              <a:t>Entscheidend ist, ob Arbeitgeber den Arbeitsstart ohne neue interne Abteilung organisieren können.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B55D1-4728-4789-9E0F-4D00674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0E462-CD4E-455B-A9B0-D7092E2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AMAVIO Living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3922-FF4E-47E6-82F3-67523DF2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D7E4E4"/>
                </a:solidFill>
              </a:defRPr>
            </a:pPr>
            <a:r>
              <a:rPr sz="1125" b="0" i="0">
                <a:solidFill>
                  <a:srgbClr val="D7E4E4"/>
                </a:solidFill>
              </a:rPr>
              <a:t>Workforce Housing &amp;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BA6DE-6781-4F13-B882-C8EFA283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7FBAF-A3EC-4406-B696-8C43C107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590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B6C6C8"/>
                </a:solidFill>
              </a:defRPr>
            </a:pPr>
            <a:r>
              <a:rPr sz="675" b="0" i="0">
                <a:solidFill>
                  <a:srgbClr val="B6C6C8"/>
                </a:solidFill>
              </a:rPr>
              <a:t>Investor Readiness · Pre-Pilot · keine Anlage- oder Finanzierungsaufforderung</a:t>
            </a:r>
          </a:p>
        </p:txBody>
      </p:sp>
    </p:spTree>
    <p:extLst>
      <p:ext uri="{BB962C8B-B14F-4D97-AF65-F5344CB8AC3E}">
        <p14:creationId xmlns:p14="http://schemas.microsoft.com/office/powerpoint/2010/main" val="482983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2026-07-28T07:55:16.0150000Z</dcterms:created>
  <dcterms:modified xsi:type="dcterms:W3CDTF">2026-07-28T07:55:16.0150000Z</dcterms:modified>
</coreProperties>
</file>