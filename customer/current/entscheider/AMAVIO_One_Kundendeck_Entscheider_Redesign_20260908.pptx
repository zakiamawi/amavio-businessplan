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F0E7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FD7C0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B7C4C0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B7C4C0"/>
                </a:solidFill>
                <a:latin typeface="Aptos"/>
              </a:rPr>
              <a:t>01/13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52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FD7C0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0E7"/>
                </a:solidFill>
                <a:latin typeface="Aptos"/>
              </a:rPr>
              <a:t>Die Strecke nach der Zusage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2D0CB"/>
                </a:solidFill>
                <a:latin typeface="Aptos"/>
              </a:rPr>
              <a:t>AMAVIO One führt die Arbeitgeberfunktion zwischen Recruiting-Zusage und stabilem Start.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297680"/>
            <a:ext cx="9921240" cy="15240"/>
          </a:xfrm>
          <a:prstGeom prst="rect">
            <a:avLst/>
          </a:prstGeom>
          <a:solidFill>
            <a:srgbClr val="6D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422452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4622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Zusage</a:t>
            </a:r>
          </a:p>
        </p:txBody>
      </p:sp>
      <p:sp>
        <p:nvSpPr>
          <p:cNvPr id="13" name="Oval 12"/>
          <p:cNvSpPr/>
          <p:nvPr/>
        </p:nvSpPr>
        <p:spPr>
          <a:xfrm>
            <a:off x="4194048" y="42245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4280" y="44622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Ankunft</a:t>
            </a:r>
          </a:p>
        </p:txBody>
      </p:sp>
      <p:sp>
        <p:nvSpPr>
          <p:cNvPr id="15" name="Oval 14"/>
          <p:cNvSpPr/>
          <p:nvPr/>
        </p:nvSpPr>
        <p:spPr>
          <a:xfrm>
            <a:off x="7501128" y="42245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44622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erste Wochen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42245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44622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stabiler 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02/13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Warum diese Phase teuer wirkt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Wenn niemand die Gesamtstrecke führt, entstehen kleine Kosten an vielen Stellen.</a:t>
            </a:r>
          </a:p>
        </p:txBody>
      </p:sp>
      <p:sp>
        <p:nvSpPr>
          <p:cNvPr id="10" name="Oval 9"/>
          <p:cNvSpPr/>
          <p:nvPr/>
        </p:nvSpPr>
        <p:spPr>
          <a:xfrm>
            <a:off x="736092" y="3287268"/>
            <a:ext cx="64008" cy="64008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46120"/>
            <a:ext cx="5577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HR: Unterlagen, Starttermin, Rückfragen</a:t>
            </a:r>
          </a:p>
        </p:txBody>
      </p:sp>
      <p:sp>
        <p:nvSpPr>
          <p:cNvPr id="12" name="Oval 11"/>
          <p:cNvSpPr/>
          <p:nvPr/>
        </p:nvSpPr>
        <p:spPr>
          <a:xfrm>
            <a:off x="736092" y="3726179"/>
            <a:ext cx="64008" cy="64008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85031"/>
            <a:ext cx="5577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Standort: Dienstplan, Einarbeitung, Ansprechpartner</a:t>
            </a:r>
          </a:p>
        </p:txBody>
      </p:sp>
      <p:sp>
        <p:nvSpPr>
          <p:cNvPr id="14" name="Oval 13"/>
          <p:cNvSpPr/>
          <p:nvPr/>
        </p:nvSpPr>
        <p:spPr>
          <a:xfrm>
            <a:off x="736092" y="4165091"/>
            <a:ext cx="64008" cy="64008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23944"/>
            <a:ext cx="5577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Externe Beiträge: Wohnen, Anreise, Alltag, Freigaben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521208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51389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766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HR</a:t>
            </a:r>
          </a:p>
        </p:txBody>
      </p:sp>
      <p:sp>
        <p:nvSpPr>
          <p:cNvPr id="19" name="Oval 18"/>
          <p:cNvSpPr/>
          <p:nvPr/>
        </p:nvSpPr>
        <p:spPr>
          <a:xfrm>
            <a:off x="4194048" y="513892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4280" y="53766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Standort</a:t>
            </a:r>
          </a:p>
        </p:txBody>
      </p:sp>
      <p:sp>
        <p:nvSpPr>
          <p:cNvPr id="21" name="Oval 20"/>
          <p:cNvSpPr/>
          <p:nvPr/>
        </p:nvSpPr>
        <p:spPr>
          <a:xfrm>
            <a:off x="7501128" y="51389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1360" y="53766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Partner</a:t>
            </a:r>
          </a:p>
        </p:txBody>
      </p:sp>
      <p:sp>
        <p:nvSpPr>
          <p:cNvPr id="23" name="Oval 22"/>
          <p:cNvSpPr/>
          <p:nvPr/>
        </p:nvSpPr>
        <p:spPr>
          <a:xfrm>
            <a:off x="10808208" y="51389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53766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Fachkraft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03/13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02A33"/>
                </a:solidFill>
                <a:latin typeface="Aptos"/>
              </a:rPr>
              <a:t>Welche Größen den Unterschied machen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Statusbild, Rollenbild, Risikobild, Freigaben und Lernpunkt halten die Strecke zusammen.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77639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904487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Statusbild</a:t>
            </a:r>
          </a:p>
        </p:txBody>
      </p:sp>
      <p:sp>
        <p:nvSpPr>
          <p:cNvPr id="13" name="Oval 12"/>
          <p:cNvSpPr/>
          <p:nvPr/>
        </p:nvSpPr>
        <p:spPr>
          <a:xfrm>
            <a:off x="336727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751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Rollenbild</a:t>
            </a:r>
          </a:p>
        </p:txBody>
      </p:sp>
      <p:sp>
        <p:nvSpPr>
          <p:cNvPr id="15" name="Oval 14"/>
          <p:cNvSpPr/>
          <p:nvPr/>
        </p:nvSpPr>
        <p:spPr>
          <a:xfrm>
            <a:off x="584758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782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Risikobild</a:t>
            </a:r>
          </a:p>
        </p:txBody>
      </p:sp>
      <p:sp>
        <p:nvSpPr>
          <p:cNvPr id="17" name="Oval 16"/>
          <p:cNvSpPr/>
          <p:nvPr/>
        </p:nvSpPr>
        <p:spPr>
          <a:xfrm>
            <a:off x="832789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8129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Freigaben</a:t>
            </a:r>
          </a:p>
        </p:txBody>
      </p:sp>
      <p:sp>
        <p:nvSpPr>
          <p:cNvPr id="19" name="Oval 18"/>
          <p:cNvSpPr/>
          <p:nvPr/>
        </p:nvSpPr>
        <p:spPr>
          <a:xfrm>
            <a:off x="1080820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Lernpunkt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02A33"/>
                </a:solidFill>
                <a:latin typeface="Aptos"/>
              </a:rPr>
              <a:t>Die Arbeitgeberfrage ist nicht nur: Was kommt an? Sondern: Wer kann den Start steuern?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04/13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Managed Arrival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Heute verkaufbar: persönliche Prozessführung mit klarer Status- und Freigabelogik.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3192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85876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Readiness</a:t>
            </a:r>
          </a:p>
        </p:txBody>
      </p:sp>
      <p:sp>
        <p:nvSpPr>
          <p:cNvPr id="13" name="Oval 12"/>
          <p:cNvSpPr/>
          <p:nvPr/>
        </p:nvSpPr>
        <p:spPr>
          <a:xfrm>
            <a:off x="584758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782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Pilot</a:t>
            </a:r>
          </a:p>
        </p:txBody>
      </p:sp>
      <p:sp>
        <p:nvSpPr>
          <p:cNvPr id="15" name="Oval 14"/>
          <p:cNvSpPr/>
          <p:nvPr/>
        </p:nvSpPr>
        <p:spPr>
          <a:xfrm>
            <a:off x="1080820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Monitoring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" y="461314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572000"/>
            <a:ext cx="5029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Managed Arrival Service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" y="502462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983480"/>
            <a:ext cx="5029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Status, Rollen, Freigaben und Partnerpfade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72000"/>
            <a:ext cx="44805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Das Arrival Control Center ist als Demo und Arbeitsansicht einsehbar.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05/13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02A33"/>
                </a:solidFill>
                <a:latin typeface="Aptos"/>
              </a:rPr>
              <a:t>Wie ein Mandat vor dem Start arbeitet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Zuerst Struktur, dann Umfang. Zuerst Zuständigkeit, dann Zusatzleistung.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77639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Bedarf</a:t>
            </a:r>
          </a:p>
        </p:txBody>
      </p:sp>
      <p:sp>
        <p:nvSpPr>
          <p:cNvPr id="13" name="Oval 12"/>
          <p:cNvSpPr/>
          <p:nvPr/>
        </p:nvSpPr>
        <p:spPr>
          <a:xfrm>
            <a:off x="336727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751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Analyse</a:t>
            </a:r>
          </a:p>
        </p:txBody>
      </p:sp>
      <p:sp>
        <p:nvSpPr>
          <p:cNvPr id="15" name="Oval 14"/>
          <p:cNvSpPr/>
          <p:nvPr/>
        </p:nvSpPr>
        <p:spPr>
          <a:xfrm>
            <a:off x="5847588" y="3904487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782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Freigabe</a:t>
            </a:r>
          </a:p>
        </p:txBody>
      </p:sp>
      <p:sp>
        <p:nvSpPr>
          <p:cNvPr id="17" name="Oval 16"/>
          <p:cNvSpPr/>
          <p:nvPr/>
        </p:nvSpPr>
        <p:spPr>
          <a:xfrm>
            <a:off x="832789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8129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Setup</a:t>
            </a:r>
          </a:p>
        </p:txBody>
      </p:sp>
      <p:sp>
        <p:nvSpPr>
          <p:cNvPr id="19" name="Oval 18"/>
          <p:cNvSpPr/>
          <p:nvPr/>
        </p:nvSpPr>
        <p:spPr>
          <a:xfrm>
            <a:off x="10808208" y="3904487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414223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0332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02A33"/>
                </a:solidFill>
                <a:latin typeface="Aptos"/>
              </a:rPr>
              <a:t>Scope, Zeitraum, Personenkreis, Rollen, Fremdkosten und Eskalationsweg werden gemeinsam geklärt.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06/13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Die Strecke A bis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Bedarf, Wohnraum &amp; Risiken, Setup, Move-in Ready, Arrival Week, 30/60/90, Transfer.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88620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8130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A Bedarf</a:t>
            </a:r>
          </a:p>
        </p:txBody>
      </p:sp>
      <p:sp>
        <p:nvSpPr>
          <p:cNvPr id="13" name="Oval 12"/>
          <p:cNvSpPr/>
          <p:nvPr/>
        </p:nvSpPr>
        <p:spPr>
          <a:xfrm>
            <a:off x="2540508" y="38130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0740" y="405079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B Risiken</a:t>
            </a:r>
          </a:p>
        </p:txBody>
      </p:sp>
      <p:sp>
        <p:nvSpPr>
          <p:cNvPr id="15" name="Oval 14"/>
          <p:cNvSpPr/>
          <p:nvPr/>
        </p:nvSpPr>
        <p:spPr>
          <a:xfrm>
            <a:off x="4194048" y="38130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4280" y="405079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C Setup</a:t>
            </a:r>
          </a:p>
        </p:txBody>
      </p:sp>
      <p:sp>
        <p:nvSpPr>
          <p:cNvPr id="17" name="Oval 16"/>
          <p:cNvSpPr/>
          <p:nvPr/>
        </p:nvSpPr>
        <p:spPr>
          <a:xfrm>
            <a:off x="5847588" y="381304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7820" y="405079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D Ready</a:t>
            </a:r>
          </a:p>
        </p:txBody>
      </p:sp>
      <p:sp>
        <p:nvSpPr>
          <p:cNvPr id="19" name="Oval 18"/>
          <p:cNvSpPr/>
          <p:nvPr/>
        </p:nvSpPr>
        <p:spPr>
          <a:xfrm>
            <a:off x="7501128" y="38130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1360" y="405079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E Week</a:t>
            </a:r>
          </a:p>
        </p:txBody>
      </p:sp>
      <p:sp>
        <p:nvSpPr>
          <p:cNvPr id="21" name="Oval 20"/>
          <p:cNvSpPr/>
          <p:nvPr/>
        </p:nvSpPr>
        <p:spPr>
          <a:xfrm>
            <a:off x="9154668" y="38130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4900" y="405079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F 30/60/90</a:t>
            </a:r>
          </a:p>
        </p:txBody>
      </p:sp>
      <p:sp>
        <p:nvSpPr>
          <p:cNvPr id="23" name="Oval 22"/>
          <p:cNvSpPr/>
          <p:nvPr/>
        </p:nvSpPr>
        <p:spPr>
          <a:xfrm>
            <a:off x="10808208" y="381304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405079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G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10241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02A33"/>
                </a:solidFill>
                <a:latin typeface="Aptos"/>
              </a:rPr>
              <a:t>Eine wiederholbare Strecke ist für Arbeitgeber wertvoller als eine einmalige Heldentat.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07/13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Einstieg, Pilot und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Drei Preisanker, drei unterschiedliche Kaufentscheidungen.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3621024"/>
            <a:ext cx="164592" cy="164592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3200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A33"/>
                </a:solidFill>
                <a:latin typeface="Aptos"/>
              </a:rPr>
              <a:t>Standort-Readiness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3200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2636A"/>
                </a:solidFill>
                <a:latin typeface="Aptos"/>
              </a:rPr>
              <a:t>ab 5.900 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297680"/>
            <a:ext cx="3108960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8264" y="3621024"/>
            <a:ext cx="164592" cy="164592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3246120"/>
            <a:ext cx="3200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A33"/>
                </a:solidFill>
                <a:latin typeface="Aptos"/>
              </a:rPr>
              <a:t>Arrival Control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794760"/>
            <a:ext cx="3200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2636A"/>
                </a:solidFill>
                <a:latin typeface="Aptos"/>
              </a:rPr>
              <a:t>ab 18.500 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4297680"/>
            <a:ext cx="310895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47304" y="3621024"/>
            <a:ext cx="164592" cy="164592"/>
          </a:xfrm>
          <a:prstGeom prst="ellipse">
            <a:avLst/>
          </a:prstGeom>
          <a:solidFill>
            <a:srgbClr val="E2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3200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2A33"/>
                </a:solidFill>
                <a:latin typeface="Aptos"/>
              </a:rPr>
              <a:t>Stabilisierungs-Monitoring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794760"/>
            <a:ext cx="3200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2636A"/>
                </a:solidFill>
                <a:latin typeface="Aptos"/>
              </a:rPr>
              <a:t>ab 2.900 EUR / Monat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4297680"/>
            <a:ext cx="3108960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10149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2A33"/>
                </a:solidFill>
                <a:latin typeface="Aptos"/>
              </a:rPr>
              <a:t>Mehrkomplexität nach Scoping; 42.000 EUR ist kein Standardpreis. Fremdkosten separat.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08/13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Was AMAVIO bewusst nicht behauptet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Keine Vermittlung, keine regulierte Fachberatung, keine Garantie.</a:t>
            </a:r>
          </a:p>
        </p:txBody>
      </p:sp>
      <p:sp>
        <p:nvSpPr>
          <p:cNvPr id="10" name="Oval 9"/>
          <p:cNvSpPr/>
          <p:nvPr/>
        </p:nvSpPr>
        <p:spPr>
          <a:xfrm>
            <a:off x="736092" y="3150108"/>
            <a:ext cx="64008" cy="64008"/>
          </a:xfrm>
          <a:prstGeom prst="ellipse">
            <a:avLst/>
          </a:prstGeom>
          <a:solidFill>
            <a:srgbClr val="E2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10332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2A33"/>
                </a:solidFill>
                <a:latin typeface="Aptos"/>
              </a:rPr>
              <a:t>keine Personalvermittlung, keine Maklerleistung</a:t>
            </a:r>
          </a:p>
        </p:txBody>
      </p:sp>
      <p:sp>
        <p:nvSpPr>
          <p:cNvPr id="12" name="Oval 11"/>
          <p:cNvSpPr/>
          <p:nvPr/>
        </p:nvSpPr>
        <p:spPr>
          <a:xfrm>
            <a:off x="736092" y="3653028"/>
            <a:ext cx="64008" cy="64008"/>
          </a:xfrm>
          <a:prstGeom prst="ellipse">
            <a:avLst/>
          </a:prstGeom>
          <a:solidFill>
            <a:srgbClr val="E2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11880"/>
            <a:ext cx="10332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2A33"/>
                </a:solidFill>
                <a:latin typeface="Aptos"/>
              </a:rPr>
              <a:t>keine Rechts-, Steuer-, Visa-, Anerkennungs- oder Förderberatung</a:t>
            </a:r>
          </a:p>
        </p:txBody>
      </p:sp>
      <p:sp>
        <p:nvSpPr>
          <p:cNvPr id="14" name="Oval 13"/>
          <p:cNvSpPr/>
          <p:nvPr/>
        </p:nvSpPr>
        <p:spPr>
          <a:xfrm>
            <a:off x="736092" y="4155948"/>
            <a:ext cx="64008" cy="64008"/>
          </a:xfrm>
          <a:prstGeom prst="ellipse">
            <a:avLst/>
          </a:prstGeom>
          <a:solidFill>
            <a:srgbClr val="E2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14800"/>
            <a:ext cx="10332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2A33"/>
                </a:solidFill>
                <a:latin typeface="Aptos"/>
              </a:rPr>
              <a:t>keine Wohnraum-, Partner-, Bindungs- oder Erfolgsgarantie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530352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52303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6811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Leistung</a:t>
            </a:r>
          </a:p>
        </p:txBody>
      </p:sp>
      <p:sp>
        <p:nvSpPr>
          <p:cNvPr id="19" name="Oval 18"/>
          <p:cNvSpPr/>
          <p:nvPr/>
        </p:nvSpPr>
        <p:spPr>
          <a:xfrm>
            <a:off x="5847588" y="523036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7820" y="546811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Produktstatus</a:t>
            </a:r>
          </a:p>
        </p:txBody>
      </p:sp>
      <p:sp>
        <p:nvSpPr>
          <p:cNvPr id="21" name="Oval 20"/>
          <p:cNvSpPr/>
          <p:nvPr/>
        </p:nvSpPr>
        <p:spPr>
          <a:xfrm>
            <a:off x="10808208" y="52303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546811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Grenze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F0E7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FD7C0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B7C4C0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B7C4C0"/>
                </a:solidFill>
                <a:latin typeface="Aptos"/>
              </a:rPr>
              <a:t>09/13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52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FD7C0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0E7"/>
                </a:solidFill>
                <a:latin typeface="Aptos"/>
              </a:rPr>
              <a:t>Gründererfahrung vor AMAVIO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2D0CB"/>
                </a:solidFill>
                <a:latin typeface="Aptos"/>
              </a:rPr>
              <a:t>Reale Vorerfahrung erklärt die Methodik; sie ist kein AMAVIO-Umsatzbeleg.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30352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0E7"/>
                </a:solidFill>
                <a:latin typeface="Aptos"/>
              </a:rPr>
              <a:t>Rund 40 internationale Pflegefachkräfte, zehn Standorte, Mitte Januar bis April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54680"/>
            <a:ext cx="45720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0E7"/>
                </a:solidFill>
                <a:latin typeface="Aptos"/>
              </a:rPr>
              <a:t>Persönliche Vorerfahrung vor AMAVIO. Kein AMAVIO-Kundenbeleg.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212080"/>
            <a:ext cx="9921240" cy="15240"/>
          </a:xfrm>
          <a:prstGeom prst="rect">
            <a:avLst/>
          </a:prstGeom>
          <a:solidFill>
            <a:srgbClr val="6D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513892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766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Vorerfahrung</a:t>
            </a:r>
          </a:p>
        </p:txBody>
      </p:sp>
      <p:sp>
        <p:nvSpPr>
          <p:cNvPr id="15" name="Oval 14"/>
          <p:cNvSpPr/>
          <p:nvPr/>
        </p:nvSpPr>
        <p:spPr>
          <a:xfrm>
            <a:off x="5847588" y="51389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7820" y="53766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Methode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513892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537667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5F0E7"/>
                </a:solidFill>
                <a:latin typeface="Aptos"/>
              </a:rPr>
              <a:t>Pilot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10/13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Heute Service, morgen Plattform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Control Center als Demo/Arbeitsansicht; Plattform und App als Entwicklungspfad.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3192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85876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Service heute</a:t>
            </a:r>
          </a:p>
        </p:txBody>
      </p:sp>
      <p:sp>
        <p:nvSpPr>
          <p:cNvPr id="13" name="Oval 12"/>
          <p:cNvSpPr/>
          <p:nvPr/>
        </p:nvSpPr>
        <p:spPr>
          <a:xfrm>
            <a:off x="419404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428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Demo</a:t>
            </a:r>
          </a:p>
        </p:txBody>
      </p:sp>
      <p:sp>
        <p:nvSpPr>
          <p:cNvPr id="15" name="Oval 14"/>
          <p:cNvSpPr/>
          <p:nvPr/>
        </p:nvSpPr>
        <p:spPr>
          <a:xfrm>
            <a:off x="750112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Pilot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Roadmap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" y="465886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617720"/>
            <a:ext cx="5029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Service-led today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" y="507034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29200"/>
            <a:ext cx="5029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Control Center als Arbeitsansicht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17720"/>
            <a:ext cx="4572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Plattform/App wird entlang realer Pilotanforderungen entwickelt.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11/13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Partner und Fremdkosten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Partnerpfade werden sichtbar, getrennt und vor Umsetzung freigegeben.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3192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Partnerpfad</a:t>
            </a:r>
          </a:p>
        </p:txBody>
      </p:sp>
      <p:sp>
        <p:nvSpPr>
          <p:cNvPr id="13" name="Oval 12"/>
          <p:cNvSpPr/>
          <p:nvPr/>
        </p:nvSpPr>
        <p:spPr>
          <a:xfrm>
            <a:off x="419404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428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Drittkosten</a:t>
            </a:r>
          </a:p>
        </p:txBody>
      </p:sp>
      <p:sp>
        <p:nvSpPr>
          <p:cNvPr id="15" name="Oval 14"/>
          <p:cNvSpPr/>
          <p:nvPr/>
        </p:nvSpPr>
        <p:spPr>
          <a:xfrm>
            <a:off x="7501128" y="385876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Freigabe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101498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2A33"/>
                </a:solidFill>
                <a:latin typeface="Aptos"/>
              </a:rPr>
              <a:t>Mieten, Kautionen, Reisen, Sprache, Behörden- und Fachleistungen sind nicht automatisch im AMAVIO-Honorar enthalten.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12/13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Wie ein erstes Mandat startet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Briefing, Scope, Kickoff, Delivery und Transfer mit klarer Zuständigkeit.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3192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Briefing</a:t>
            </a:r>
          </a:p>
        </p:txBody>
      </p:sp>
      <p:sp>
        <p:nvSpPr>
          <p:cNvPr id="13" name="Oval 12"/>
          <p:cNvSpPr/>
          <p:nvPr/>
        </p:nvSpPr>
        <p:spPr>
          <a:xfrm>
            <a:off x="3367278" y="385876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751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Scope</a:t>
            </a:r>
          </a:p>
        </p:txBody>
      </p:sp>
      <p:sp>
        <p:nvSpPr>
          <p:cNvPr id="15" name="Oval 14"/>
          <p:cNvSpPr/>
          <p:nvPr/>
        </p:nvSpPr>
        <p:spPr>
          <a:xfrm>
            <a:off x="584758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782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Kickoff</a:t>
            </a:r>
          </a:p>
        </p:txBody>
      </p:sp>
      <p:sp>
        <p:nvSpPr>
          <p:cNvPr id="17" name="Oval 16"/>
          <p:cNvSpPr/>
          <p:nvPr/>
        </p:nvSpPr>
        <p:spPr>
          <a:xfrm>
            <a:off x="832789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8129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Delivery</a:t>
            </a:r>
          </a:p>
        </p:txBody>
      </p:sp>
      <p:sp>
        <p:nvSpPr>
          <p:cNvPr id="19" name="Oval 18"/>
          <p:cNvSpPr/>
          <p:nvPr/>
        </p:nvSpPr>
        <p:spPr>
          <a:xfrm>
            <a:off x="1080820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Transfer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" y="461314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72000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Startanlass und Zuständigkeiten klären</a:t>
            </a:r>
          </a:p>
        </p:txBody>
      </p:sp>
      <p:sp>
        <p:nvSpPr>
          <p:cNvPr id="23" name="Oval 22"/>
          <p:cNvSpPr/>
          <p:nvPr/>
        </p:nvSpPr>
        <p:spPr>
          <a:xfrm>
            <a:off x="736092" y="502462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983480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Mandat mit dokumentierter Statusführung starten</a:t>
            </a:r>
          </a:p>
        </p:txBody>
      </p:sp>
      <p:sp>
        <p:nvSpPr>
          <p:cNvPr id="25" name="Oval 24"/>
          <p:cNvSpPr/>
          <p:nvPr/>
        </p:nvSpPr>
        <p:spPr>
          <a:xfrm>
            <a:off x="736092" y="5436108"/>
            <a:ext cx="64008" cy="64008"/>
          </a:xfrm>
          <a:prstGeom prst="ellipse">
            <a:avLst/>
          </a:prstGeom>
          <a:solidFill>
            <a:srgbClr val="12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394960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2A33"/>
                </a:solidFill>
                <a:latin typeface="Aptos"/>
              </a:rPr>
              <a:t>Lernpunkte für den nächsten Start sichern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2A33"/>
                </a:solidFill>
                <a:latin typeface="Aptos"/>
              </a:rPr>
              <a:t>AMAVIO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65176"/>
            <a:ext cx="320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2636A"/>
                </a:solidFill>
                <a:latin typeface="Aptos"/>
              </a:rPr>
              <a:t>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2636A"/>
                </a:solidFill>
                <a:latin typeface="Aptos"/>
              </a:rPr>
              <a:t>AMAVIO One | Arbeitgeber-Gespräch | 08.09.2026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5029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12636A"/>
                </a:solidFill>
                <a:latin typeface="Aptos"/>
              </a:rPr>
              <a:t>13/13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247119" cy="889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5720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2636A"/>
                </a:solidFill>
                <a:latin typeface="Aptos"/>
              </a:rPr>
              <a:t>AMAVIO ONE | ARBEITGEBERFUNKTION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7772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2A33"/>
                </a:solidFill>
                <a:latin typeface="Aptos"/>
              </a:rPr>
              <a:t>Vom Erstkontakt zur Entscheidung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56692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2636A"/>
                </a:solidFill>
                <a:latin typeface="Aptos"/>
              </a:rPr>
              <a:t>30 Minuten Standortgespräch, danach Readiness, Pilot oder Monitoring.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31920"/>
            <a:ext cx="9921240" cy="1524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858768"/>
            <a:ext cx="146304" cy="146304"/>
          </a:xfrm>
          <a:prstGeom prst="ellipse">
            <a:avLst/>
          </a:prstGeom>
          <a:solidFill>
            <a:srgbClr val="6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Standortgespräch</a:t>
            </a:r>
          </a:p>
        </p:txBody>
      </p:sp>
      <p:sp>
        <p:nvSpPr>
          <p:cNvPr id="13" name="Oval 12"/>
          <p:cNvSpPr/>
          <p:nvPr/>
        </p:nvSpPr>
        <p:spPr>
          <a:xfrm>
            <a:off x="419404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428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Readiness</a:t>
            </a:r>
          </a:p>
        </p:txBody>
      </p:sp>
      <p:sp>
        <p:nvSpPr>
          <p:cNvPr id="15" name="Oval 14"/>
          <p:cNvSpPr/>
          <p:nvPr/>
        </p:nvSpPr>
        <p:spPr>
          <a:xfrm>
            <a:off x="750112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Pilot</a:t>
            </a:r>
          </a:p>
        </p:txBody>
      </p:sp>
      <p:sp>
        <p:nvSpPr>
          <p:cNvPr id="17" name="Oval 16"/>
          <p:cNvSpPr/>
          <p:nvPr/>
        </p:nvSpPr>
        <p:spPr>
          <a:xfrm>
            <a:off x="10808208" y="3858768"/>
            <a:ext cx="146304" cy="146304"/>
          </a:xfrm>
          <a:prstGeom prst="ellipse">
            <a:avLst/>
          </a:prstGeom>
          <a:solidFill>
            <a:srgbClr val="B7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4096511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02A33"/>
                </a:solidFill>
                <a:latin typeface="Aptos"/>
              </a:rP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1498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02A33"/>
                </a:solidFill>
                <a:latin typeface="Aptos"/>
              </a:rPr>
              <a:t>30 Minuten mit Startanlass, Standort, Kohorte und Zuständigkeiten. Danach folgt ein sauberer Mandatsvorschlag.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