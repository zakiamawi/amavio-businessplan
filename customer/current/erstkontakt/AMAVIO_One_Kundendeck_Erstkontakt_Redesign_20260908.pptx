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F0E7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FD7C0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B7C4C0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B7C4C0"/>
                </a:solidFill>
                <a:latin typeface="Aptos"/>
              </a:rPr>
              <a:t>01/9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52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FD7C0"/>
                </a:solidFill>
                <a:latin typeface="Aptos"/>
              </a:rPr>
              <a:t>ARBEITGEBERSEITIGES ARRIVAL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0E7"/>
                </a:solidFill>
                <a:latin typeface="Aptos"/>
              </a:rPr>
              <a:t>Die Strecke nach der Zusage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4663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2D0CB"/>
                </a:solidFill>
                <a:latin typeface="Aptos"/>
              </a:rPr>
              <a:t>AMAVIO One führt die Arbeitgeberfunktion zwischen Recruiting-Zusage und stabilem Start.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20240"/>
            <a:ext cx="9921240" cy="15240"/>
          </a:xfrm>
          <a:prstGeom prst="rect">
            <a:avLst/>
          </a:prstGeom>
          <a:solidFill>
            <a:srgbClr val="6D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184708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Zusage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184708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208483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Ankunft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184708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208483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erste Wochen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184708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208483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stabiler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4754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FD7C0"/>
                </a:solidFill>
                <a:latin typeface="Aptos"/>
              </a:rPr>
              <a:t>Service heute. Systematisch weiterentwickelt.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02/9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AUSGANGSLAGE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Wo nach der Zusage Reibung entsteht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4937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2A33"/>
                </a:solidFill>
                <a:latin typeface="Aptos"/>
              </a:rPr>
              <a:t>Nicht ein einzelnes Problem, sondern viele Übergaben laufen gleichzeitig.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34340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42702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HR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427024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50799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Standort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42702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50799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externe Beiträge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42702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50799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Fachkraft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" y="3104388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063240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Unterlagen, Starttermin und Rückfragen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" y="3488436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447288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Dienstplan, Einarbeitung und Ansprechpartner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" y="3872484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831336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Wohnen, Anreise, Alltag und Freigaben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ARBEITGEBERBEDARF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Was Arbeitgeber in dieser Phase steuern müssen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58521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636A"/>
                </a:solidFill>
                <a:latin typeface="Aptos"/>
              </a:rPr>
              <a:t>Eine gemeinsame Sicht macht aus Einzelthemen eine führbare Strecke.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25196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417880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165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Statusbild</a:t>
            </a:r>
          </a:p>
        </p:txBody>
      </p:sp>
      <p:sp>
        <p:nvSpPr>
          <p:cNvPr id="13" name="Oval 12"/>
          <p:cNvSpPr/>
          <p:nvPr/>
        </p:nvSpPr>
        <p:spPr>
          <a:xfrm>
            <a:off x="3367278" y="417880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7510" y="44165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Rollenbild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417880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44165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Risikobild</a:t>
            </a:r>
          </a:p>
        </p:txBody>
      </p:sp>
      <p:sp>
        <p:nvSpPr>
          <p:cNvPr id="17" name="Oval 16"/>
          <p:cNvSpPr/>
          <p:nvPr/>
        </p:nvSpPr>
        <p:spPr>
          <a:xfrm>
            <a:off x="8327898" y="417880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8129" y="44165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Freigaben</a:t>
            </a:r>
          </a:p>
        </p:txBody>
      </p:sp>
      <p:sp>
        <p:nvSpPr>
          <p:cNvPr id="19" name="Oval 18"/>
          <p:cNvSpPr/>
          <p:nvPr/>
        </p:nvSpPr>
        <p:spPr>
          <a:xfrm>
            <a:off x="10808208" y="417880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4165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Lernpunkt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0600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02A33"/>
                </a:solidFill>
                <a:latin typeface="Aptos"/>
              </a:rPr>
              <a:t>Vor Ankunft sichtbar machen, was sonst erst im Starttag oder in der ersten Woche auffällt.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04/9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Managed Arrival Service als reale Leistung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12064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636A"/>
                </a:solidFill>
                <a:latin typeface="Aptos"/>
              </a:rPr>
              <a:t>Die digitale Ebene folgt dem realen Prozess, nicht umgekehrt.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904487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Readiness</a:t>
            </a:r>
          </a:p>
        </p:txBody>
      </p:sp>
      <p:sp>
        <p:nvSpPr>
          <p:cNvPr id="13" name="Oval 12"/>
          <p:cNvSpPr/>
          <p:nvPr/>
        </p:nvSpPr>
        <p:spPr>
          <a:xfrm>
            <a:off x="584758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782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Pilot</a:t>
            </a:r>
          </a:p>
        </p:txBody>
      </p:sp>
      <p:sp>
        <p:nvSpPr>
          <p:cNvPr id="15" name="Oval 14"/>
          <p:cNvSpPr/>
          <p:nvPr/>
        </p:nvSpPr>
        <p:spPr>
          <a:xfrm>
            <a:off x="1080820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" y="465886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17720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persönliche Prozessführung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" y="5042916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001768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Status, Rollen, Freigaben und Partnerpfade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457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2A33"/>
                </a:solidFill>
                <a:latin typeface="Aptos"/>
              </a:rPr>
              <a:t>Control Center: Demo und Arbeitsansicht. Plattform/App: Entwicklung und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05/9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KAUFLOGIK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Drei klare Einstiege statt einer unklaren Gesamtleistung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6400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636A"/>
                </a:solidFill>
                <a:latin typeface="Aptos"/>
              </a:rPr>
              <a:t>Die Preisanker bleiben als Einstieg formuliert und werden nach Scope geprüft.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712464"/>
            <a:ext cx="164592" cy="164592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2636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Standort-Readiness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5.900 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72000"/>
            <a:ext cx="3017520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2544" y="3712464"/>
            <a:ext cx="164592" cy="164592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8A5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Arrival Control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6052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18.500 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572000"/>
            <a:ext cx="30175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01583" y="3712464"/>
            <a:ext cx="164592" cy="164592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33756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2765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60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Stabilisierungs-Monitoring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6052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2.900 EUR / Monat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572000"/>
            <a:ext cx="3017520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2A33"/>
                </a:solidFill>
                <a:latin typeface="Aptos"/>
              </a:rPr>
              <a:t>Mehrkomplexität wird separat gescopt; Fremdkosten und Drittleistungen bleiben transparent.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06/9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GRENZEN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Was AMAVIO bewusst nicht behauptet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6400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2A33"/>
                </a:solidFill>
                <a:latin typeface="Aptos"/>
              </a:rPr>
              <a:t>Klarheit ist Teil der Leistung.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749039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6758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nicht vermitteln</a:t>
            </a:r>
          </a:p>
        </p:txBody>
      </p:sp>
      <p:sp>
        <p:nvSpPr>
          <p:cNvPr id="13" name="Oval 12"/>
          <p:cNvSpPr/>
          <p:nvPr/>
        </p:nvSpPr>
        <p:spPr>
          <a:xfrm>
            <a:off x="5847588" y="3675887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7820" y="39136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nicht beraten</a:t>
            </a:r>
          </a:p>
        </p:txBody>
      </p:sp>
      <p:sp>
        <p:nvSpPr>
          <p:cNvPr id="15" name="Oval 14"/>
          <p:cNvSpPr/>
          <p:nvPr/>
        </p:nvSpPr>
        <p:spPr>
          <a:xfrm>
            <a:off x="10808208" y="36758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39136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nicht garantieren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" y="443026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89120"/>
            <a:ext cx="10058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keine Personalvermittlung und keine Maklerleistung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" y="488746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846320"/>
            <a:ext cx="10058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keine Rechts-, Steuer-, Visa-, Anerkennungs- oder Förderberatung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" y="534466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303520"/>
            <a:ext cx="10058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keine Wohnraum-, Partner-, Bindungs- oder Erfolgsgarantie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F0E7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FD7C0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B7C4C0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B7C4C0"/>
                </a:solidFill>
                <a:latin typeface="Aptos"/>
              </a:rPr>
              <a:t>07/9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52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FD7C0"/>
                </a:solidFill>
                <a:latin typeface="Aptos"/>
              </a:rPr>
              <a:t>GLAUBWÜRDIGKEIT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0E7"/>
                </a:solidFill>
                <a:latin typeface="Aptos"/>
              </a:rPr>
              <a:t>Gründererfahrung vor AMAVIO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56692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2D0CB"/>
                </a:solidFill>
                <a:latin typeface="Aptos"/>
              </a:rPr>
              <a:t>Die Methodik baut auf realer Umsetzungsarbeit auf, nicht auf einer abstrakten Softwareidee.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512064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0E7"/>
                </a:solidFill>
                <a:latin typeface="Aptos"/>
              </a:rPr>
              <a:t>Rund 40 internationale Pflegefachkräfte, zehn Standorte, Mitte Januar bis April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46120"/>
            <a:ext cx="420624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0E7"/>
                </a:solidFill>
                <a:latin typeface="Aptos"/>
              </a:rPr>
              <a:t>Persönliche Vorerfahrung vor AMAVIO. Kein AMAVIO-Kundenbeleg und keine AMAVIO-Ergebnisgarantie.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74920"/>
            <a:ext cx="9921240" cy="15240"/>
          </a:xfrm>
          <a:prstGeom prst="rect">
            <a:avLst/>
          </a:prstGeom>
          <a:solidFill>
            <a:srgbClr val="6D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5001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395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Vorerfahrung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5001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52395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AMAVIO-Methode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5001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52395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08/9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NÄCHSTER SCHRITT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Vom Erstkontakt zum belastbaren Standortgespräch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9436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2A33"/>
                </a:solidFill>
                <a:latin typeface="Aptos"/>
              </a:rPr>
              <a:t>30 Minuten reichen für die erste Einordnung.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Startanlass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Standort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Kohorte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Zuständigkeiten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" y="475030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709160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Wir klären: Was startet wann?</a:t>
            </a:r>
          </a:p>
        </p:txBody>
      </p:sp>
      <p:sp>
        <p:nvSpPr>
          <p:cNvPr id="21" name="Oval 20"/>
          <p:cNvSpPr/>
          <p:nvPr/>
        </p:nvSpPr>
        <p:spPr>
          <a:xfrm>
            <a:off x="827532" y="5170932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129784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Wir prüfen: Wo liegen Reibung, Risiko und Freigabe?</a:t>
            </a:r>
          </a:p>
        </p:txBody>
      </p:sp>
      <p:sp>
        <p:nvSpPr>
          <p:cNvPr id="23" name="Oval 22"/>
          <p:cNvSpPr/>
          <p:nvPr/>
        </p:nvSpPr>
        <p:spPr>
          <a:xfrm>
            <a:off x="827532" y="5591556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55040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Danach: Readiness, Pilot oder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F0E7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FD7C0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B7C4C0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B7C4C0"/>
                </a:solidFill>
                <a:latin typeface="Aptos"/>
              </a:rPr>
              <a:t>09/9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52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FD7C0"/>
                </a:solidFill>
                <a:latin typeface="Aptos"/>
              </a:rPr>
              <a:t>ABSCHLUSS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F0E7"/>
                </a:solidFill>
                <a:latin typeface="Aptos"/>
              </a:rPr>
              <a:t>Die nächste Entscheidung ist klein, nicht groß.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583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2D0CB"/>
                </a:solidFill>
                <a:latin typeface="Aptos"/>
              </a:rPr>
              <a:t>Wenn die Strecke klar ist, folgt ein sauberer Mandatsvorschlag.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840480"/>
            <a:ext cx="9921240" cy="15240"/>
          </a:xfrm>
          <a:prstGeom prst="rect">
            <a:avLst/>
          </a:prstGeom>
          <a:solidFill>
            <a:srgbClr val="6D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7673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Zusage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37673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0050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Ankunft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37673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0050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erste Wochen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376732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0050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stabiler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8961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FD7C0"/>
                </a:solidFill>
                <a:latin typeface="Aptos"/>
              </a:rPr>
              <a:t>AMAVIO One | Arbeitgeberseitiges Arrival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