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4d227749074f0f" /><Relationship Type="http://schemas.openxmlformats.org/officeDocument/2006/relationships/extended-properties" Target="/docProps/app.xml" Id="R2eb6a3adefac4bca" /><Relationship Type="http://schemas.openxmlformats.org/officeDocument/2006/relationships/officeDocument" Target="/ppt/presentation.xml" Id="R0dcf687fe9094d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014c4a66f441b"/>
  </p:sldMasterIdLst>
  <p:notesMasterIdLst>
    <p:notesMasterId xmlns:r="http://schemas.openxmlformats.org/officeDocument/2006/relationships" r:id="R7b13ff9d97514c37"/>
  </p:notesMasterIdLst>
  <p:sldIdLst>
    <p:sldId xmlns:r="http://schemas.openxmlformats.org/officeDocument/2006/relationships" id="256" r:id="R304a6387a3854123"/>
    <p:sldId xmlns:r="http://schemas.openxmlformats.org/officeDocument/2006/relationships" id="257" r:id="Rfd224949ac774584"/>
    <p:sldId xmlns:r="http://schemas.openxmlformats.org/officeDocument/2006/relationships" id="258" r:id="R1254dca60ff44534"/>
    <p:sldId xmlns:r="http://schemas.openxmlformats.org/officeDocument/2006/relationships" id="259" r:id="R020cfb8a5bed49a8"/>
    <p:sldId xmlns:r="http://schemas.openxmlformats.org/officeDocument/2006/relationships" id="260" r:id="R7769f4c836cc4ea2"/>
    <p:sldId xmlns:r="http://schemas.openxmlformats.org/officeDocument/2006/relationships" id="261" r:id="R36758f1742a84bfd"/>
    <p:sldId xmlns:r="http://schemas.openxmlformats.org/officeDocument/2006/relationships" id="262" r:id="R7ed6dc86d55648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ac4476d0f489b" /><Relationship Type="http://schemas.openxmlformats.org/officeDocument/2006/relationships/slideMaster" Target="/ppt/slideMasters/slideMaster1.xml" Id="R181014c4a66f441b" /><Relationship Type="http://schemas.openxmlformats.org/officeDocument/2006/relationships/notesMaster" Target="/ppt/notesMasters/notesMaster1.xml" Id="R7b13ff9d97514c37" /><Relationship Type="http://schemas.openxmlformats.org/officeDocument/2006/relationships/presProps" Target="/ppt/presProps.xml" Id="Rc72f112e60d44b64" /><Relationship Type="http://schemas.openxmlformats.org/officeDocument/2006/relationships/tableStyles" Target="/ppt/tableStyles.xml" Id="R7d466f6bd2de4011" /><Relationship Type="http://schemas.openxmlformats.org/officeDocument/2006/relationships/slide" Target="/ppt/slides/slide1.xml" Id="R304a6387a3854123" /><Relationship Type="http://schemas.openxmlformats.org/officeDocument/2006/relationships/slide" Target="/ppt/slides/slide2.xml" Id="Rfd224949ac774584" /><Relationship Type="http://schemas.openxmlformats.org/officeDocument/2006/relationships/slide" Target="/ppt/slides/slide3.xml" Id="R1254dca60ff44534" /><Relationship Type="http://schemas.openxmlformats.org/officeDocument/2006/relationships/slide" Target="/ppt/slides/slide4.xml" Id="R020cfb8a5bed49a8" /><Relationship Type="http://schemas.openxmlformats.org/officeDocument/2006/relationships/slide" Target="/ppt/slides/slide5.xml" Id="R7769f4c836cc4ea2" /><Relationship Type="http://schemas.openxmlformats.org/officeDocument/2006/relationships/slide" Target="/ppt/slides/slide6.xml" Id="R36758f1742a84bfd" /><Relationship Type="http://schemas.openxmlformats.org/officeDocument/2006/relationships/slide" Target="/ppt/slides/slide7.xml" Id="R7ed6dc86d55648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0c53497ded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0aeb602b2946b7" /><Relationship Type="http://schemas.openxmlformats.org/officeDocument/2006/relationships/notesMaster" Target="/ppt/notesMasters/notesMaster1.xml" Id="Rbc41ea2b0fa8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eace0cff5459e" /><Relationship Type="http://schemas.openxmlformats.org/officeDocument/2006/relationships/notesMaster" Target="/ppt/notesMasters/notesMaster1.xml" Id="Rd8f47543a4f042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beafe9535e43e5" /><Relationship Type="http://schemas.openxmlformats.org/officeDocument/2006/relationships/notesMaster" Target="/ppt/notesMasters/notesMaster1.xml" Id="R871aea569350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d327aa8aee4812" /><Relationship Type="http://schemas.openxmlformats.org/officeDocument/2006/relationships/notesMaster" Target="/ppt/notesMasters/notesMaster1.xml" Id="Re523b7dba9cb45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d94a1416824ebf" /><Relationship Type="http://schemas.openxmlformats.org/officeDocument/2006/relationships/notesMaster" Target="/ppt/notesMasters/notesMaster1.xml" Id="R9595adb3337f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4b1606bd441f6" /><Relationship Type="http://schemas.openxmlformats.org/officeDocument/2006/relationships/notesMaster" Target="/ppt/notesMasters/notesMaster1.xml" Id="Rafa5d1c865fc43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4731695e104433" /><Relationship Type="http://schemas.openxmlformats.org/officeDocument/2006/relationships/notesMaster" Target="/ppt/notesMasters/notesMaster1.xml" Id="R3be95fb3fbbd4b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231b1928546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77580bb36a48be" /><Relationship Type="http://schemas.openxmlformats.org/officeDocument/2006/relationships/slideLayout" Target="/ppt/slideLayouts/slideLayout1.xml" Id="R13e44bcc4b2c4f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44bcc4b2c4f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a7b95f6f24503" /><Relationship Type="http://schemas.openxmlformats.org/officeDocument/2006/relationships/image" Target="/ppt/media/image.png" Id="R585c4b97be614a05" /><Relationship Type="http://schemas.openxmlformats.org/officeDocument/2006/relationships/notesSlide" Target="/ppt/notesSlides/notesSlide1.xml" Id="R7433d04c6321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bdff08338406f" /><Relationship Type="http://schemas.openxmlformats.org/officeDocument/2006/relationships/notesSlide" Target="/ppt/notesSlides/notesSlide2.xml" Id="Rf7a2fd1393c4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9630671f84a60" /><Relationship Type="http://schemas.openxmlformats.org/officeDocument/2006/relationships/notesSlide" Target="/ppt/notesSlides/notesSlide3.xml" Id="Rf4485d3d0bf542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1de238ccd4181" /><Relationship Type="http://schemas.openxmlformats.org/officeDocument/2006/relationships/notesSlide" Target="/ppt/notesSlides/notesSlide4.xml" Id="R7d82c367d69e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46e456e7242a3" /><Relationship Type="http://schemas.openxmlformats.org/officeDocument/2006/relationships/notesSlide" Target="/ppt/notesSlides/notesSlide5.xml" Id="R6bbb5f584fc142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0c48f5bd346b3" /><Relationship Type="http://schemas.openxmlformats.org/officeDocument/2006/relationships/notesSlide" Target="/ppt/notesSlides/notesSlide6.xml" Id="R9ad557bc311649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cd9b396ff4ac4" /><Relationship Type="http://schemas.openxmlformats.org/officeDocument/2006/relationships/notesSlide" Target="/ppt/notesSlides/notesSlide7.xml" Id="R00a3155ba8544a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c4b97be614a05"/>
          <a:srcRect xmlns:a="http://schemas.openxmlformats.org/drawingml/2006/main" l="18343" t="0" r="1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90D3-557B-4AC6-80A4-0BC93025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15B61-24DB-4B78-9228-4AE5C553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1F786-8ACA-4856-925C-E94EDB7A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AE57"/>
                </a:solidFill>
              </a:defRPr>
            </a:pPr>
            <a:r>
              <a:rPr sz="900" b="1" i="0">
                <a:solidFill>
                  <a:srgbClr val="D7AE57"/>
                </a:solidFill>
              </a:rPr>
              <a:t>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924AF-FD21-44F8-A899-84D3DBC3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4429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Ankommen ist keine Nebenaufgabe.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D16E-EFD0-46BE-AF48-E0CA0EA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3857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CE7ED"/>
                </a:solidFill>
              </a:defRPr>
            </a:pPr>
            <a:r>
              <a:rPr sz="1650" b="0" i="0">
                <a:solidFill>
                  <a:srgbClr val="DCE7ED"/>
                </a:solidFill>
              </a:rPr>
              <a:t>AMAVIO macht aus einer geplanten internationalen Einstellungswelle einen kontrollierten Housing- und Arrival-Launch.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2344E-8592-4CE6-BB2E-074DE48D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7"/>
          </a:solidFill>
          <a:ln xmlns:a="http://schemas.openxmlformats.org/drawingml/2006/main" w="0">
            <a:solidFill>
              <a:srgbClr val="D7AE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0C8FE-1A0F-4535-8459-736B14C9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C6D5DE"/>
                </a:solidFill>
              </a:defRPr>
            </a:pPr>
            <a:r>
              <a:rPr sz="975" b="0" i="0">
                <a:solidFill>
                  <a:srgbClr val="C6D5DE"/>
                </a:solidFill>
              </a:rPr>
              <a:t>Employer Decision Deck  ·  Interne Arbeitsfassung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198B6-725C-42ED-80F3-9FEB229F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AMAVIO</a:t>
            </a:r>
          </a:p>
        </p:txBody>
      </p:sp>
    </p:spTree>
    <p:extLst>
      <p:ext uri="{BB962C8B-B14F-4D97-AF65-F5344CB8AC3E}">
        <p14:creationId xmlns:p14="http://schemas.microsoft.com/office/powerpoint/2010/main" val="239765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D24F73-28F9-4028-AB9B-9B717BD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THE OPERATING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09E74-71DA-4949-B72F-280C3B9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8C395-AB17-4228-AD3A-DC0BCE0F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687A9-CFFD-435D-BFAA-8B53DF3B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35843-AA18-4FCB-B7EC-6073EC93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Die Einstellung ist entschieden.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Die Ankunft ist oft nicht gesteuert.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4EAAC-3658-4E3F-901A-A72DF97A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8707D"/>
                </a:solidFill>
              </a:defRPr>
            </a:pPr>
            <a:r>
              <a:rPr sz="1500" b="0" i="0">
                <a:solidFill>
                  <a:srgbClr val="58707D"/>
                </a:solidFill>
              </a:rPr>
              <a:t>Wenn HR, Fachbereich, Wohnraumpartner, Lieferanten und neue Mitarbeitende separat handeln, entstehen Lücken genau dort, wo der erste Arbeitstag sicher vorbereitet sein muss.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574D2-92CF-404A-A654-51D5F2BA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C1B21-7BE4-41E6-B869-1711CC3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AMAVIO macht diese Lücke sichtbar – und führt sie als ein gemeinsames Projekt mit klaren Verantwortlichkeiten, Terminlogik und Management-Readout.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76E89-5374-4133-9AA7-19EF59A3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66875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D3B"/>
                </a:solidFill>
              </a:defRPr>
            </a:pPr>
            <a:r>
              <a:rPr sz="1350" b="1" i="0">
                <a:solidFill>
                  <a:srgbClr val="C76D3B"/>
                </a:solidFill>
              </a:rPr>
              <a:t>HR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1F26C-7E22-440C-9D45-63F67202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668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D3B"/>
                </a:solidFill>
              </a:defRPr>
            </a:pPr>
            <a:r>
              <a:rPr sz="1350" b="1" i="0">
                <a:solidFill>
                  <a:srgbClr val="C76D3B"/>
                </a:solidFill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655FF-BB64-41CA-B435-33735A3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23565-AEC4-471F-B8CC-FE7B97A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Wohnen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47875-7525-4129-B2DB-FE2CB7A5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Lieferung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BAD0E-E48C-4D28-B37F-B453DE20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8DF00-1EA9-4AD2-A081-F87CE21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Neue Mitarbeitende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8AB4C-323D-4EC6-BBD3-0119A60E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7D"/>
                </a:solidFill>
              </a:defRPr>
            </a:pPr>
            <a:r>
              <a:rPr sz="1200" b="0" i="0">
                <a:solidFill>
                  <a:srgbClr val="58707D"/>
                </a:solidFill>
              </a:rPr>
              <a:t>Ohne gemeinsame Steuerung bleiben Verantwortung, Kosten und Risiken fragmentiert.</a:t>
            </a:r>
          </a:p>
        </p:txBody>
      </p:sp>
    </p:spTree>
    <p:extLst>
      <p:ext uri="{BB962C8B-B14F-4D97-AF65-F5344CB8AC3E}">
        <p14:creationId xmlns:p14="http://schemas.microsoft.com/office/powerpoint/2010/main" val="1010308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34EB8-DAFC-4D88-A183-531FE7ED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THE AMAVIO PRODUCT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B547-D142-4070-9EDD-5343039A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C0FDE-4643-40CB-9959-6F9FD4E1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4E09E-101B-431D-9409-A34AD6DF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EF02E-A3AF-45C0-9ACA-0578FAB6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Drei Produkte. Ein kontrollierter Weg zur Ankunft.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46DC7-9D7C-4073-8F9A-ABCDE5BC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8707D"/>
                </a:solidFill>
              </a:defRPr>
            </a:pPr>
            <a:r>
              <a:rPr sz="1500" b="0" i="0">
                <a:solidFill>
                  <a:srgbClr val="58707D"/>
                </a:solidFill>
              </a:rPr>
              <a:t>Sie starten dort, wo die Organisation heute steht: Entscheidung, konkreter Launch oder wiederholbarer Betrieb.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C77F1-A653-424C-AAF7-1D5198E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081087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EDBD9-7F04-45D1-B8B8-14CB2D5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047750" cy="10668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B09ED-CF0B-4FC7-884F-3997377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B15E1-7B50-4074-8D26-66C9744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DECISION 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6793F-909C-4977-A5C5-40FE8BCF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86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Readiness Blueprint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42030-38DD-42D6-A6E6-56B0A056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7D"/>
                </a:solidFill>
              </a:defRPr>
            </a:pPr>
            <a:r>
              <a:rPr sz="1200" b="0" i="0">
                <a:solidFill>
                  <a:srgbClr val="58707D"/>
                </a:solidFill>
              </a:rPr>
              <a:t>Ein beschlussfähiger Housing-&amp;-Arrival-Plan mit Varianten, Budgetkorridor, Rollen und kritischem Pfad.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8DF1B-AA03-4290-879B-46C7C29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6D3B"/>
                </a:solidFill>
              </a:defRPr>
            </a:pPr>
            <a:r>
              <a:rPr sz="1425" b="1" i="0">
                <a:solidFill>
                  <a:srgbClr val="C76D3B"/>
                </a:solidFill>
              </a:rPr>
              <a:t>ab 12.500 €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64047-BC06-468C-BC0E-B921260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081087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0CAB3-557C-44A9-B970-8344BC8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047750" cy="10668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375D3-5E46-4F47-A510-BF40F78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6D929-EB19-4535-9066-3B040CF5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LAUNCH READY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43CAF-53B2-403A-B171-6757482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052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Cohort Landing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9F9FB-03D7-461F-AF53-5BA7CBE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7D"/>
                </a:solidFill>
              </a:defRPr>
            </a:pPr>
            <a:r>
              <a:rPr sz="1200" b="0" i="0">
                <a:solidFill>
                  <a:srgbClr val="58707D"/>
                </a:solidFill>
              </a:rPr>
              <a:t>Ein abnahmefähiger Lieferpfad für eine konkrete Kohorte – inklusive koordinierter Übergabe und 30-Tage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1726F-2B3E-43BE-9EB4-2A0A0A4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6D3B"/>
                </a:solidFill>
              </a:defRPr>
            </a:pPr>
            <a:r>
              <a:rPr sz="1425" b="1" i="0">
                <a:solidFill>
                  <a:srgbClr val="C76D3B"/>
                </a:solidFill>
              </a:rPr>
              <a:t>ab 29.500 €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F48E2-91EA-4FC6-98F0-3B02DB8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081087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CB457-B525-4C82-83FF-66218774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1047750" cy="106680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A72BA-D289-46DE-B2E5-E3645EA0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781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3F39A-91CF-4DE0-BA9E-A092D700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1" i="0">
                <a:solidFill>
                  <a:srgbClr val="FFFFFF"/>
                </a:solidFill>
              </a:defRPr>
            </a:pPr>
            <a:r>
              <a:rPr sz="675" b="1" i="0">
                <a:solidFill>
                  <a:srgbClr val="FFFFFF"/>
                </a:solidFill>
              </a:rPr>
              <a:t>SCALE 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FEA0E0-8343-456F-A876-CF04189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244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Arrival Office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654A5-8D4F-4ADC-9825-F05E07C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959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8707D"/>
                </a:solidFill>
              </a:defRPr>
            </a:pPr>
            <a:r>
              <a:rPr sz="1200" b="0" i="0">
                <a:solidFill>
                  <a:srgbClr val="58707D"/>
                </a:solidFill>
              </a:rPr>
              <a:t>Ein wiederholbares Arrival Operating System mit klaren Service-Leveln, Reporting und Kapazitätsgrenzen.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C2A81-58A4-40C9-A477-2BE85629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86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6D3B"/>
                </a:solidFill>
              </a:defRPr>
            </a:pPr>
            <a:r>
              <a:rPr sz="1425" b="1" i="0">
                <a:solidFill>
                  <a:srgbClr val="C76D3B"/>
                </a:solidFill>
              </a:rPr>
              <a:t>ab 15.000 € Setup</a:t>
            </a:r>
          </a:p>
        </p:txBody>
      </p:sp>
    </p:spTree>
    <p:extLst>
      <p:ext uri="{BB962C8B-B14F-4D97-AF65-F5344CB8AC3E}">
        <p14:creationId xmlns:p14="http://schemas.microsoft.com/office/powerpoint/2010/main" val="1991553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A104F-D327-4881-9CB3-D90F10C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WHAT CHANGES FOR THE EMPLOYER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5A7CF-D7BC-432F-94C1-4A6E26A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9C199-9188-4972-B47B-62786234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A8033-ABDD-4D20-BA15-4CB679AF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B770D-DE75-4D00-947A-727E5E27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Nach vier Wochen ist nicht alles „gelöst“.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Aber alles Entscheidende ist steuerbar.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650E0-F8B7-4DB3-86FD-53A20E30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D3B"/>
                </a:solidFill>
              </a:defRPr>
            </a:pPr>
            <a:r>
              <a:rPr sz="1350" b="1" i="0">
                <a:solidFill>
                  <a:srgbClr val="C76D3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E20-C52E-4217-BE4D-23813BD7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Ein gemeinsamer 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DF76B-3985-4838-9F65-FE82C04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765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Kohorte, Standort, Zeitfenster, Budgetweg und Verantwortlichkeiten sind in einer Managementsicht verbunden.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36EF9-8D5F-4B98-8ABF-222CDED6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DC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01569-4B0E-4AC7-846C-D5D35776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D3B"/>
                </a:solidFill>
              </a:defRPr>
            </a:pPr>
            <a:r>
              <a:rPr sz="1350" b="1" i="0">
                <a:solidFill>
                  <a:srgbClr val="C76D3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8875F-5607-4573-88E2-418D78D2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623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Ein echter kritischer Pfad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E3322-73D8-4817-BC9F-D511CD96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Abhängigkeiten, offene Risiken und nächste Entscheidungen sind datiert – nicht nur in Köpfen verteilt.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1D09D-CACF-43BC-8AEE-BC4DDD33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672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DC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6FF58-EAAD-438C-8A03-6E4DAD32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D3B"/>
                </a:solidFill>
              </a:defRPr>
            </a:pPr>
            <a:r>
              <a:rPr sz="1350" b="1" i="0">
                <a:solidFill>
                  <a:srgbClr val="C76D3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3536C-2C85-417B-B8BF-2089BE2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291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Eine kontrollierte Lieferlogik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56B7-ECBA-4DBF-9504-1D18862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Freigegebene Partner, externe Kosten, Übergabe und Change Orders folgen einer transparenten Abnahme.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57EBF-DE28-4B9B-9A27-377DEE01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solidFill>
              <a:srgbClr val="DC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8E518-8E72-42AB-8BAA-2C32FAFB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8707D"/>
                </a:solidFill>
              </a:defRPr>
            </a:pPr>
            <a:r>
              <a:rPr sz="1125" b="0" i="0">
                <a:solidFill>
                  <a:srgbClr val="58707D"/>
                </a:solidFill>
              </a:rPr>
              <a:t>AMAVIO ersetzt keine Rechts-, Visa-, Miet- oder Lieferpartei. AMAVIO sorgt dafür, dass die jeweils zuständigen Parteien in einem lieferbaren Projekt zusammenarbeiten.</a:t>
            </a:r>
          </a:p>
        </p:txBody>
      </p:sp>
    </p:spTree>
    <p:extLst>
      <p:ext uri="{BB962C8B-B14F-4D97-AF65-F5344CB8AC3E}">
        <p14:creationId xmlns:p14="http://schemas.microsoft.com/office/powerpoint/2010/main" val="1939778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E34F7-3940-4797-87E5-D1B8B1B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COMMERCIAL CLARITY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ACB9-F205-4FCF-9179-CCD4F25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0EDB7-D6D6-4A91-B36E-6ACE586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09E2C-37B5-45E4-B89F-0A9A2E42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84B52-367E-4C7A-8524-42EA5ABB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Klarer Preis. Kontrollierter Scope.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2FD3-A156-46F6-B181-8DDFA56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DCE7ED"/>
                </a:solidFill>
              </a:defRPr>
            </a:pPr>
            <a:r>
              <a:rPr sz="1500" b="0" i="0">
                <a:solidFill>
                  <a:srgbClr val="DCE7ED"/>
                </a:solidFill>
              </a:rPr>
              <a:t>Jedes Angebot definiert Scope, Abnahme, Zahlungsmeilensteine und klare Grenzen. Fremdkosten bleiben transparent und werden nicht verdeckt vorfinanziert.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86FC5-C87A-4CDF-859F-0AE6515F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7"/>
          </a:solidFill>
          <a:ln xmlns:a="http://schemas.openxmlformats.org/drawingml/2006/main" w="0">
            <a:solidFill>
              <a:srgbClr val="D7AE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0E788-8B90-4DFA-A003-7806C628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Paketpreis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59217-AF38-4DBB-9B00-88A2EE17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6D5DE"/>
                </a:solidFill>
              </a:defRPr>
            </a:pPr>
            <a:r>
              <a:rPr sz="1350" b="0" i="0">
                <a:solidFill>
                  <a:srgbClr val="C6D5DE"/>
                </a:solidFill>
              </a:rPr>
              <a:t>Das kundenseitige Ergebnis wird klar beschrieben.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C3FA-4051-475D-8957-BE802E11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052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7"/>
          </a:solidFill>
          <a:ln xmlns:a="http://schemas.openxmlformats.org/drawingml/2006/main" w="0">
            <a:solidFill>
              <a:srgbClr val="D7AE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3C8C5-5514-42B4-82F2-550E401F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Marge &amp; Kapazität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3435A-98A7-4FC7-91F6-DDA88EA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43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6D5DE"/>
                </a:solidFill>
              </a:defRPr>
            </a:pPr>
            <a:r>
              <a:rPr sz="1350" b="0" i="0">
                <a:solidFill>
                  <a:srgbClr val="C6D5DE"/>
                </a:solidFill>
              </a:rPr>
              <a:t>Interne Freigabe erst nach Margin- und Scope-Check.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123A3-0D7E-4998-8A04-70CDEA39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7"/>
          </a:solidFill>
          <a:ln xmlns:a="http://schemas.openxmlformats.org/drawingml/2006/main" w="0">
            <a:solidFill>
              <a:srgbClr val="D7AE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48A4E-F6D1-4FBE-A1F8-3BCD8E1E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10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Change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920AA-43CE-429D-AC75-61D18F6C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00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6D5DE"/>
                </a:solidFill>
              </a:defRPr>
            </a:pPr>
            <a:r>
              <a:rPr sz="1350" b="0" i="0">
                <a:solidFill>
                  <a:srgbClr val="C6D5DE"/>
                </a:solidFill>
              </a:rPr>
              <a:t>Mehrleistung beginnt nur mit Preis-, Termin- und Verantwortungsfreigabe.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DFC7E-AF8A-438E-A174-F2E57D7A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87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57"/>
          </a:solidFill>
          <a:ln xmlns:a="http://schemas.openxmlformats.org/drawingml/2006/main" w="0">
            <a:solidFill>
              <a:srgbClr val="D7AE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18C1C-78FD-430E-8A0F-E5DEF2A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Abnahme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9F5FD-5F2B-48C3-95CB-B122565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7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6D5DE"/>
                </a:solidFill>
              </a:defRPr>
            </a:pPr>
            <a:r>
              <a:rPr sz="1350" b="0" i="0">
                <a:solidFill>
                  <a:srgbClr val="C6D5DE"/>
                </a:solidFill>
              </a:rPr>
              <a:t>Das Projekt endet an sichtbaren Deliverables – nicht an einer unklaren Zufriedenheit.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FE3B4-1C4C-4937-ABB9-CD37EEBF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D7AE57"/>
                </a:solidFill>
              </a:defRPr>
            </a:pPr>
            <a:r>
              <a:rPr sz="1125" b="1" i="0">
                <a:solidFill>
                  <a:srgbClr val="D7AE57"/>
                </a:solidFill>
              </a:rPr>
              <a:t>Listenpreise geben Orientierung. Begrenzte Founding-Pilotpreise werden nur bei klarer Lern-, Scope- und Fortsetzungslogik angeboten.</a:t>
            </a:r>
          </a:p>
        </p:txBody>
      </p:sp>
    </p:spTree>
    <p:extLst>
      <p:ext uri="{BB962C8B-B14F-4D97-AF65-F5344CB8AC3E}">
        <p14:creationId xmlns:p14="http://schemas.microsoft.com/office/powerpoint/2010/main" val="1223508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88096-DD6E-4363-A927-8CF9DF79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THE DELIVERY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86E62-580B-40F7-B50A-61F3B9C4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69EFC-5858-4D26-B434-90CBF36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F1F18-C4F0-436C-87C3-CC06C01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0A30D-B06F-4159-92EC-9CF0028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71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Glaubwürdigkeit entsteht nicht durch ein großes Netzwerk.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Sondern durch ein belastbares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C2F1-A314-487B-B75F-69856ED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8707D"/>
                </a:solidFill>
              </a:defRPr>
            </a:pPr>
            <a:r>
              <a:rPr sz="1500" b="0" i="0">
                <a:solidFill>
                  <a:srgbClr val="58707D"/>
                </a:solidFill>
              </a:rPr>
              <a:t>AMAVIO verbindet die richtige Leistung zum richtigen Zeitpunkt mit klaren Daten-, Rollen- und Qualitätsgrenzen.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82439-C7E7-405D-A041-CDB116C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0B894-AB20-4FA1-B6D9-4DFCFDEE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478FD-505B-4246-AA62-969297A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Kohorte, Ort, Zeit, Budget, Verantwortlichkeit und Stop-Risiken werden strukturiert erfasst.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D8410-1267-494E-9D4C-5E939766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575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52620-804B-4400-9EF8-E6FE14B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571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220E6-EE2F-4F30-931A-A338B5EA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48125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SOW, Lieferplan, geprüfte Partner, Freigaben, Übergabe und Issue Log steuern die Ausführung.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2FF5A-7055-40FE-9D65-D66A9B47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D3B"/>
          </a:solidFill>
          <a:ln xmlns:a="http://schemas.openxmlformats.org/drawingml/2006/main" w="0">
            <a:solidFill>
              <a:srgbClr val="C76D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DD901-FD97-4E2E-BE14-3A8271D3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C58E8-C6A8-475C-93C3-C6BB1E37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48125"/>
            <a:ext cx="2809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8707D"/>
                </a:solidFill>
              </a:defRPr>
            </a:pPr>
            <a:r>
              <a:rPr sz="1350" b="0" i="0">
                <a:solidFill>
                  <a:srgbClr val="58707D"/>
                </a:solidFill>
              </a:rPr>
              <a:t>Ist-Stunden, Kosten, Fristtreue, Mängel und Feedback verbessern jedes Folgeprojekt.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2A2DA-950C-4B57-8A84-CD9B4F17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Die digitale und KI-gestützte Ebene wird erst dort erweitert, wo Prozess, Datenrolle und menschliche Prüfung freigegeben sind.</a:t>
            </a:r>
          </a:p>
        </p:txBody>
      </p:sp>
    </p:spTree>
    <p:extLst>
      <p:ext uri="{BB962C8B-B14F-4D97-AF65-F5344CB8AC3E}">
        <p14:creationId xmlns:p14="http://schemas.microsoft.com/office/powerpoint/2010/main" val="1103879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0CF40-E6ED-412F-B1F3-E404AF8D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C76D3B"/>
                </a:solidFill>
              </a:defRPr>
            </a:pPr>
            <a:r>
              <a:rPr sz="900" b="1" i="0">
                <a:solidFill>
                  <a:srgbClr val="C76D3B"/>
                </a:solidFill>
              </a:rPr>
              <a:t>THE NEXT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5FC05-2D38-4BA3-9286-5952E828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8707D"/>
                </a:solidFill>
              </a:defRPr>
            </a:pPr>
            <a:r>
              <a:rPr sz="900" b="1" i="0">
                <a:solidFill>
                  <a:srgbClr val="58707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18A40-1B39-4364-8240-9D944144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E"/>
          </a:solidFill>
          <a:ln xmlns:a="http://schemas.openxmlformats.org/drawingml/2006/main" w="0">
            <a:solidFill>
              <a:srgbClr val="CBD7D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DAB05-FECF-4660-8381-C3263C64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76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675" b="0" i="0">
                <a:solidFill>
                  <a:srgbClr val="58707D"/>
                </a:solidFill>
              </a:defRPr>
            </a:pPr>
            <a:r>
              <a:rPr sz="675" b="0" i="0">
                <a:solidFill>
                  <a:srgbClr val="58707D"/>
                </a:solidFill>
              </a:rPr>
              <a:t>AMAVIO  ·  Workforce Readiness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AE820-FD0D-4A66-A9CC-3D75D12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Starten wir nicht mit einer Wohnungsanfrage.</a:t>
            </a:r>
          </a:p>
          <a:p xmlns:a="http://schemas.openxmlformats.org/drawingml/2006/main">
            <a:pPr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Starten wir mit der richtigen Entscheidung.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E1638-D58B-4589-BD55-23B9834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8707D"/>
                </a:solidFill>
              </a:defRPr>
            </a:pPr>
            <a:r>
              <a:rPr sz="1650" b="0" i="0">
                <a:solidFill>
                  <a:srgbClr val="58707D"/>
                </a:solidFill>
              </a:rPr>
              <a:t>In 45 Minuten klären wir, ob aus Ihrer nächsten internationalen Einstellungswelle ein belastbarer Readiness Blueprint, ein Cohort Launch oder noch kein Projekt werden sollte.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9737C-F90B-4775-A5BF-BE97A64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0810875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A6F96-F5F3-4C37-AC68-D1D0FF5B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D7AE57"/>
                </a:solidFill>
              </a:defRPr>
            </a:pPr>
            <a:r>
              <a:rPr sz="1575" b="1" i="0">
                <a:solidFill>
                  <a:srgbClr val="D7AE57"/>
                </a:solidFill>
              </a:rPr>
              <a:t>Die sechs Fragen für die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FB56F-5A9D-49DC-A7EC-4898E023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Kohorte  ·  Ort  ·  Zeitfenster  ·  Budgetweg  ·  Wohnmodell  ·  Entscheidungsverantwortung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56B6B-6566-427D-B381-702F981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Ziel: eine klare Entscheidung über den nächsten Schritt – statt weiterer unverbundener To-dos.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22B27-A973-407E-939D-F9B5436D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8707D"/>
                </a:solidFill>
              </a:defRPr>
            </a:pPr>
            <a:r>
              <a:rPr sz="825" b="0" i="0">
                <a:solidFill>
                  <a:srgbClr val="58707D"/>
                </a:solidFill>
              </a:rPr>
              <a:t>AMAVIO  ·  Interne Arbeitsfassung, externe Nutzung nach P0-Gates</a:t>
            </a:r>
          </a:p>
        </p:txBody>
      </p:sp>
    </p:spTree>
    <p:extLst>
      <p:ext uri="{BB962C8B-B14F-4D97-AF65-F5344CB8AC3E}">
        <p14:creationId xmlns:p14="http://schemas.microsoft.com/office/powerpoint/2010/main" val="131525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2026-07-28T05:46:47.1710000Z</dcterms:created>
  <dcterms:modified xsi:type="dcterms:W3CDTF">2026-07-28T05:46:47.1710000Z</dcterms:modified>
</coreProperties>
</file>