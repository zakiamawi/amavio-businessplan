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35a85be1674088" /><Relationship Type="http://schemas.openxmlformats.org/officeDocument/2006/relationships/extended-properties" Target="/docProps/app.xml" Id="R446e81f50c93453f" /><Relationship Type="http://schemas.openxmlformats.org/officeDocument/2006/relationships/officeDocument" Target="/ppt/presentation.xml" Id="R53a854b1a34442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d83a100fe74507"/>
  </p:sldMasterIdLst>
  <p:notesMasterIdLst>
    <p:notesMasterId xmlns:r="http://schemas.openxmlformats.org/officeDocument/2006/relationships" r:id="Re42f4fb98ff64b00"/>
  </p:notesMasterIdLst>
  <p:sldIdLst>
    <p:sldId xmlns:r="http://schemas.openxmlformats.org/officeDocument/2006/relationships" id="256" r:id="R1336ba710e8d43d5"/>
    <p:sldId xmlns:r="http://schemas.openxmlformats.org/officeDocument/2006/relationships" id="257" r:id="Re9a5339ed22c4203"/>
    <p:sldId xmlns:r="http://schemas.openxmlformats.org/officeDocument/2006/relationships" id="258" r:id="Rf45de3c6038843fd"/>
    <p:sldId xmlns:r="http://schemas.openxmlformats.org/officeDocument/2006/relationships" id="259" r:id="Rb0cd407ce1184e31"/>
    <p:sldId xmlns:r="http://schemas.openxmlformats.org/officeDocument/2006/relationships" id="260" r:id="R3fa0987acfd84b5b"/>
    <p:sldId xmlns:r="http://schemas.openxmlformats.org/officeDocument/2006/relationships" id="261" r:id="R9f5a9aac9b9a48b3"/>
    <p:sldId xmlns:r="http://schemas.openxmlformats.org/officeDocument/2006/relationships" id="262" r:id="R06152d9a76b5437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4adb5740964a73" /><Relationship Type="http://schemas.openxmlformats.org/officeDocument/2006/relationships/slideMaster" Target="/ppt/slideMasters/slideMaster1.xml" Id="R82d83a100fe74507" /><Relationship Type="http://schemas.openxmlformats.org/officeDocument/2006/relationships/notesMaster" Target="/ppt/notesMasters/notesMaster1.xml" Id="Re42f4fb98ff64b00" /><Relationship Type="http://schemas.openxmlformats.org/officeDocument/2006/relationships/presProps" Target="/ppt/presProps.xml" Id="R11c048aba132483c" /><Relationship Type="http://schemas.openxmlformats.org/officeDocument/2006/relationships/tableStyles" Target="/ppt/tableStyles.xml" Id="Re9ba4bd8c4f64d46" /><Relationship Type="http://schemas.openxmlformats.org/officeDocument/2006/relationships/slide" Target="/ppt/slides/slide1.xml" Id="R1336ba710e8d43d5" /><Relationship Type="http://schemas.openxmlformats.org/officeDocument/2006/relationships/slide" Target="/ppt/slides/slide2.xml" Id="Re9a5339ed22c4203" /><Relationship Type="http://schemas.openxmlformats.org/officeDocument/2006/relationships/slide" Target="/ppt/slides/slide3.xml" Id="Rf45de3c6038843fd" /><Relationship Type="http://schemas.openxmlformats.org/officeDocument/2006/relationships/slide" Target="/ppt/slides/slide4.xml" Id="Rb0cd407ce1184e31" /><Relationship Type="http://schemas.openxmlformats.org/officeDocument/2006/relationships/slide" Target="/ppt/slides/slide5.xml" Id="R3fa0987acfd84b5b" /><Relationship Type="http://schemas.openxmlformats.org/officeDocument/2006/relationships/slide" Target="/ppt/slides/slide6.xml" Id="R9f5a9aac9b9a48b3" /><Relationship Type="http://schemas.openxmlformats.org/officeDocument/2006/relationships/slide" Target="/ppt/slides/slide7.xml" Id="R06152d9a76b543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28369ff26d44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9afc7d78804d4f" /><Relationship Type="http://schemas.openxmlformats.org/officeDocument/2006/relationships/notesMaster" Target="/ppt/notesMasters/notesMaster1.xml" Id="R4393fc9b64154b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0e31a229654bf7" /><Relationship Type="http://schemas.openxmlformats.org/officeDocument/2006/relationships/notesMaster" Target="/ppt/notesMasters/notesMaster1.xml" Id="R3ec6c366178944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5d46246c49401b" /><Relationship Type="http://schemas.openxmlformats.org/officeDocument/2006/relationships/notesMaster" Target="/ppt/notesMasters/notesMaster1.xml" Id="R1abc1a0225e342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c4878e2c2e4cfe" /><Relationship Type="http://schemas.openxmlformats.org/officeDocument/2006/relationships/notesMaster" Target="/ppt/notesMasters/notesMaster1.xml" Id="R45e0236bf97345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2d629e8ce549f4" /><Relationship Type="http://schemas.openxmlformats.org/officeDocument/2006/relationships/notesMaster" Target="/ppt/notesMasters/notesMaster1.xml" Id="R75050085c21548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da9e32d06f431d" /><Relationship Type="http://schemas.openxmlformats.org/officeDocument/2006/relationships/notesMaster" Target="/ppt/notesMasters/notesMaster1.xml" Id="R97f374704b5c44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928dedfbed4250" /><Relationship Type="http://schemas.openxmlformats.org/officeDocument/2006/relationships/notesMaster" Target="/ppt/notesMasters/notesMaster1.xml" Id="R846bc6dd88044b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P1 Partner- und CRM-Playbook sowie Rollen- und Gate-Logik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P1 Partner- und CRM-Playbook sowie Rollen- und Gate-Logik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P1 Partner- und CRM-Playbook sowie Rollen- und Gate-Logik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P1 Partner- und CRM-Playbook sowie Rollen- und Gate-Logik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P1 Partner- und CRM-Playbook sowie Rollen- und Gate-Logik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P1 Partner- und CRM-Playbook sowie Rollen- und Gate-Logik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P1 Partner- und CRM-Playbook sowie Rollen- und Gate-Logik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e6a3be4db41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dd0134178645d3" /><Relationship Type="http://schemas.openxmlformats.org/officeDocument/2006/relationships/slideLayout" Target="/ppt/slideLayouts/slideLayout1.xml" Id="R6dedb338e0654b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edb338e0654b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31ec9277b4370" /><Relationship Type="http://schemas.openxmlformats.org/officeDocument/2006/relationships/image" Target="/ppt/media/image.png" Id="R605af31f22ec41c3" /><Relationship Type="http://schemas.openxmlformats.org/officeDocument/2006/relationships/notesSlide" Target="/ppt/notesSlides/notesSlide1.xml" Id="Read8b5a0e89e4b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f3345d9784823" /><Relationship Type="http://schemas.openxmlformats.org/officeDocument/2006/relationships/notesSlide" Target="/ppt/notesSlides/notesSlide2.xml" Id="R9d4bbe19b1be4e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0686238924298" /><Relationship Type="http://schemas.openxmlformats.org/officeDocument/2006/relationships/notesSlide" Target="/ppt/notesSlides/notesSlide3.xml" Id="R812ec88597a842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986c1c8f94efb" /><Relationship Type="http://schemas.openxmlformats.org/officeDocument/2006/relationships/notesSlide" Target="/ppt/notesSlides/notesSlide4.xml" Id="Rd848dcf8c9514c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5b206f50b47e3" /><Relationship Type="http://schemas.openxmlformats.org/officeDocument/2006/relationships/notesSlide" Target="/ppt/notesSlides/notesSlide5.xml" Id="Rb5ccb81f86554a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ab023e1614b5f" /><Relationship Type="http://schemas.openxmlformats.org/officeDocument/2006/relationships/notesSlide" Target="/ppt/notesSlides/notesSlide6.xml" Id="R3dbaea4683c143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c57b794fb4de3" /><Relationship Type="http://schemas.openxmlformats.org/officeDocument/2006/relationships/notesSlide" Target="/ppt/notesSlides/notesSlide7.xml" Id="Rc307ba62e57946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af31f22ec41c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C5824-C185-402D-B2EE-D92CF557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F76F3-E4B7-40C3-9F14-0866FC73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67C64-949F-46AC-B89C-31E9B2E5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BF54F-2BB6-47FE-A864-512B260B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46B79-9F7C-46AE-B8B9-0701059C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3A18F-7FF4-4D81-A26A-34CC8CF7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PARTNER-PROFIL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72C1B-72F4-4F0A-9F53-0B9950E7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0ABB9-963F-42B3-AFCA-DB6B47AB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4191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Lokale Kompetenz</a:t>
            </a:r>
          </a:p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braucht einen</a:t>
            </a:r>
          </a:p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verlässlichen Rahmen.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E51DF-A8C5-485D-B957-D482988E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386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7785"/>
                </a:solidFill>
              </a:defRPr>
            </a:pPr>
            <a:r>
              <a:rPr sz="1350" b="0" i="0">
                <a:solidFill>
                  <a:srgbClr val="667785"/>
                </a:solidFill>
              </a:rPr>
              <a:t>AMAVIO Living verbindet ausgewählte Partner zu einem klaren Lieferpfad.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7829A-3B60-4700-9C07-5BE56FF9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5315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55C0A-264F-431A-97D7-659061D7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Partner Brief · Gesprächsgrundlage</a:t>
            </a:r>
          </a:p>
        </p:txBody>
      </p:sp>
    </p:spTree>
    <p:extLst>
      <p:ext uri="{BB962C8B-B14F-4D97-AF65-F5344CB8AC3E}">
        <p14:creationId xmlns:p14="http://schemas.microsoft.com/office/powerpoint/2010/main" val="1699972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7DB498-557C-42CF-986E-6F08C9F4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A9DB6-8338-4A31-BC21-6445A5D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E59B6-1BB7-4A37-90A1-019F0E13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AA683-FCA9-4F66-9ED5-9B76667D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CDFD1-234E-4639-89C8-840233BF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PARTNERROLLE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DC624-9A51-4CB8-A8C0-F4FEEC45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8F937-A154-41D7-B884-09495A5B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Wir bauen keine lange Partnerliste. Wir bauen Lieferfähigkeit.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B7227-BB69-4BDD-9CE6-F5F78F38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Jede Partnerschaft besetzt eine klar definierte Rolle im Wohn- und Arrival-Prozess.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75F13-7A26-48E3-A936-93F0034E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B8955A"/>
                </a:solidFill>
              </a:defRPr>
            </a:pPr>
            <a:r>
              <a:rPr sz="975" b="1" i="0">
                <a:solidFill>
                  <a:srgbClr val="B8955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E86EA-1BCD-47DA-AB55-F9AEAD15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814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Wohnraum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079DC-29C0-436F-81F8-69DDC1EE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Vermieter, Betreiber, Makler, Objektpartner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359EA-72E4-4DBE-A5DF-33300543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0671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DE426-9420-4360-999A-81BD5725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52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B8955A"/>
                </a:solidFill>
              </a:defRPr>
            </a:pPr>
            <a:r>
              <a:rPr sz="975" b="1" i="0">
                <a:solidFill>
                  <a:srgbClr val="B8955A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DC18C-FB06-4099-B702-732A1DA0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814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Bezugsfertigkeit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566ED-D415-4B38-AB0F-DE7445A6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100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Möbel, Handwerk, Internet, Übergabe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40448-57DF-4A6C-91EC-B680220B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00BF43-248B-4BB8-8DD1-38463D0A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52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B8955A"/>
                </a:solidFill>
              </a:defRPr>
            </a:pPr>
            <a:r>
              <a:rPr sz="975" b="1" i="0">
                <a:solidFill>
                  <a:srgbClr val="B8955A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220C5-E677-4658-8BF7-6F9E5BD9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814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Ankunft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39582-755E-477B-B092-DD8BAC80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100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Orientierung, Sprache, Community, Support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D265D-0DB6-4C04-8F43-6712618A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F89023-6CA8-40F0-9DB9-40E5D6DB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AMAVIO aktiviert Partner nur dort, wo Fähigkeit, Kapazität und Projektanforderung zusammenpassen.</a:t>
            </a:r>
          </a:p>
        </p:txBody>
      </p:sp>
    </p:spTree>
    <p:extLst>
      <p:ext uri="{BB962C8B-B14F-4D97-AF65-F5344CB8AC3E}">
        <p14:creationId xmlns:p14="http://schemas.microsoft.com/office/powerpoint/2010/main" val="4512133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9C4C38-C41A-4632-9277-331FF0B7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B81C4-6726-43BF-BD28-BDC48DCE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05BF3-F475-4E5B-829C-FA494453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4BE63-CCF3-494A-AC67-0F5C8C23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2BB9A-107D-4C79-80BA-A7BA6A15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DIE QUALIFIZIERUNG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6DF9F-F07D-4185-B803-8A419A0C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4821D-88F5-4FFC-AB69-452FFE97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Gemeinsame Projekte beginnen mit einer nachvollziehbaren Eignung.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BDB9E-AE98-467D-A8E0-0C748C9D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D9E5E5"/>
                </a:solidFill>
              </a:defRPr>
            </a:pPr>
            <a:r>
              <a:rPr sz="1425" b="0" i="0">
                <a:solidFill>
                  <a:srgbClr val="D9E5E5"/>
                </a:solidFill>
              </a:rPr>
              <a:t>Vor dem ersten Mandat klären wir Erwartungen, Durchführbarkeit und die Grenzen der Zusammenarbeit.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CE06A-25FA-40E8-B946-8BAEDD49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1447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7465B"/>
          </a:solidFill>
          <a:ln xmlns:a="http://schemas.openxmlformats.org/drawingml/2006/main" w="9525">
            <a:solidFill>
              <a:srgbClr val="3F63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865F1-7325-40B9-8676-D5EEDD3B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52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1E9DC"/>
                </a:solidFill>
              </a:defRPr>
            </a:pPr>
            <a:r>
              <a:rPr sz="825" b="1" i="0">
                <a:solidFill>
                  <a:srgbClr val="F1E9DC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EB244-BCEF-4310-907E-DB3F0445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67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Rolle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FA6A3-8E95-4DEA-AB23-5FA97979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581400"/>
            <a:ext cx="1447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7465B"/>
          </a:solidFill>
          <a:ln xmlns:a="http://schemas.openxmlformats.org/drawingml/2006/main" w="9525">
            <a:solidFill>
              <a:srgbClr val="3F63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FF71B-66F7-445F-83B6-11E2F7ED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52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1E9DC"/>
                </a:solidFill>
              </a:defRPr>
            </a:pPr>
            <a:r>
              <a:rPr sz="825" b="1" i="0">
                <a:solidFill>
                  <a:srgbClr val="F1E9DC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57FA0-8C12-457E-AB56-D90A4491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67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Kapazität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34C0D-DC4D-4081-962C-E29846D3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81400"/>
            <a:ext cx="1447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7465B"/>
          </a:solidFill>
          <a:ln xmlns:a="http://schemas.openxmlformats.org/drawingml/2006/main" w="9525">
            <a:solidFill>
              <a:srgbClr val="3F637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5E2C6B-825B-4711-8546-D7A44356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52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1E9DC"/>
                </a:solidFill>
              </a:defRPr>
            </a:pPr>
            <a:r>
              <a:rPr sz="825" b="1" i="0">
                <a:solidFill>
                  <a:srgbClr val="F1E9DC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5B5AA-BB39-483E-8BCD-358A3CCD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67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Qualität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4886B-543B-45B8-833E-6D608442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581400"/>
            <a:ext cx="1447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7465B"/>
          </a:solidFill>
          <a:ln xmlns:a="http://schemas.openxmlformats.org/drawingml/2006/main" w="9525">
            <a:solidFill>
              <a:srgbClr val="3F63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76764-4779-48DF-834E-D1A22E0C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752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1E9DC"/>
                </a:solidFill>
              </a:defRPr>
            </a:pPr>
            <a:r>
              <a:rPr sz="825" b="1" i="0">
                <a:solidFill>
                  <a:srgbClr val="F1E9DC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17352C-BAA9-4553-9E97-99F31EC0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067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Eskalation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96AD5-2833-4A1E-98B9-4FC91EDD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81400"/>
            <a:ext cx="1447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7465B"/>
          </a:solidFill>
          <a:ln xmlns:a="http://schemas.openxmlformats.org/drawingml/2006/main" w="9525">
            <a:solidFill>
              <a:srgbClr val="3F637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8EC3B-B2FF-48C2-BF21-3CC2FC4C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52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1E9DC"/>
                </a:solidFill>
              </a:defRPr>
            </a:pPr>
            <a:r>
              <a:rPr sz="825" b="1" i="0">
                <a:solidFill>
                  <a:srgbClr val="F1E9DC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7FFEAB-E2CB-4F8B-9B86-997F40AC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67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Übergabe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62AFE-4014-4A0F-A85D-C7590DF6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5709F3-A885-4B09-957E-45C678FA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Verlässlichkeit entsteht aus klaren Zusagen – nicht aus vagen Absichten.</a:t>
            </a:r>
          </a:p>
        </p:txBody>
      </p:sp>
    </p:spTree>
    <p:extLst>
      <p:ext uri="{BB962C8B-B14F-4D97-AF65-F5344CB8AC3E}">
        <p14:creationId xmlns:p14="http://schemas.microsoft.com/office/powerpoint/2010/main" val="18789934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70AB1D-09F4-482E-B8E0-B358301D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EF0D2-88EE-4617-A561-C6165F61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FB464-C83A-4F69-A883-36C5E854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028FC-828F-418C-8566-3A02A3D9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28E3F-BF39-47A1-A2F9-0BEBAE71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DER PARTNERNUTZEN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45B90-CE64-465A-A6D8-1D6DF278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99AFD-D953-4AFD-A89F-B1D0FB82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Passende Aufträge sind besser als offene Erwartungshaltung.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847E2-06E3-44AD-8764-87C12BFC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AMAVIO bündelt den Bedarf, hält den Auftraggeber in der Verantwortung und macht jeden Entscheidungspunkt sichtbar.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4CA07-1E63-4681-A794-092D9D46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C6B70"/>
                </a:solidFill>
              </a:defRPr>
            </a:pPr>
            <a:r>
              <a:rPr sz="2700" b="1" i="0">
                <a:solidFill>
                  <a:srgbClr val="0C6B70"/>
                </a:solidFill>
              </a:rPr>
              <a:t>Klar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67A00-D6E5-4B36-B51B-F796DAD9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02A43"/>
                </a:solidFill>
              </a:defRPr>
            </a:pPr>
            <a:r>
              <a:rPr sz="1275" b="1" i="0">
                <a:solidFill>
                  <a:srgbClr val="102A43"/>
                </a:solidFill>
              </a:rPr>
              <a:t>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A5C7F-63CA-45BE-A6AC-6BC39B19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38625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eine konkret beschriebene Leistung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1EC49-14CD-4A28-8097-EE18122E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33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C6B70"/>
                </a:solidFill>
              </a:defRPr>
            </a:pPr>
            <a:r>
              <a:rPr sz="2700" b="1" i="0">
                <a:solidFill>
                  <a:srgbClr val="0C6B70"/>
                </a:solidFill>
              </a:rPr>
              <a:t>Planbar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9D690-7A54-4E83-9E8D-2C0743F4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02A43"/>
                </a:solidFill>
              </a:defRPr>
            </a:pPr>
            <a:r>
              <a:rPr sz="1275" b="1" i="0">
                <a:solidFill>
                  <a:srgbClr val="102A43"/>
                </a:solidFill>
              </a:rPr>
              <a:t>Freigaben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758B0-FB7E-4A2B-95A2-5CD26510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38625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Kosten und Zuständigkeiten sichtbar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F0ED1-F6A2-4DF0-B459-9C3C9801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C6B70"/>
                </a:solidFill>
              </a:defRPr>
            </a:pPr>
            <a:r>
              <a:rPr sz="2700" b="1" i="0">
                <a:solidFill>
                  <a:srgbClr val="0C6B70"/>
                </a:solidFill>
              </a:rPr>
              <a:t>Fair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2D46D-C830-4BC0-842E-08060FD4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02A43"/>
                </a:solidFill>
              </a:defRPr>
            </a:pPr>
            <a:r>
              <a:rPr sz="1275" b="1" i="0">
                <a:solidFill>
                  <a:srgbClr val="102A43"/>
                </a:solidFill>
              </a:rPr>
              <a:t>Rollen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E195E-2472-4022-A7B4-F30B3F2A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38625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Leistung dort, wo Expertise liegt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FA1C4-C046-4E83-890A-2F1DEA49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33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C6B70"/>
                </a:solidFill>
              </a:defRPr>
            </a:pPr>
            <a:r>
              <a:rPr sz="2700" b="1" i="0">
                <a:solidFill>
                  <a:srgbClr val="0C6B70"/>
                </a:solidFill>
              </a:rPr>
              <a:t>Sauber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D60A3-1F1A-479A-9BC5-70048F9A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052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02A43"/>
                </a:solidFill>
              </a:defRPr>
            </a:pPr>
            <a:r>
              <a:rPr sz="1275" b="1" i="0">
                <a:solidFill>
                  <a:srgbClr val="102A43"/>
                </a:solidFill>
              </a:rPr>
              <a:t>Übergabe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4C2D9-EE30-4604-8E97-0F9B9E6B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38625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dokumentierte Abnahme und Issue 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0854C5-9D6B-4560-A3AE-1FA08290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86D993-5A34-4F06-A398-80D8B940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Eine Partnerschaft ist kein Rahmenversprechen, sondern ein belastbares Projektmatch.</a:t>
            </a:r>
          </a:p>
        </p:txBody>
      </p:sp>
    </p:spTree>
    <p:extLst>
      <p:ext uri="{BB962C8B-B14F-4D97-AF65-F5344CB8AC3E}">
        <p14:creationId xmlns:p14="http://schemas.microsoft.com/office/powerpoint/2010/main" val="21027840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22C7E6-C0DE-4BA6-946D-141E9260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390E8-52F8-4933-A809-6316721B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7FA0B-4A12-4CA4-95EE-F9A1B313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0C758-07E9-4046-AA50-83759C80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75E48-2425-4D8E-8DE3-13461A79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DER PROJEKTPFAD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AB36B-6AD9-417A-8AB7-22425E2E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E58AC-30B6-4B8A-98D2-4ABD95E3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Vier Schritte machen Zusammenarbeit für beide Seiten planbar.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A4050-7A7D-4A76-A586-1C6DA62B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Wir starten nicht mit einer pauschalen Anfrage, sondern mit der Frage, ob Aufgabe und Fähigkeit wirklich zusammenpassen.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D9E1B-08D2-4131-8BE9-365C2658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432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B8955A"/>
                </a:solidFill>
              </a:defRPr>
            </a:pPr>
            <a:r>
              <a:rPr sz="975" b="1" i="0">
                <a:solidFill>
                  <a:srgbClr val="B8955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8E2BA-3845-4B36-970D-392076EE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24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Capability 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D682E-7B35-4959-9543-C6E155E2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Leistung, Region, Kapazität, Rollen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8DF0C-DFAE-457C-BCAB-106E39CF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623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571C9-DF57-458F-A042-E84463C0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B8955A"/>
                </a:solidFill>
              </a:defRPr>
            </a:pPr>
            <a:r>
              <a:rPr sz="975" b="1" i="0">
                <a:solidFill>
                  <a:srgbClr val="B8955A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A35F9-A16F-4537-9AF5-6FBB9362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90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Partnerprofil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DD87B2-0215-4583-8630-42CB1690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10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Preislogik, Nachweise, Eskalation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A5309-4A43-464D-A3E3-059B6591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291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B4C31-242B-4DEB-A234-14ABCD14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76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B8955A"/>
                </a:solidFill>
              </a:defRPr>
            </a:pPr>
            <a:r>
              <a:rPr sz="975" b="1" i="0">
                <a:solidFill>
                  <a:srgbClr val="B8955A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928D1-068D-4B8E-8570-D9D2BECD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57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Projekt-Match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39D391-43D2-411C-8102-A671C3D2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767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Kohorte, Objekt, Zeitachse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3248E-882B-4976-9A76-AD279EA7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958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EE1A40-C7CD-487F-82BE-1892E206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435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B8955A"/>
                </a:solidFill>
              </a:defRPr>
            </a:pPr>
            <a:r>
              <a:rPr sz="975" b="1" i="0">
                <a:solidFill>
                  <a:srgbClr val="B8955A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D764B7-737F-44F3-B918-3D08E0A7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24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SOW &amp; Delivery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588320-0474-401B-AEF9-5B9E56F5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435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Freigaben, Übergaben, Feedback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FDD106-719B-4704-94B9-CE7012A4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2D668F-7A4D-460A-BA75-01737FE9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Die konkrete Beauftragung erfolgt immer projektbezogen und schriftlich.</a:t>
            </a:r>
          </a:p>
        </p:txBody>
      </p:sp>
    </p:spTree>
    <p:extLst>
      <p:ext uri="{BB962C8B-B14F-4D97-AF65-F5344CB8AC3E}">
        <p14:creationId xmlns:p14="http://schemas.microsoft.com/office/powerpoint/2010/main" val="20993154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9C4C38-C41A-4632-9277-331FF0B7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B81C4-6726-43BF-BD28-BDC48DCE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05BF3-F475-4E5B-829C-FA494453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4BE63-CCF3-494A-AC67-0F5C8C23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2BB9A-107D-4C79-80BA-A7BA6A15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DIE GRENZEN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6DF9F-F07D-4185-B803-8A419A0C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4821D-88F5-4FFC-AB69-452FFE97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Partnerschaften bleiben stark, wenn Zuständigkeiten sichtbar bleiben.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BDB9E-AE98-467D-A8E0-0C748C9D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D9E5E5"/>
                </a:solidFill>
              </a:defRPr>
            </a:pPr>
            <a:r>
              <a:rPr sz="1425" b="0" i="0">
                <a:solidFill>
                  <a:srgbClr val="D9E5E5"/>
                </a:solidFill>
              </a:rPr>
              <a:t>AMAVIO koordiniert. Partner liefern ihre eigene Fachleistung. Vertragliche und rechtliche Verantwortung bleibt klar zugeordnet.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CE06A-25FA-40E8-B946-8BAEDD49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1447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7465B"/>
          </a:solidFill>
          <a:ln xmlns:a="http://schemas.openxmlformats.org/drawingml/2006/main" w="9525">
            <a:solidFill>
              <a:srgbClr val="3F63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865F1-7325-40B9-8676-D5EEDD3B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52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1E9DC"/>
                </a:solidFill>
              </a:defRPr>
            </a:pPr>
            <a:r>
              <a:rPr sz="825" b="1" i="0">
                <a:solidFill>
                  <a:srgbClr val="F1E9DC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EB244-BCEF-4310-907E-DB3F0445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67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Fähigkeit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FA6A3-8E95-4DEA-AB23-5FA97979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581400"/>
            <a:ext cx="1447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7465B"/>
          </a:solidFill>
          <a:ln xmlns:a="http://schemas.openxmlformats.org/drawingml/2006/main" w="9525">
            <a:solidFill>
              <a:srgbClr val="3F63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FF71B-66F7-445F-83B6-11E2F7ED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52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1E9DC"/>
                </a:solidFill>
              </a:defRPr>
            </a:pPr>
            <a:r>
              <a:rPr sz="825" b="1" i="0">
                <a:solidFill>
                  <a:srgbClr val="F1E9DC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57FA0-8C12-457E-AB56-D90A4491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67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Grenze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34C0D-DC4D-4081-962C-E29846D3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81400"/>
            <a:ext cx="1447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7465B"/>
          </a:solidFill>
          <a:ln xmlns:a="http://schemas.openxmlformats.org/drawingml/2006/main" w="9525">
            <a:solidFill>
              <a:srgbClr val="3F637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5E2C6B-825B-4711-8546-D7A44356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52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1E9DC"/>
                </a:solidFill>
              </a:defRPr>
            </a:pPr>
            <a:r>
              <a:rPr sz="825" b="1" i="0">
                <a:solidFill>
                  <a:srgbClr val="F1E9DC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5B5AA-BB39-483E-8BCD-358A3CCD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67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Daten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4886B-543B-45B8-833E-6D608442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581400"/>
            <a:ext cx="1447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7465B"/>
          </a:solidFill>
          <a:ln xmlns:a="http://schemas.openxmlformats.org/drawingml/2006/main" w="9525">
            <a:solidFill>
              <a:srgbClr val="3F63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76764-4779-48DF-834E-D1A22E0C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752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1E9DC"/>
                </a:solidFill>
              </a:defRPr>
            </a:pPr>
            <a:r>
              <a:rPr sz="825" b="1" i="0">
                <a:solidFill>
                  <a:srgbClr val="F1E9DC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17352C-BAA9-4553-9E97-99F31EC0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067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Eskalation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96AD5-2833-4A1E-98B9-4FC91EDD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81400"/>
            <a:ext cx="1447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7465B"/>
          </a:solidFill>
          <a:ln xmlns:a="http://schemas.openxmlformats.org/drawingml/2006/main" w="9525">
            <a:solidFill>
              <a:srgbClr val="3F637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8EC3B-B2FF-48C2-BF21-3CC2FC4C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52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1E9DC"/>
                </a:solidFill>
              </a:defRPr>
            </a:pPr>
            <a:r>
              <a:rPr sz="825" b="1" i="0">
                <a:solidFill>
                  <a:srgbClr val="F1E9DC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7FFEAB-E2CB-4F8B-9B86-997F40AC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67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Abnahme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62AFE-4014-4A0F-A85D-C7590DF6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5709F3-A885-4B09-957E-45C678FA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Klare Grenzen schützen die Qualität auf beiden Seiten.</a:t>
            </a:r>
          </a:p>
        </p:txBody>
      </p:sp>
    </p:spTree>
    <p:extLst>
      <p:ext uri="{BB962C8B-B14F-4D97-AF65-F5344CB8AC3E}">
        <p14:creationId xmlns:p14="http://schemas.microsoft.com/office/powerpoint/2010/main" val="18789934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9D2CAF-6259-442D-9F41-213F6549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27DAE-8BC0-48FA-AE51-D404BE2D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D7B33-25AA-4ACF-BE13-F8AE424A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DEA70-108F-4D0F-BA8B-9695048F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062EE-500E-4EEC-B0AD-B76C8D92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DER NÄCHSTE SCHRITT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0B50B-CA1C-4A2D-8825-56D1110E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F17FE-0D87-4E30-AADB-12973408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Lassen Sie uns Ihre lokale Fähigkeit präzise einordnen.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6F66A-B1C6-4F93-ADD7-DF3F2F6D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D9E5E5"/>
                </a:solidFill>
              </a:defRPr>
            </a:pPr>
            <a:r>
              <a:rPr sz="1425" b="0" i="0">
                <a:solidFill>
                  <a:srgbClr val="D9E5E5"/>
                </a:solidFill>
              </a:rPr>
              <a:t>Ein 30-Minuten Capability Call zeigt, ob und wo eine Zusammenarbeit für beide Seiten sinnvoll ist.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04503-6E47-4825-97D9-A7CF158B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813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363D2-525B-4C04-B2F5-D2EE7A08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752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1">
                <a:solidFill>
                  <a:srgbClr val="FFFFFF"/>
                </a:solidFill>
              </a:defRPr>
            </a:pPr>
            <a:r>
              <a:rPr sz="1950" b="0" i="1">
                <a:solidFill>
                  <a:srgbClr val="FFFFFF"/>
                </a:solidFill>
              </a:rPr>
              <a:t>„Wir suchen nicht die längste Partnerliste.</a:t>
            </a:r>
          </a:p>
          <a:p xmlns:a="http://schemas.openxmlformats.org/drawingml/2006/main">
            <a:pPr algn="l">
              <a:buNone/>
              <a:defRPr sz="1950" b="0" i="1">
                <a:solidFill>
                  <a:srgbClr val="FFFFFF"/>
                </a:solidFill>
              </a:defRPr>
            </a:pPr>
            <a:r>
              <a:rPr sz="1950" b="0" i="1">
                <a:solidFill>
                  <a:srgbClr val="FFFFFF"/>
                </a:solidFill>
              </a:rPr>
              <a:t>Wir suchen die verlässlichste Lieferkette.“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10B28-C727-4876-AC5E-D16E857A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38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B6C6C8"/>
                </a:solidFill>
              </a:defRPr>
            </a:pPr>
            <a:r>
              <a:rPr sz="825" b="1" i="0">
                <a:solidFill>
                  <a:srgbClr val="B6C6C8"/>
                </a:solidFill>
              </a:rPr>
              <a:t>AMAVIO Partner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83D68-B0FE-479E-BF3A-A1585C10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1E9DC"/>
                </a:solidFill>
              </a:defRPr>
            </a:pPr>
            <a:r>
              <a:rPr sz="975" b="1" i="0">
                <a:solidFill>
                  <a:srgbClr val="F1E9DC"/>
                </a:solidFill>
              </a:rPr>
              <a:t>Capability 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46104-8785-42FA-86E9-01DFC339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Rolle · Region · Kapazität · Nachweise · nächstes Projektfenster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0DFA5-E384-4D6F-935E-8D444047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38230-BE5F-4799-A801-CB7967D9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AMAVIO Living · Workforce Housing &amp; Integration</a:t>
            </a:r>
          </a:p>
        </p:txBody>
      </p:sp>
    </p:spTree>
    <p:extLst>
      <p:ext uri="{BB962C8B-B14F-4D97-AF65-F5344CB8AC3E}">
        <p14:creationId xmlns:p14="http://schemas.microsoft.com/office/powerpoint/2010/main" val="6606769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2026-07-28T07:55:15.3600000Z</dcterms:created>
  <dcterms:modified xsi:type="dcterms:W3CDTF">2026-07-28T07:55:15.3600000Z</dcterms:modified>
</coreProperties>
</file>