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0fd269ab4c4a2d" /><Relationship Type="http://schemas.openxmlformats.org/officeDocument/2006/relationships/extended-properties" Target="/docProps/app.xml" Id="R75cd8eacbecc4a94" /><Relationship Type="http://schemas.openxmlformats.org/officeDocument/2006/relationships/officeDocument" Target="/ppt/presentation.xml" Id="Rc9626d7bf5284405" /></Relationships>
</file>

<file path=ppt/presentation.xml><?xml version="1.0" encoding="utf-8"?>
<p:presentation xmlns:p="http://schemas.openxmlformats.org/presentationml/2006/main">
  <p:sldMasterIdLst>
    <p:sldMasterId xmlns:r="http://schemas.openxmlformats.org/officeDocument/2006/relationships" id="2147483648" r:id="R5b1b30f2ee164c03"/>
  </p:sldMasterIdLst>
  <p:notesMasterIdLst>
    <p:notesMasterId xmlns:r="http://schemas.openxmlformats.org/officeDocument/2006/relationships" r:id="R4cd297f5461540b4"/>
  </p:notesMasterIdLst>
  <p:sldIdLst>
    <p:sldId xmlns:r="http://schemas.openxmlformats.org/officeDocument/2006/relationships" id="256" r:id="Rc0c389d6a4ce40ba"/>
    <p:sldId xmlns:r="http://schemas.openxmlformats.org/officeDocument/2006/relationships" id="257" r:id="R62903a5c607f4a1d"/>
    <p:sldId xmlns:r="http://schemas.openxmlformats.org/officeDocument/2006/relationships" id="258" r:id="R374eb1119d934f74"/>
    <p:sldId xmlns:r="http://schemas.openxmlformats.org/officeDocument/2006/relationships" id="259" r:id="R0bfe52d622154aa6"/>
    <p:sldId xmlns:r="http://schemas.openxmlformats.org/officeDocument/2006/relationships" id="260" r:id="R7c3ab59493f548ca"/>
    <p:sldId xmlns:r="http://schemas.openxmlformats.org/officeDocument/2006/relationships" id="261" r:id="Ra30f3f7455b247eb"/>
    <p:sldId xmlns:r="http://schemas.openxmlformats.org/officeDocument/2006/relationships" id="262" r:id="R3582b638db4a4f3e"/>
    <p:sldId xmlns:r="http://schemas.openxmlformats.org/officeDocument/2006/relationships" id="263" r:id="R056f2558a4a04d71"/>
    <p:sldId xmlns:r="http://schemas.openxmlformats.org/officeDocument/2006/relationships" id="264" r:id="R6edfe3f1f9de4b90"/>
    <p:sldId xmlns:r="http://schemas.openxmlformats.org/officeDocument/2006/relationships" id="265" r:id="Red88a2a15de94d5f"/>
    <p:sldId xmlns:r="http://schemas.openxmlformats.org/officeDocument/2006/relationships" id="266" r:id="R3c10e52cb4264eec"/>
    <p:sldId xmlns:r="http://schemas.openxmlformats.org/officeDocument/2006/relationships" id="267" r:id="R5ce5a28127e743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1b67242724eff" /><Relationship Type="http://schemas.openxmlformats.org/officeDocument/2006/relationships/slideMaster" Target="/ppt/slideMasters/slideMaster1.xml" Id="R5b1b30f2ee164c03" /><Relationship Type="http://schemas.openxmlformats.org/officeDocument/2006/relationships/notesMaster" Target="/ppt/notesMasters/notesMaster1.xml" Id="R4cd297f5461540b4" /><Relationship Type="http://schemas.openxmlformats.org/officeDocument/2006/relationships/presProps" Target="/ppt/presProps.xml" Id="Rd8fa6a3c6c094a80" /><Relationship Type="http://schemas.openxmlformats.org/officeDocument/2006/relationships/tableStyles" Target="/ppt/tableStyles.xml" Id="R6909506fe26048c8" /><Relationship Type="http://schemas.openxmlformats.org/officeDocument/2006/relationships/slide" Target="/ppt/slides/slide1.xml" Id="Rc0c389d6a4ce40ba" /><Relationship Type="http://schemas.openxmlformats.org/officeDocument/2006/relationships/slide" Target="/ppt/slides/slide2.xml" Id="R62903a5c607f4a1d" /><Relationship Type="http://schemas.openxmlformats.org/officeDocument/2006/relationships/slide" Target="/ppt/slides/slide3.xml" Id="R374eb1119d934f74" /><Relationship Type="http://schemas.openxmlformats.org/officeDocument/2006/relationships/slide" Target="/ppt/slides/slide4.xml" Id="R0bfe52d622154aa6" /><Relationship Type="http://schemas.openxmlformats.org/officeDocument/2006/relationships/slide" Target="/ppt/slides/slide5.xml" Id="R7c3ab59493f548ca" /><Relationship Type="http://schemas.openxmlformats.org/officeDocument/2006/relationships/slide" Target="/ppt/slides/slide6.xml" Id="Ra30f3f7455b247eb" /><Relationship Type="http://schemas.openxmlformats.org/officeDocument/2006/relationships/slide" Target="/ppt/slides/slide7.xml" Id="R3582b638db4a4f3e" /><Relationship Type="http://schemas.openxmlformats.org/officeDocument/2006/relationships/slide" Target="/ppt/slides/slide8.xml" Id="R056f2558a4a04d71" /><Relationship Type="http://schemas.openxmlformats.org/officeDocument/2006/relationships/slide" Target="/ppt/slides/slide9.xml" Id="R6edfe3f1f9de4b90" /><Relationship Type="http://schemas.openxmlformats.org/officeDocument/2006/relationships/slide" Target="/ppt/slides/slide10.xml" Id="Red88a2a15de94d5f" /><Relationship Type="http://schemas.openxmlformats.org/officeDocument/2006/relationships/slide" Target="/ppt/slides/slide11.xml" Id="R3c10e52cb4264eec" /><Relationship Type="http://schemas.openxmlformats.org/officeDocument/2006/relationships/slide" Target="/ppt/slides/slide12.xml" Id="R5ce5a28127e743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a6a70a67604f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7d26f290dd4c4f" /><Relationship Type="http://schemas.openxmlformats.org/officeDocument/2006/relationships/notesMaster" Target="/ppt/notesMasters/notesMaster1.xml" Id="Rd4682b397d4f4f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79876ffee4bea" /><Relationship Type="http://schemas.openxmlformats.org/officeDocument/2006/relationships/notesMaster" Target="/ppt/notesMasters/notesMaster1.xml" Id="R5d4e1166abc741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963d7c5eb45d2" /><Relationship Type="http://schemas.openxmlformats.org/officeDocument/2006/relationships/notesMaster" Target="/ppt/notesMasters/notesMaster1.xml" Id="Re87598c4ae184f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871489b9c844a2" /><Relationship Type="http://schemas.openxmlformats.org/officeDocument/2006/relationships/notesMaster" Target="/ppt/notesMasters/notesMaster1.xml" Id="R9ad2151f2da749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e7ba7640a9460c" /><Relationship Type="http://schemas.openxmlformats.org/officeDocument/2006/relationships/notesMaster" Target="/ppt/notesMasters/notesMaster1.xml" Id="Ra09b95e6012448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70027ad6404000" /><Relationship Type="http://schemas.openxmlformats.org/officeDocument/2006/relationships/notesMaster" Target="/ppt/notesMasters/notesMaster1.xml" Id="R7522a0e977674a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9fed17ce4145a8" /><Relationship Type="http://schemas.openxmlformats.org/officeDocument/2006/relationships/notesMaster" Target="/ppt/notesMasters/notesMaster1.xml" Id="R151712819d7e4a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79ced7c74246fa" /><Relationship Type="http://schemas.openxmlformats.org/officeDocument/2006/relationships/notesMaster" Target="/ppt/notesMasters/notesMaster1.xml" Id="R2536d670a5fc4c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8bec91770d4638" /><Relationship Type="http://schemas.openxmlformats.org/officeDocument/2006/relationships/notesMaster" Target="/ppt/notesMasters/notesMaster1.xml" Id="R48173903bafd43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92adcb7215483f" /><Relationship Type="http://schemas.openxmlformats.org/officeDocument/2006/relationships/notesMaster" Target="/ppt/notesMasters/notesMaster1.xml" Id="R019ef6b7ad0340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f9a271d2b4487e" /><Relationship Type="http://schemas.openxmlformats.org/officeDocument/2006/relationships/notesMaster" Target="/ppt/notesMasters/notesMaster1.xml" Id="R20dd0ea7e04d49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a7f14e4b2b4288" /><Relationship Type="http://schemas.openxmlformats.org/officeDocument/2006/relationships/notesMaster" Target="/ppt/notesMasters/notesMaster1.xml" Id="Rf9a84ba17de540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Quellen: AMAVIO One Pitch NRW V15, NEXT Executive Summary FINAL V2 und AMAVIO Website-Asset journey-arrival-field-adobe. Das Motiv zeigt Düsseldorf mit Rheinturm. Produktdarstellung ist Zielarchitektur mit servicegeführtem Markteintritt.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Kundensegmente und Wertangebot. Quellen: AMAVIO One Pitch NRW V15, Folien 1, 2 und 9; NEXT Executive Summary FINAL V2, Abschnitte Problem sowie Markt und Wettbewerb. Die Abgrenzung beschreibt Funktionskategorien und behauptet keine pauschale Leistungslücke jedes einzelnen Wettbewerbers. Das Bild enthält keine Kundendaten.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 Wertangebot. Quelle: AMAVIO One Pitch NRW V15, Folien 2, 4 und 6. Die vier Zugänge bilden die Zielarchitektur; noch nicht alle Zugänge sind produktiv entwickelt. Das Bild zeigt Düsseldorf mit Rheinturm.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Wertangebot und Schlüsselressourcen. Quellen: AMAVIO Website-Konzeptdemo vom 17.09.2026, Pitch NRW V15, MVP-Lastenheft und Datenstruktur im aktuellen Projektstand. Die Screens zeigen ausschließlich illustrative Daten und keinen produktiven Kundendatenbetrieb.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Kundenbeziehung und Wertangebot. Quellen: AMAVIO One Pitch NRW V15, Folien 3 und 4; NEXT Executive Summary FINAL V2. Die App-Module sind Zielarchitektur und werden nicht als bereits produktiv verfügbar dargestellt. Das Motiv zeigt Düsseldorf mit Rheinturm.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 Einnahmequellen. Quellen: AMAVIO One Pitch NRW V15, Folien 7, 8 und 14; aktuelle Finanzplanung und NEXT Executive Summary FINAL V2. Preise netto. 237.700 EUR sind Planwert für das erste rollierende Planjahr. Der geringere manuelle Aufwand ist ein Entwicklungsziel der Standardisierung, kein bereits gemessener Effekt.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Kanäle und Kundenbeziehungen. Quelle: AMAVIO One Pitch NRW V15, Folie 16; NEXT Executive Summary FINAL V2. Sämtliche Funnelwerte sind Zielwerte und keine Kundenzusagen.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Schlüsselaktivitäten und Schlüsselressourcen. Quellen: AMAVIO One Pitch NRW V15, Folien 6, 10, 11 und 15; NEXT Executive Summary FINAL V2. Rund 40 internationale Pflegefachkräfte an zehn Standorten beziehen sich ausschließlich auf persönliche Vorerfahrung von Zaki Amawi vor AMAVIO und nicht auf eine AMAVIO-Kundenreferenz.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Canvas-Bausteine Schlüsselpartner und Kostenstruktur. Quellen: AMAVIO One Pitch NRW V15 und NEXT Executive Summary FINAL V2. Partner werden nur nach belastbarer Zustimmung als formale Partner bezeichnet.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und Skalierungslogik. Quellen: AMAVIO One Pitch NRW V15, Folie 11; NEXT Executive Summary FINAL V2. Das Motiv zeigt Düsseldorf mit Rheinturm. Europäische Skalierung ist Entwicklungsziel und kein bestehender Marktzugang.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lokaler AMAVIO One App V2.1-Prototyp vom 25.09.2026. Die Darstellung belegt einen lokal klickbaren Entwicklungsstand, nicht produktive Marktreife. Alle Daten sind synthetisch; Authentifizierung, Backend, Hosting, Veröffentlichung und ACC-Integration sind nicht produktiv umgesetzt.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Gründer- und Düsseldorf-Bezug auf Basis der bestätigten Angaben von Zaki Amawi im aktuellen Chat. Der benannte NEXT-Hebel folgt der Executive Summary FINAL V2 und beschreibt den geplanten Nutzen einer Auszeichnung, nicht eine Förder- oder Gewinnzusage. Das Porträt stammt aus dem aktuellen AMAVIO Website-Asset. Keine Bewerbung wurde versandt oder eingereicht.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b97bd8eb7f47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bfdd2a30ef4921" /><Relationship Type="http://schemas.openxmlformats.org/officeDocument/2006/relationships/slideLayout" Target="/ppt/slideLayouts/slideLayout1.xml" Id="R13e751c25ad14c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e751c25ad14c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842caf45d4d1a" /><Relationship Type="http://schemas.openxmlformats.org/officeDocument/2006/relationships/image" Target="/ppt/media/image.jpeg" Id="Rf2f475965e254377" /><Relationship Type="http://schemas.openxmlformats.org/officeDocument/2006/relationships/image" Target="/ppt/media/image.png" Id="R0d28c19fbd654c61" /><Relationship Type="http://schemas.openxmlformats.org/officeDocument/2006/relationships/notesSlide" Target="/ppt/notesSlides/notesSlide1.xml" Id="R352b81583f1d42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4e7c7c7c0140be" /><Relationship Type="http://schemas.openxmlformats.org/officeDocument/2006/relationships/image" Target="/ppt/media/image2.jpeg" Id="Rc4d8face5d5e48cb" /><Relationship Type="http://schemas.openxmlformats.org/officeDocument/2006/relationships/image" Target="/ppt/media/image2.png" Id="Rcba3446846254792" /><Relationship Type="http://schemas.openxmlformats.org/officeDocument/2006/relationships/notesSlide" Target="/ppt/notesSlides/notesSlide2.xml" Id="Rea6fe349702347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95bcfdf42b424f" /><Relationship Type="http://schemas.openxmlformats.org/officeDocument/2006/relationships/image" Target="/ppt/media/image3.jpeg" Id="Re569c093cd7642b9" /><Relationship Type="http://schemas.openxmlformats.org/officeDocument/2006/relationships/image" Target="/ppt/media/image3.png" Id="R3cc3691e7d0a4002" /><Relationship Type="http://schemas.openxmlformats.org/officeDocument/2006/relationships/notesSlide" Target="/ppt/notesSlides/notesSlide3.xml" Id="Rf28cbceed7bd42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46b70be3cd43a1" /><Relationship Type="http://schemas.openxmlformats.org/officeDocument/2006/relationships/image" Target="/ppt/media/image4.png" Id="R6520e6895e814950" /><Relationship Type="http://schemas.openxmlformats.org/officeDocument/2006/relationships/image" Target="/ppt/media/image5.png" Id="R6a97c61f14e544a0" /><Relationship Type="http://schemas.openxmlformats.org/officeDocument/2006/relationships/image" Target="/ppt/media/image6.png" Id="R98571ff60f8e4ed9" /><Relationship Type="http://schemas.openxmlformats.org/officeDocument/2006/relationships/notesSlide" Target="/ppt/notesSlides/notesSlide4.xml" Id="R7349e629f1a74e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5e0adef94c40dd" /><Relationship Type="http://schemas.openxmlformats.org/officeDocument/2006/relationships/image" Target="/ppt/media/image4.jpeg" Id="Rca3ef2b2f6024274" /><Relationship Type="http://schemas.openxmlformats.org/officeDocument/2006/relationships/image" Target="/ppt/media/image7.png" Id="R7dfd9b4004314f84" /><Relationship Type="http://schemas.openxmlformats.org/officeDocument/2006/relationships/notesSlide" Target="/ppt/notesSlides/notesSlide5.xml" Id="R829dbf51d73f40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7e9a89de8d4b28" /><Relationship Type="http://schemas.openxmlformats.org/officeDocument/2006/relationships/image" Target="/ppt/media/image8.png" Id="R84a2e0412c364104" /><Relationship Type="http://schemas.openxmlformats.org/officeDocument/2006/relationships/notesSlide" Target="/ppt/notesSlides/notesSlide6.xml" Id="R634ff94eec334f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cc339aef8d4492" /><Relationship Type="http://schemas.openxmlformats.org/officeDocument/2006/relationships/image" Target="/ppt/media/image5.jpeg" Id="R22bd368999e54b2e" /><Relationship Type="http://schemas.openxmlformats.org/officeDocument/2006/relationships/image" Target="/ppt/media/image9.png" Id="Re9759d6d20c44e15" /><Relationship Type="http://schemas.openxmlformats.org/officeDocument/2006/relationships/notesSlide" Target="/ppt/notesSlides/notesSlide7.xml" Id="Rdae2e3e1abbd4c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0d02653213492e" /><Relationship Type="http://schemas.openxmlformats.org/officeDocument/2006/relationships/image" Target="/ppt/media/image10.png" Id="R590d278d77824699" /><Relationship Type="http://schemas.openxmlformats.org/officeDocument/2006/relationships/notesSlide" Target="/ppt/notesSlides/notesSlide8.xml" Id="R4b41d3d3d02749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8d3e369ada4b8e" /><Relationship Type="http://schemas.openxmlformats.org/officeDocument/2006/relationships/image" Target="/ppt/media/image11.png" Id="R42abd131a921443e" /><Relationship Type="http://schemas.openxmlformats.org/officeDocument/2006/relationships/image" Target="/ppt/media/image12.png" Id="R0f197de3fc28477e" /><Relationship Type="http://schemas.openxmlformats.org/officeDocument/2006/relationships/notesSlide" Target="/ppt/notesSlides/notesSlide9.xml" Id="R29f8dc9a94ad44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0c8516f35f4f39" /><Relationship Type="http://schemas.openxmlformats.org/officeDocument/2006/relationships/image" Target="/ppt/media/image13.png" Id="R767b9522eb484086" /><Relationship Type="http://schemas.openxmlformats.org/officeDocument/2006/relationships/image" Target="/ppt/media/image14.png" Id="Rfc8621afec9b4f65" /><Relationship Type="http://schemas.openxmlformats.org/officeDocument/2006/relationships/notesSlide" Target="/ppt/notesSlides/notesSlide10.xml" Id="R61a4a528e3514b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96caf471504b37" /><Relationship Type="http://schemas.openxmlformats.org/officeDocument/2006/relationships/image" Target="/ppt/media/image15.png" Id="R2b618a9f1848415c" /><Relationship Type="http://schemas.openxmlformats.org/officeDocument/2006/relationships/image" Target="/ppt/media/image16.png" Id="R5bf206c9476f4464" /><Relationship Type="http://schemas.openxmlformats.org/officeDocument/2006/relationships/image" Target="/ppt/media/image17.png" Id="Rd770b94ac6764442" /><Relationship Type="http://schemas.openxmlformats.org/officeDocument/2006/relationships/image" Target="/ppt/media/image18.png" Id="Rf5522ba7907a4b5c" /><Relationship Type="http://schemas.openxmlformats.org/officeDocument/2006/relationships/notesSlide" Target="/ppt/notesSlides/notesSlide11.xml" Id="Rdf84c76e407d42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055af6a41143f3" /><Relationship Type="http://schemas.openxmlformats.org/officeDocument/2006/relationships/image" Target="/ppt/media/image6.jpeg" Id="R52599d1480d1418a" /><Relationship Type="http://schemas.openxmlformats.org/officeDocument/2006/relationships/image" Target="/ppt/media/image19.png" Id="R3dfe22c7faa747d4" /><Relationship Type="http://schemas.openxmlformats.org/officeDocument/2006/relationships/notesSlide" Target="/ppt/notesSlides/notesSlide12.xml" Id="R15efc396573c4d3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2f475965e2543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E7330C-A33A-4981-9DED-BEBD5910798A}"/>
              </a:ext>
            </a:extLst>
          </p:cNvPr>
          <p:cNvSpPr>
            <a:spLocks xmlns:a="http://schemas.openxmlformats.org/drawingml/2006/main" noGrp="1"/>
          </p:cNvSpPr>
          <p:nvPr/>
        </p:nvSpPr>
        <p:spPr>
          <a:xfrm xmlns:a="http://schemas.openxmlformats.org/drawingml/2006/main">
            <a:off x="0" y="0"/>
            <a:ext cx="6667500" cy="6858000"/>
          </a:xfrm>
          <a:prstGeom xmlns:a="http://schemas.openxmlformats.org/drawingml/2006/main" prst="rect">
            <a:avLst/>
          </a:prstGeom>
          <a:solidFill xmlns:a="http://schemas.openxmlformats.org/drawingml/2006/main">
            <a:srgbClr val="071527">
              <a:alpha val="90000"/>
            </a:srgbClr>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d28c19fbd654c61"/>
          <a:stretch xmlns:a="http://schemas.openxmlformats.org/drawingml/2006/main"/>
        </p:blipFill>
        <p:spPr>
          <a:xfrm xmlns:a="http://schemas.openxmlformats.org/drawingml/2006/main">
            <a:off x="634164" y="419100"/>
            <a:ext cx="1989221" cy="60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D70EDA-6D9A-48BE-9360-15778354897B}"/>
              </a:ext>
            </a:extLst>
          </p:cNvPr>
          <p:cNvSpPr>
            <a:spLocks xmlns:a="http://schemas.openxmlformats.org/drawingml/2006/main" noGrp="1"/>
          </p:cNvSpPr>
          <p:nvPr/>
        </p:nvSpPr>
        <p:spPr>
          <a:xfrm xmlns:a="http://schemas.openxmlformats.org/drawingml/2006/main">
            <a:off x="609600" y="15621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BUSINESS MODEL CANVAS | JURYFASSUNG</a:t>
            </a:r>
          </a:p>
        </p:txBody>
      </p:sp>
      <p:sp>
        <p:nvSpPr>
          <p:cNvPr id="5" name="">
            <a:extLst xmlns:a="http://schemas.openxmlformats.org/drawingml/2006/main">
              <a:ext uri="{FF2B5EF4-FFF2-40B4-BE49-F238E27FC236}">
                <a16:creationId xmlns:a16="http://schemas.microsoft.com/office/drawing/2014/main" id="{5335B3FB-C1D5-4BFB-8FD1-1DCA8AF7ACF7}"/>
              </a:ext>
            </a:extLst>
          </p:cNvPr>
          <p:cNvSpPr>
            <a:spLocks xmlns:a="http://schemas.openxmlformats.org/drawingml/2006/main" noGrp="1"/>
          </p:cNvSpPr>
          <p:nvPr/>
        </p:nvSpPr>
        <p:spPr>
          <a:xfrm xmlns:a="http://schemas.openxmlformats.org/drawingml/2006/main">
            <a:off x="609600" y="1952625"/>
            <a:ext cx="571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32"/>
          </a:bodyPr>
          <a:lstStyle xmlns:a="http://schemas.openxmlformats.org/drawingml/2006/main"/>
          <a:p xmlns:a="http://schemas.openxmlformats.org/drawingml/2006/main">
            <a:pPr algn="l">
              <a:lnSpc>
                <a:spcPct val="92000"/>
              </a:lnSpc>
              <a:buNone/>
              <a:defRPr sz="4050" b="1" i="0">
                <a:solidFill>
                  <a:srgbClr val="F6F3EA"/>
                </a:solidFill>
                <a:latin typeface="Avenir Next"/>
                <a:ea typeface="Avenir Next"/>
                <a:cs typeface="Avenir Next"/>
              </a:defRPr>
            </a:pPr>
            <a:r>
              <a:rPr sz="4050" b="1" i="0">
                <a:solidFill>
                  <a:srgbClr val="F6F3EA"/>
                </a:solidFill>
                <a:latin typeface="Avenir Next"/>
                <a:ea typeface="Avenir Next"/>
                <a:cs typeface="Avenir Next"/>
              </a:rPr>
              <a:t>Digitale Infrastruktur für</a:t>
            </a:r>
          </a:p>
          <a:p xmlns:a="http://schemas.openxmlformats.org/drawingml/2006/main">
            <a:pPr algn="l">
              <a:lnSpc>
                <a:spcPct val="92000"/>
              </a:lnSpc>
              <a:buNone/>
              <a:defRPr sz="4050" b="1" i="0">
                <a:solidFill>
                  <a:srgbClr val="F6F3EA"/>
                </a:solidFill>
                <a:latin typeface="Avenir Next"/>
                <a:ea typeface="Avenir Next"/>
                <a:cs typeface="Avenir Next"/>
              </a:defRPr>
            </a:pPr>
            <a:r>
              <a:rPr sz="4050" b="1" i="0">
                <a:solidFill>
                  <a:srgbClr val="F6F3EA"/>
                </a:solidFill>
                <a:latin typeface="Avenir Next"/>
                <a:ea typeface="Avenir Next"/>
                <a:cs typeface="Avenir Next"/>
              </a:rPr>
              <a:t>Workforce Arrival</a:t>
            </a:r>
          </a:p>
        </p:txBody>
      </p:sp>
      <p:sp>
        <p:nvSpPr>
          <p:cNvPr id="6" name="">
            <a:extLst xmlns:a="http://schemas.openxmlformats.org/drawingml/2006/main">
              <a:ext uri="{FF2B5EF4-FFF2-40B4-BE49-F238E27FC236}">
                <a16:creationId xmlns:a16="http://schemas.microsoft.com/office/drawing/2014/main" id="{CE59241C-CD9D-466C-920F-29AD03EEC5C7}"/>
              </a:ext>
            </a:extLst>
          </p:cNvPr>
          <p:cNvSpPr>
            <a:spLocks xmlns:a="http://schemas.openxmlformats.org/drawingml/2006/main" noGrp="1"/>
          </p:cNvSpPr>
          <p:nvPr/>
        </p:nvSpPr>
        <p:spPr>
          <a:xfrm xmlns:a="http://schemas.openxmlformats.org/drawingml/2006/main">
            <a:off x="609600" y="3714750"/>
            <a:ext cx="5286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50" b="0" i="0">
                <a:solidFill>
                  <a:srgbClr val="D7DFE8"/>
                </a:solidFill>
                <a:latin typeface="Avenir Next"/>
                <a:ea typeface="Avenir Next"/>
                <a:cs typeface="Avenir Next"/>
              </a:defRPr>
            </a:pPr>
            <a:r>
              <a:rPr sz="1950" b="0" i="0">
                <a:solidFill>
                  <a:srgbClr val="D7DFE8"/>
                </a:solidFill>
                <a:latin typeface="Avenir Next"/>
                <a:ea typeface="Avenir Next"/>
                <a:cs typeface="Avenir Next"/>
              </a:rPr>
              <a:t>Ein gemeinsamer Prozess für Arbeitgeber, Fachkräfte, Wohnraum und lokale Partner.</a:t>
            </a:r>
          </a:p>
        </p:txBody>
      </p:sp>
      <p:sp>
        <p:nvSpPr>
          <p:cNvPr id="7" name="">
            <a:extLst xmlns:a="http://schemas.openxmlformats.org/drawingml/2006/main">
              <a:ext uri="{FF2B5EF4-FFF2-40B4-BE49-F238E27FC236}">
                <a16:creationId xmlns:a16="http://schemas.microsoft.com/office/drawing/2014/main" id="{AEC631F6-1E1F-4197-A0A3-0E95A967CE4B}"/>
              </a:ext>
            </a:extLst>
          </p:cNvPr>
          <p:cNvSpPr>
            <a:spLocks xmlns:a="http://schemas.openxmlformats.org/drawingml/2006/main" noGrp="1"/>
          </p:cNvSpPr>
          <p:nvPr/>
        </p:nvSpPr>
        <p:spPr>
          <a:xfrm xmlns:a="http://schemas.openxmlformats.org/drawingml/2006/main">
            <a:off x="609600" y="4953000"/>
            <a:ext cx="2095500" cy="0"/>
          </a:xfrm>
          <a:prstGeom xmlns:a="http://schemas.openxmlformats.org/drawingml/2006/main" prst="line">
            <a:avLst/>
          </a:prstGeom>
          <a:noFill xmlns:a="http://schemas.openxmlformats.org/drawingml/2006/main"/>
          <a:ln xmlns:a="http://schemas.openxmlformats.org/drawingml/2006/main" w="28575">
            <a:solidFill>
              <a:srgbClr val="C8A25A"/>
            </a:solidFill>
            <a:prstDash val="solid"/>
          </a:ln>
        </p:spPr>
      </p:sp>
      <p:sp>
        <p:nvSpPr>
          <p:cNvPr id="8" name="">
            <a:extLst xmlns:a="http://schemas.openxmlformats.org/drawingml/2006/main">
              <a:ext uri="{FF2B5EF4-FFF2-40B4-BE49-F238E27FC236}">
                <a16:creationId xmlns:a16="http://schemas.microsoft.com/office/drawing/2014/main" id="{FAA053AC-62AB-4A3D-AA10-571F075B57CD}"/>
              </a:ext>
            </a:extLst>
          </p:cNvPr>
          <p:cNvSpPr>
            <a:spLocks xmlns:a="http://schemas.openxmlformats.org/drawingml/2006/main" noGrp="1"/>
          </p:cNvSpPr>
          <p:nvPr/>
        </p:nvSpPr>
        <p:spPr>
          <a:xfrm xmlns:a="http://schemas.openxmlformats.org/drawingml/2006/main">
            <a:off x="609600" y="52578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Zaki Amawi</a:t>
            </a:r>
          </a:p>
        </p:txBody>
      </p:sp>
      <p:sp>
        <p:nvSpPr>
          <p:cNvPr id="9" name="">
            <a:extLst xmlns:a="http://schemas.openxmlformats.org/drawingml/2006/main">
              <a:ext uri="{FF2B5EF4-FFF2-40B4-BE49-F238E27FC236}">
                <a16:creationId xmlns:a16="http://schemas.microsoft.com/office/drawing/2014/main" id="{DEE0C3DC-035F-43CE-AE03-00325668CD76}"/>
              </a:ext>
            </a:extLst>
          </p:cNvPr>
          <p:cNvSpPr>
            <a:spLocks xmlns:a="http://schemas.openxmlformats.org/drawingml/2006/main" noGrp="1"/>
          </p:cNvSpPr>
          <p:nvPr/>
        </p:nvSpPr>
        <p:spPr>
          <a:xfrm xmlns:a="http://schemas.openxmlformats.org/drawingml/2006/main">
            <a:off x="609600" y="56578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BFC9D4"/>
                </a:solidFill>
                <a:latin typeface="Avenir Next"/>
                <a:ea typeface="Avenir Next"/>
                <a:cs typeface="Avenir Next"/>
              </a:defRPr>
            </a:pPr>
            <a:r>
              <a:rPr sz="1275" b="0" i="0">
                <a:solidFill>
                  <a:srgbClr val="BFC9D4"/>
                </a:solidFill>
                <a:latin typeface="Avenir Next"/>
                <a:ea typeface="Avenir Next"/>
                <a:cs typeface="Avenir Next"/>
              </a:rPr>
              <a:t>NEXT Award Düsseldorf 2026</a:t>
            </a:r>
          </a:p>
        </p:txBody>
      </p:sp>
      <p:sp>
        <p:nvSpPr>
          <p:cNvPr id="10" name="">
            <a:extLst xmlns:a="http://schemas.openxmlformats.org/drawingml/2006/main">
              <a:ext uri="{FF2B5EF4-FFF2-40B4-BE49-F238E27FC236}">
                <a16:creationId xmlns:a16="http://schemas.microsoft.com/office/drawing/2014/main" id="{141E17CC-0421-4A8E-9D41-A9DACCB64256}"/>
              </a:ext>
            </a:extLst>
          </p:cNvPr>
          <p:cNvSpPr>
            <a:spLocks xmlns:a="http://schemas.openxmlformats.org/drawingml/2006/main" noGrp="1"/>
          </p:cNvSpPr>
          <p:nvPr/>
        </p:nvSpPr>
        <p:spPr>
          <a:xfrm xmlns:a="http://schemas.openxmlformats.org/drawingml/2006/main">
            <a:off x="609600" y="5962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C8A25A"/>
                </a:solidFill>
                <a:latin typeface="Avenir Next"/>
                <a:ea typeface="Avenir Next"/>
                <a:cs typeface="Avenir Next"/>
              </a:defRPr>
            </a:pPr>
            <a:r>
              <a:rPr sz="1125" b="0" i="0">
                <a:solidFill>
                  <a:srgbClr val="C8A25A"/>
                </a:solidFill>
                <a:latin typeface="Avenir Next"/>
                <a:ea typeface="Avenir Next"/>
                <a:cs typeface="Avenir Next"/>
              </a:rPr>
              <a:t>24.09.2026</a:t>
            </a:r>
          </a:p>
        </p:txBody>
      </p:sp>
    </p:spTree>
    <p:extLst>
      <p:ext uri="{BB962C8B-B14F-4D97-AF65-F5344CB8AC3E}">
        <p14:creationId xmlns:p14="http://schemas.microsoft.com/office/powerpoint/2010/main" val="1052020829"/>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4d8face5d5e48cb"/>
          <a:srcRect xmlns:a="http://schemas.openxmlformats.org/drawingml/2006/main" l="28113" t="0" r="28113"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574DCD-41FE-4019-A5FF-EB8C7A972871}"/>
              </a:ext>
            </a:extLst>
          </p:cNvPr>
          <p:cNvSpPr>
            <a:spLocks xmlns:a="http://schemas.openxmlformats.org/drawingml/2006/main" noGrp="1"/>
          </p:cNvSpPr>
          <p:nvPr/>
        </p:nvSpPr>
        <p:spPr>
          <a:xfrm xmlns:a="http://schemas.openxmlformats.org/drawingml/2006/main">
            <a:off x="6324600" y="0"/>
            <a:ext cx="533400" cy="6858000"/>
          </a:xfrm>
          <a:prstGeom xmlns:a="http://schemas.openxmlformats.org/drawingml/2006/main" prst="rect">
            <a:avLst/>
          </a:prstGeom>
          <a:solidFill xmlns:a="http://schemas.openxmlformats.org/drawingml/2006/main">
            <a:srgbClr val="071527"/>
          </a:solidFill>
          <a:ln xmlns:a="http://schemas.openxmlformats.org/drawingml/2006/main" w="0">
            <a:no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ba3446846254792"/>
          <a:stretch xmlns:a="http://schemas.openxmlformats.org/drawingml/2006/main"/>
        </p:blipFill>
        <p:spPr>
          <a:xfrm xmlns:a="http://schemas.openxmlformats.org/drawingml/2006/main">
            <a:off x="639679" y="323850"/>
            <a:ext cx="1616242" cy="495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BD8C48-0414-44DA-A14F-389742AB2A5A}"/>
              </a:ext>
            </a:extLst>
          </p:cNvPr>
          <p:cNvSpPr>
            <a:spLocks xmlns:a="http://schemas.openxmlformats.org/drawingml/2006/main" noGrp="1"/>
          </p:cNvSpPr>
          <p:nvPr/>
        </p:nvSpPr>
        <p:spPr>
          <a:xfrm xmlns:a="http://schemas.openxmlformats.org/drawingml/2006/main">
            <a:off x="609600" y="12001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A78342"/>
                </a:solidFill>
                <a:latin typeface="Avenir Next"/>
                <a:ea typeface="Avenir Next"/>
                <a:cs typeface="Avenir Next"/>
              </a:defRPr>
            </a:pPr>
            <a:r>
              <a:rPr sz="1125" b="1" i="0">
                <a:solidFill>
                  <a:srgbClr val="A78342"/>
                </a:solidFill>
                <a:latin typeface="Avenir Next"/>
                <a:ea typeface="Avenir Next"/>
                <a:cs typeface="Avenir Next"/>
              </a:rPr>
              <a:t>PROBLEM UND KUNDENSEGMENT</a:t>
            </a:r>
          </a:p>
        </p:txBody>
      </p:sp>
      <p:sp>
        <p:nvSpPr>
          <p:cNvPr id="5" name="">
            <a:extLst xmlns:a="http://schemas.openxmlformats.org/drawingml/2006/main">
              <a:ext uri="{FF2B5EF4-FFF2-40B4-BE49-F238E27FC236}">
                <a16:creationId xmlns:a16="http://schemas.microsoft.com/office/drawing/2014/main" id="{F2470FCB-C897-4F83-995D-64BDE1D4A818}"/>
              </a:ext>
            </a:extLst>
          </p:cNvPr>
          <p:cNvSpPr>
            <a:spLocks xmlns:a="http://schemas.openxmlformats.org/drawingml/2006/main" noGrp="1"/>
          </p:cNvSpPr>
          <p:nvPr/>
        </p:nvSpPr>
        <p:spPr>
          <a:xfrm xmlns:a="http://schemas.openxmlformats.org/drawingml/2006/main">
            <a:off x="609600" y="1562100"/>
            <a:ext cx="5334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450" b="1" i="0">
                <a:solidFill>
                  <a:srgbClr val="071527"/>
                </a:solidFill>
                <a:latin typeface="Avenir Next"/>
                <a:ea typeface="Avenir Next"/>
                <a:cs typeface="Avenir Next"/>
              </a:defRPr>
            </a:pPr>
            <a:r>
              <a:rPr sz="3450" b="1" i="0">
                <a:solidFill>
                  <a:srgbClr val="071527"/>
                </a:solidFill>
                <a:latin typeface="Avenir Next"/>
                <a:ea typeface="Avenir Next"/>
                <a:cs typeface="Avenir Next"/>
              </a:rPr>
              <a:t>Die operative Lücke nach der Personalzusage</a:t>
            </a:r>
          </a:p>
        </p:txBody>
      </p:sp>
      <p:sp>
        <p:nvSpPr>
          <p:cNvPr id="6" name="">
            <a:extLst xmlns:a="http://schemas.openxmlformats.org/drawingml/2006/main">
              <a:ext uri="{FF2B5EF4-FFF2-40B4-BE49-F238E27FC236}">
                <a16:creationId xmlns:a16="http://schemas.microsoft.com/office/drawing/2014/main" id="{B5F89328-DC13-4296-98AD-943B4FDE0285}"/>
              </a:ext>
            </a:extLst>
          </p:cNvPr>
          <p:cNvSpPr>
            <a:spLocks xmlns:a="http://schemas.openxmlformats.org/drawingml/2006/main" noGrp="1"/>
          </p:cNvSpPr>
          <p:nvPr/>
        </p:nvSpPr>
        <p:spPr>
          <a:xfrm xmlns:a="http://schemas.openxmlformats.org/drawingml/2006/main">
            <a:off x="609600" y="2914650"/>
            <a:ext cx="5143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0">
                <a:solidFill>
                  <a:srgbClr val="111820"/>
                </a:solidFill>
                <a:latin typeface="Avenir Next"/>
                <a:ea typeface="Avenir Next"/>
                <a:cs typeface="Avenir Next"/>
              </a:defRPr>
            </a:pPr>
            <a:r>
              <a:rPr sz="1875" b="0" i="0">
                <a:solidFill>
                  <a:srgbClr val="111820"/>
                </a:solidFill>
                <a:latin typeface="Avenir Next"/>
                <a:ea typeface="Avenir Next"/>
                <a:cs typeface="Avenir Next"/>
              </a:rPr>
              <a:t>Recruiting endet. Ankunft, Wohnen und Alltag beginnen in getrennten Systemen.</a:t>
            </a:r>
          </a:p>
        </p:txBody>
      </p:sp>
      <p:sp>
        <p:nvSpPr>
          <p:cNvPr id="7" name="">
            <a:extLst xmlns:a="http://schemas.openxmlformats.org/drawingml/2006/main">
              <a:ext uri="{FF2B5EF4-FFF2-40B4-BE49-F238E27FC236}">
                <a16:creationId xmlns:a16="http://schemas.microsoft.com/office/drawing/2014/main" id="{75EF151B-ACC5-457A-A13C-F6EFC9394C4F}"/>
              </a:ext>
            </a:extLst>
          </p:cNvPr>
          <p:cNvSpPr>
            <a:spLocks xmlns:a="http://schemas.openxmlformats.org/drawingml/2006/main" noGrp="1"/>
          </p:cNvSpPr>
          <p:nvPr/>
        </p:nvSpPr>
        <p:spPr>
          <a:xfrm xmlns:a="http://schemas.openxmlformats.org/drawingml/2006/main">
            <a:off x="609600" y="3790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A78342"/>
                </a:solidFill>
                <a:latin typeface="Avenir Next"/>
                <a:ea typeface="Avenir Next"/>
                <a:cs typeface="Avenir Next"/>
              </a:defRPr>
            </a:pPr>
            <a:r>
              <a:rPr sz="1125" b="1" i="0">
                <a:solidFill>
                  <a:srgbClr val="A78342"/>
                </a:solidFill>
                <a:latin typeface="Avenir Next"/>
                <a:ea typeface="Avenir Next"/>
                <a:cs typeface="Avenir Next"/>
              </a:rPr>
              <a:t>WARUM BESTEHENDE LÖSUNGEN DIE LÜCKE NICHT SCHLIESSEN</a:t>
            </a:r>
          </a:p>
        </p:txBody>
      </p:sp>
      <p:sp>
        <p:nvSpPr>
          <p:cNvPr id="8" name="">
            <a:extLst xmlns:a="http://schemas.openxmlformats.org/drawingml/2006/main">
              <a:ext uri="{FF2B5EF4-FFF2-40B4-BE49-F238E27FC236}">
                <a16:creationId xmlns:a16="http://schemas.microsoft.com/office/drawing/2014/main" id="{62C2742F-37B2-4BE2-AFB0-216FD9EEB501}"/>
              </a:ext>
            </a:extLst>
          </p:cNvPr>
          <p:cNvSpPr>
            <a:spLocks xmlns:a="http://schemas.openxmlformats.org/drawingml/2006/main" noGrp="1"/>
          </p:cNvSpPr>
          <p:nvPr/>
        </p:nvSpPr>
        <p:spPr>
          <a:xfrm xmlns:a="http://schemas.openxmlformats.org/drawingml/2006/main">
            <a:off x="609600" y="413385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71527"/>
                </a:solidFill>
                <a:latin typeface="Avenir Next"/>
                <a:ea typeface="Avenir Next"/>
                <a:cs typeface="Avenir Next"/>
              </a:defRPr>
            </a:pPr>
            <a:r>
              <a:rPr sz="1350" b="1" i="0">
                <a:solidFill>
                  <a:srgbClr val="071527"/>
                </a:solidFill>
                <a:latin typeface="Avenir Next"/>
                <a:ea typeface="Avenir Next"/>
                <a:cs typeface="Avenir Next"/>
              </a:rPr>
              <a:t>Recruiting</a:t>
            </a:r>
          </a:p>
        </p:txBody>
      </p:sp>
      <p:sp>
        <p:nvSpPr>
          <p:cNvPr id="9" name="">
            <a:extLst xmlns:a="http://schemas.openxmlformats.org/drawingml/2006/main">
              <a:ext uri="{FF2B5EF4-FFF2-40B4-BE49-F238E27FC236}">
                <a16:creationId xmlns:a16="http://schemas.microsoft.com/office/drawing/2014/main" id="{44EDE6E5-49F8-4F82-81EE-7AC9F72DF287}"/>
              </a:ext>
            </a:extLst>
          </p:cNvPr>
          <p:cNvSpPr>
            <a:spLocks xmlns:a="http://schemas.openxmlformats.org/drawingml/2006/main" noGrp="1"/>
          </p:cNvSpPr>
          <p:nvPr/>
        </p:nvSpPr>
        <p:spPr>
          <a:xfrm xmlns:a="http://schemas.openxmlformats.org/drawingml/2006/main">
            <a:off x="1943100" y="41338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66717D"/>
                </a:solidFill>
                <a:latin typeface="Avenir Next"/>
                <a:ea typeface="Avenir Next"/>
                <a:cs typeface="Avenir Next"/>
              </a:defRPr>
            </a:pPr>
            <a:r>
              <a:rPr sz="1350" b="0" i="0">
                <a:solidFill>
                  <a:srgbClr val="66717D"/>
                </a:solidFill>
                <a:latin typeface="Avenir Next"/>
                <a:ea typeface="Avenir Next"/>
                <a:cs typeface="Avenir Next"/>
              </a:rPr>
              <a:t>endet meist mit der Besetzung</a:t>
            </a:r>
          </a:p>
        </p:txBody>
      </p:sp>
      <p:sp>
        <p:nvSpPr>
          <p:cNvPr id="10" name="">
            <a:extLst xmlns:a="http://schemas.openxmlformats.org/drawingml/2006/main">
              <a:ext uri="{FF2B5EF4-FFF2-40B4-BE49-F238E27FC236}">
                <a16:creationId xmlns:a16="http://schemas.microsoft.com/office/drawing/2014/main" id="{512DF99B-44AF-4CEA-815D-CDFE7A5D28AA}"/>
              </a:ext>
            </a:extLst>
          </p:cNvPr>
          <p:cNvSpPr>
            <a:spLocks xmlns:a="http://schemas.openxmlformats.org/drawingml/2006/main" noGrp="1"/>
          </p:cNvSpPr>
          <p:nvPr/>
        </p:nvSpPr>
        <p:spPr>
          <a:xfrm xmlns:a="http://schemas.openxmlformats.org/drawingml/2006/main">
            <a:off x="609600" y="4438650"/>
            <a:ext cx="4667250" cy="0"/>
          </a:xfrm>
          <a:prstGeom xmlns:a="http://schemas.openxmlformats.org/drawingml/2006/main" prst="line">
            <a:avLst/>
          </a:prstGeom>
          <a:noFill xmlns:a="http://schemas.openxmlformats.org/drawingml/2006/main"/>
          <a:ln xmlns:a="http://schemas.openxmlformats.org/drawingml/2006/main" w="9525">
            <a:solidFill>
              <a:srgbClr val="D8D5CD"/>
            </a:solidFill>
            <a:prstDash val="solid"/>
          </a:ln>
        </p:spPr>
      </p:sp>
      <p:sp>
        <p:nvSpPr>
          <p:cNvPr id="11" name="">
            <a:extLst xmlns:a="http://schemas.openxmlformats.org/drawingml/2006/main">
              <a:ext uri="{FF2B5EF4-FFF2-40B4-BE49-F238E27FC236}">
                <a16:creationId xmlns:a16="http://schemas.microsoft.com/office/drawing/2014/main" id="{318E243F-4FAB-4783-8091-3A85D7A8074F}"/>
              </a:ext>
            </a:extLst>
          </p:cNvPr>
          <p:cNvSpPr>
            <a:spLocks xmlns:a="http://schemas.openxmlformats.org/drawingml/2006/main" noGrp="1"/>
          </p:cNvSpPr>
          <p:nvPr/>
        </p:nvSpPr>
        <p:spPr>
          <a:xfrm xmlns:a="http://schemas.openxmlformats.org/drawingml/2006/main">
            <a:off x="609600" y="45720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71527"/>
                </a:solidFill>
                <a:latin typeface="Avenir Next"/>
                <a:ea typeface="Avenir Next"/>
                <a:cs typeface="Avenir Next"/>
              </a:defRPr>
            </a:pPr>
            <a:r>
              <a:rPr sz="1350" b="1" i="0">
                <a:solidFill>
                  <a:srgbClr val="071527"/>
                </a:solidFill>
                <a:latin typeface="Avenir Next"/>
                <a:ea typeface="Avenir Next"/>
                <a:cs typeface="Avenir Next"/>
              </a:rPr>
              <a:t>Relocation</a:t>
            </a:r>
          </a:p>
        </p:txBody>
      </p:sp>
      <p:sp>
        <p:nvSpPr>
          <p:cNvPr id="12" name="">
            <a:extLst xmlns:a="http://schemas.openxmlformats.org/drawingml/2006/main">
              <a:ext uri="{FF2B5EF4-FFF2-40B4-BE49-F238E27FC236}">
                <a16:creationId xmlns:a16="http://schemas.microsoft.com/office/drawing/2014/main" id="{5AB3CA49-CE86-4DD5-8395-0DE024FC3E63}"/>
              </a:ext>
            </a:extLst>
          </p:cNvPr>
          <p:cNvSpPr>
            <a:spLocks xmlns:a="http://schemas.openxmlformats.org/drawingml/2006/main" noGrp="1"/>
          </p:cNvSpPr>
          <p:nvPr/>
        </p:nvSpPr>
        <p:spPr>
          <a:xfrm xmlns:a="http://schemas.openxmlformats.org/drawingml/2006/main">
            <a:off x="1943100" y="45720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66717D"/>
                </a:solidFill>
                <a:latin typeface="Avenir Next"/>
                <a:ea typeface="Avenir Next"/>
                <a:cs typeface="Avenir Next"/>
              </a:defRPr>
            </a:pPr>
            <a:r>
              <a:rPr sz="1350" b="0" i="0">
                <a:solidFill>
                  <a:srgbClr val="66717D"/>
                </a:solidFill>
                <a:latin typeface="Avenir Next"/>
                <a:ea typeface="Avenir Next"/>
                <a:cs typeface="Avenir Next"/>
              </a:rPr>
              <a:t>organisiert einzelne Leistungen</a:t>
            </a:r>
          </a:p>
        </p:txBody>
      </p:sp>
      <p:sp>
        <p:nvSpPr>
          <p:cNvPr id="13" name="">
            <a:extLst xmlns:a="http://schemas.openxmlformats.org/drawingml/2006/main">
              <a:ext uri="{FF2B5EF4-FFF2-40B4-BE49-F238E27FC236}">
                <a16:creationId xmlns:a16="http://schemas.microsoft.com/office/drawing/2014/main" id="{B2495EBA-9CC8-4042-B4A0-C6798D76312A}"/>
              </a:ext>
            </a:extLst>
          </p:cNvPr>
          <p:cNvSpPr>
            <a:spLocks xmlns:a="http://schemas.openxmlformats.org/drawingml/2006/main" noGrp="1"/>
          </p:cNvSpPr>
          <p:nvPr/>
        </p:nvSpPr>
        <p:spPr>
          <a:xfrm xmlns:a="http://schemas.openxmlformats.org/drawingml/2006/main">
            <a:off x="609600" y="4876800"/>
            <a:ext cx="4667250" cy="0"/>
          </a:xfrm>
          <a:prstGeom xmlns:a="http://schemas.openxmlformats.org/drawingml/2006/main" prst="line">
            <a:avLst/>
          </a:prstGeom>
          <a:noFill xmlns:a="http://schemas.openxmlformats.org/drawingml/2006/main"/>
          <a:ln xmlns:a="http://schemas.openxmlformats.org/drawingml/2006/main" w="9525">
            <a:solidFill>
              <a:srgbClr val="D8D5CD"/>
            </a:solidFill>
            <a:prstDash val="solid"/>
          </a:ln>
        </p:spPr>
      </p:sp>
      <p:sp>
        <p:nvSpPr>
          <p:cNvPr id="14" name="">
            <a:extLst xmlns:a="http://schemas.openxmlformats.org/drawingml/2006/main">
              <a:ext uri="{FF2B5EF4-FFF2-40B4-BE49-F238E27FC236}">
                <a16:creationId xmlns:a16="http://schemas.microsoft.com/office/drawing/2014/main" id="{A8A39CF3-43A7-4372-9BE0-D1D6E00FBD54}"/>
              </a:ext>
            </a:extLst>
          </p:cNvPr>
          <p:cNvSpPr>
            <a:spLocks xmlns:a="http://schemas.openxmlformats.org/drawingml/2006/main" noGrp="1"/>
          </p:cNvSpPr>
          <p:nvPr/>
        </p:nvSpPr>
        <p:spPr>
          <a:xfrm xmlns:a="http://schemas.openxmlformats.org/drawingml/2006/main">
            <a:off x="609600" y="501015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71527"/>
                </a:solidFill>
                <a:latin typeface="Avenir Next"/>
                <a:ea typeface="Avenir Next"/>
                <a:cs typeface="Avenir Next"/>
              </a:defRPr>
            </a:pPr>
            <a:r>
              <a:rPr sz="1350" b="1" i="0">
                <a:solidFill>
                  <a:srgbClr val="071527"/>
                </a:solidFill>
                <a:latin typeface="Avenir Next"/>
                <a:ea typeface="Avenir Next"/>
                <a:cs typeface="Avenir Next"/>
              </a:rPr>
              <a:t>Interne HR</a:t>
            </a:r>
          </a:p>
        </p:txBody>
      </p:sp>
      <p:sp>
        <p:nvSpPr>
          <p:cNvPr id="15" name="">
            <a:extLst xmlns:a="http://schemas.openxmlformats.org/drawingml/2006/main">
              <a:ext uri="{FF2B5EF4-FFF2-40B4-BE49-F238E27FC236}">
                <a16:creationId xmlns:a16="http://schemas.microsoft.com/office/drawing/2014/main" id="{80BBEE28-326B-439D-BE19-813535737AB5}"/>
              </a:ext>
            </a:extLst>
          </p:cNvPr>
          <p:cNvSpPr>
            <a:spLocks xmlns:a="http://schemas.openxmlformats.org/drawingml/2006/main" noGrp="1"/>
          </p:cNvSpPr>
          <p:nvPr/>
        </p:nvSpPr>
        <p:spPr>
          <a:xfrm xmlns:a="http://schemas.openxmlformats.org/drawingml/2006/main">
            <a:off x="1943100" y="50101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66717D"/>
                </a:solidFill>
                <a:latin typeface="Avenir Next"/>
                <a:ea typeface="Avenir Next"/>
                <a:cs typeface="Avenir Next"/>
              </a:defRPr>
            </a:pPr>
            <a:r>
              <a:rPr sz="1350" b="0" i="0">
                <a:solidFill>
                  <a:srgbClr val="66717D"/>
                </a:solidFill>
                <a:latin typeface="Avenir Next"/>
                <a:ea typeface="Avenir Next"/>
                <a:cs typeface="Avenir Next"/>
              </a:rPr>
              <a:t>arbeitet über getrennte Systeme</a:t>
            </a:r>
          </a:p>
        </p:txBody>
      </p:sp>
      <p:sp>
        <p:nvSpPr>
          <p:cNvPr id="16" name="">
            <a:extLst xmlns:a="http://schemas.openxmlformats.org/drawingml/2006/main">
              <a:ext uri="{FF2B5EF4-FFF2-40B4-BE49-F238E27FC236}">
                <a16:creationId xmlns:a16="http://schemas.microsoft.com/office/drawing/2014/main" id="{F9FE0213-AE45-4064-AAEC-8E7CCCCB7796}"/>
              </a:ext>
            </a:extLst>
          </p:cNvPr>
          <p:cNvSpPr>
            <a:spLocks xmlns:a="http://schemas.openxmlformats.org/drawingml/2006/main" noGrp="1"/>
          </p:cNvSpPr>
          <p:nvPr/>
        </p:nvSpPr>
        <p:spPr>
          <a:xfrm xmlns:a="http://schemas.openxmlformats.org/drawingml/2006/main">
            <a:off x="609600" y="5448300"/>
            <a:ext cx="4953000" cy="552450"/>
          </a:xfrm>
          <a:prstGeom xmlns:a="http://schemas.openxmlformats.org/drawingml/2006/main" prst="rect">
            <a:avLst/>
          </a:prstGeom>
          <a:solidFill xmlns:a="http://schemas.openxmlformats.org/drawingml/2006/main">
            <a:srgbClr val="0715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D22571-C76A-4E51-8D20-C3B99E9F610B}"/>
              </a:ext>
            </a:extLst>
          </p:cNvPr>
          <p:cNvSpPr>
            <a:spLocks xmlns:a="http://schemas.openxmlformats.org/drawingml/2006/main" noGrp="1"/>
          </p:cNvSpPr>
          <p:nvPr/>
        </p:nvSpPr>
        <p:spPr>
          <a:xfrm xmlns:a="http://schemas.openxmlformats.org/drawingml/2006/main">
            <a:off x="800100" y="561022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85"/>
          </a:bodyPr>
          <a:lstStyle xmlns:a="http://schemas.openxmlformats.org/drawingml/2006/main"/>
          <a:p xmlns:a="http://schemas.openxmlformats.org/drawingml/2006/main">
            <a:pPr algn="l">
              <a:lnSpc>
                <a:spcPct val="100000"/>
              </a:lnSpc>
              <a:buNone/>
              <a:defRPr sz="1275" b="1" i="0">
                <a:solidFill>
                  <a:srgbClr val="F6F3EA"/>
                </a:solidFill>
                <a:latin typeface="Avenir Next"/>
                <a:ea typeface="Avenir Next"/>
                <a:cs typeface="Avenir Next"/>
              </a:defRPr>
            </a:pPr>
            <a:r>
              <a:rPr sz="1275" b="1" i="0">
                <a:solidFill>
                  <a:srgbClr val="F6F3EA"/>
                </a:solidFill>
                <a:latin typeface="Avenir Next"/>
                <a:ea typeface="Avenir Next"/>
                <a:cs typeface="Avenir Next"/>
              </a:rPr>
              <a:t>AMAVIO: gemeinsame operative Prozessschicht nach der Zusage</a:t>
            </a:r>
          </a:p>
        </p:txBody>
      </p:sp>
      <p:sp>
        <p:nvSpPr>
          <p:cNvPr id="18" name="">
            <a:extLst xmlns:a="http://schemas.openxmlformats.org/drawingml/2006/main">
              <a:ext uri="{FF2B5EF4-FFF2-40B4-BE49-F238E27FC236}">
                <a16:creationId xmlns:a16="http://schemas.microsoft.com/office/drawing/2014/main" id="{ED9579D5-FCEE-4F1E-8D46-01D4223FDB81}"/>
              </a:ext>
            </a:extLst>
          </p:cNvPr>
          <p:cNvSpPr>
            <a:spLocks xmlns:a="http://schemas.openxmlformats.org/drawingml/2006/main" noGrp="1"/>
          </p:cNvSpPr>
          <p:nvPr/>
        </p:nvSpPr>
        <p:spPr>
          <a:xfrm xmlns:a="http://schemas.openxmlformats.org/drawingml/2006/main">
            <a:off x="609600" y="6172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78342"/>
                </a:solidFill>
                <a:latin typeface="Avenir Next"/>
                <a:ea typeface="Avenir Next"/>
                <a:cs typeface="Avenir Next"/>
              </a:defRPr>
            </a:pPr>
            <a:r>
              <a:rPr sz="1050" b="1" i="0">
                <a:solidFill>
                  <a:srgbClr val="A78342"/>
                </a:solidFill>
                <a:latin typeface="Avenir Next"/>
                <a:ea typeface="Avenir Next"/>
                <a:cs typeface="Avenir Next"/>
              </a:rPr>
              <a:t>Zahlende Startkunden</a:t>
            </a:r>
          </a:p>
        </p:txBody>
      </p:sp>
      <p:sp>
        <p:nvSpPr>
          <p:cNvPr id="19" name="">
            <a:extLst xmlns:a="http://schemas.openxmlformats.org/drawingml/2006/main">
              <a:ext uri="{FF2B5EF4-FFF2-40B4-BE49-F238E27FC236}">
                <a16:creationId xmlns:a16="http://schemas.microsoft.com/office/drawing/2014/main" id="{8760D789-D8CF-44BD-9212-0C113DDCAC5A}"/>
              </a:ext>
            </a:extLst>
          </p:cNvPr>
          <p:cNvSpPr>
            <a:spLocks xmlns:a="http://schemas.openxmlformats.org/drawingml/2006/main" noGrp="1"/>
          </p:cNvSpPr>
          <p:nvPr/>
        </p:nvSpPr>
        <p:spPr>
          <a:xfrm xmlns:a="http://schemas.openxmlformats.org/drawingml/2006/main">
            <a:off x="2381250" y="6153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71527"/>
                </a:solidFill>
                <a:latin typeface="Avenir Next"/>
                <a:ea typeface="Avenir Next"/>
                <a:cs typeface="Avenir Next"/>
              </a:defRPr>
            </a:pPr>
            <a:r>
              <a:rPr sz="1350" b="1" i="0">
                <a:solidFill>
                  <a:srgbClr val="071527"/>
                </a:solidFill>
                <a:latin typeface="Avenir Next"/>
                <a:ea typeface="Avenir Next"/>
                <a:cs typeface="Avenir Next"/>
              </a:rPr>
              <a:t>Pflegeanbieter, Kliniken und soziale Träger</a:t>
            </a:r>
          </a:p>
        </p:txBody>
      </p:sp>
      <p:sp>
        <p:nvSpPr>
          <p:cNvPr id="20" name="">
            <a:extLst xmlns:a="http://schemas.openxmlformats.org/drawingml/2006/main">
              <a:ext uri="{FF2B5EF4-FFF2-40B4-BE49-F238E27FC236}">
                <a16:creationId xmlns:a16="http://schemas.microsoft.com/office/drawing/2014/main" id="{3A1B583D-FE9B-473C-9A22-0FDAA4349392}"/>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66717D"/>
                </a:solidFill>
                <a:latin typeface="Avenir Next"/>
                <a:ea typeface="Avenir Next"/>
                <a:cs typeface="Avenir Next"/>
              </a:defRPr>
            </a:pPr>
            <a:r>
              <a:rPr sz="975" b="0" i="0">
                <a:solidFill>
                  <a:srgbClr val="66717D"/>
                </a:solidFill>
                <a:latin typeface="Avenir Next"/>
                <a:ea typeface="Avenir Next"/>
                <a:cs typeface="Avenir Next"/>
              </a:rPr>
              <a:t>NEXT Award Düsseldorf 2026</a:t>
            </a:r>
          </a:p>
        </p:txBody>
      </p:sp>
      <p:sp>
        <p:nvSpPr>
          <p:cNvPr id="21" name="">
            <a:extLst xmlns:a="http://schemas.openxmlformats.org/drawingml/2006/main">
              <a:ext uri="{FF2B5EF4-FFF2-40B4-BE49-F238E27FC236}">
                <a16:creationId xmlns:a16="http://schemas.microsoft.com/office/drawing/2014/main" id="{F305EC9C-7AC9-45F6-8B4B-B4A12155D047}"/>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66717D"/>
                </a:solidFill>
                <a:latin typeface="Avenir Next"/>
                <a:ea typeface="Avenir Next"/>
                <a:cs typeface="Avenir Next"/>
              </a:defRPr>
            </a:pPr>
            <a:r>
              <a:rPr sz="975" b="0" i="0">
                <a:solidFill>
                  <a:srgbClr val="66717D"/>
                </a:solidFill>
                <a:latin typeface="Avenir Next"/>
                <a:ea typeface="Avenir Next"/>
                <a:cs typeface="Avenir Next"/>
              </a:rPr>
              <a:t>02</a:t>
            </a:r>
          </a:p>
        </p:txBody>
      </p:sp>
    </p:spTree>
    <p:extLst>
      <p:ext uri="{BB962C8B-B14F-4D97-AF65-F5344CB8AC3E}">
        <p14:creationId xmlns:p14="http://schemas.microsoft.com/office/powerpoint/2010/main" val="20629025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569c093cd7642b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3136F4-1505-46DF-864B-A4330F225613}"/>
              </a:ext>
            </a:extLst>
          </p:cNvPr>
          <p:cNvSpPr>
            <a:spLocks xmlns:a="http://schemas.openxmlformats.org/drawingml/2006/main" noGrp="1"/>
          </p:cNvSpPr>
          <p:nvPr/>
        </p:nvSpPr>
        <p:spPr>
          <a:xfrm xmlns:a="http://schemas.openxmlformats.org/drawingml/2006/main">
            <a:off x="0" y="0"/>
            <a:ext cx="5334000" cy="6858000"/>
          </a:xfrm>
          <a:prstGeom xmlns:a="http://schemas.openxmlformats.org/drawingml/2006/main" prst="rect">
            <a:avLst/>
          </a:prstGeom>
          <a:solidFill xmlns:a="http://schemas.openxmlformats.org/drawingml/2006/main">
            <a:srgbClr val="071527">
              <a:alpha val="92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7704B7-BA85-4A52-A94E-A1EF83FEA8FC}"/>
              </a:ext>
            </a:extLst>
          </p:cNvPr>
          <p:cNvSpPr>
            <a:spLocks xmlns:a="http://schemas.openxmlformats.org/drawingml/2006/main" noGrp="1"/>
          </p:cNvSpPr>
          <p:nvPr/>
        </p:nvSpPr>
        <p:spPr>
          <a:xfrm xmlns:a="http://schemas.openxmlformats.org/drawingml/2006/main">
            <a:off x="5334000" y="4476750"/>
            <a:ext cx="6858000" cy="2381250"/>
          </a:xfrm>
          <a:prstGeom xmlns:a="http://schemas.openxmlformats.org/drawingml/2006/main" prst="rect">
            <a:avLst/>
          </a:prstGeom>
          <a:solidFill xmlns:a="http://schemas.openxmlformats.org/drawingml/2006/main">
            <a:srgbClr val="071527">
              <a:alpha val="84000"/>
            </a:srgbClr>
          </a:solidFill>
          <a:ln xmlns:a="http://schemas.openxmlformats.org/drawingml/2006/main" w="0">
            <a:no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cc3691e7d0a4002"/>
          <a:stretch xmlns:a="http://schemas.openxmlformats.org/drawingml/2006/main"/>
        </p:blipFill>
        <p:spPr>
          <a:xfrm xmlns:a="http://schemas.openxmlformats.org/drawingml/2006/main">
            <a:off x="639679" y="342900"/>
            <a:ext cx="1616242" cy="49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7C256B-53FB-4133-A1E4-5CB698E1BED2}"/>
              </a:ext>
            </a:extLst>
          </p:cNvPr>
          <p:cNvSpPr>
            <a:spLocks xmlns:a="http://schemas.openxmlformats.org/drawingml/2006/main" noGrp="1"/>
          </p:cNvSpPr>
          <p:nvPr/>
        </p:nvSpPr>
        <p:spPr>
          <a:xfrm xmlns:a="http://schemas.openxmlformats.org/drawingml/2006/main">
            <a:off x="609600" y="13525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WERTANGEBOT</a:t>
            </a:r>
          </a:p>
        </p:txBody>
      </p:sp>
      <p:sp>
        <p:nvSpPr>
          <p:cNvPr id="6" name="">
            <a:extLst xmlns:a="http://schemas.openxmlformats.org/drawingml/2006/main">
              <a:ext uri="{FF2B5EF4-FFF2-40B4-BE49-F238E27FC236}">
                <a16:creationId xmlns:a16="http://schemas.microsoft.com/office/drawing/2014/main" id="{7426637D-2573-425E-95F6-A8F35AEB5083}"/>
              </a:ext>
            </a:extLst>
          </p:cNvPr>
          <p:cNvSpPr>
            <a:spLocks xmlns:a="http://schemas.openxmlformats.org/drawingml/2006/main" noGrp="1"/>
          </p:cNvSpPr>
          <p:nvPr/>
        </p:nvSpPr>
        <p:spPr>
          <a:xfrm xmlns:a="http://schemas.openxmlformats.org/drawingml/2006/main">
            <a:off x="609600" y="1695450"/>
            <a:ext cx="4381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600" b="1" i="0">
                <a:solidFill>
                  <a:srgbClr val="F6F3EA"/>
                </a:solidFill>
                <a:latin typeface="Avenir Next"/>
                <a:ea typeface="Avenir Next"/>
                <a:cs typeface="Avenir Next"/>
              </a:defRPr>
            </a:pPr>
            <a:r>
              <a:rPr sz="3600" b="1" i="0">
                <a:solidFill>
                  <a:srgbClr val="F6F3EA"/>
                </a:solidFill>
                <a:latin typeface="Avenir Next"/>
                <a:ea typeface="Avenir Next"/>
                <a:cs typeface="Avenir Next"/>
              </a:rPr>
              <a:t>Vier Perspektiven,</a:t>
            </a:r>
          </a:p>
          <a:p xmlns:a="http://schemas.openxmlformats.org/drawingml/2006/main">
            <a:pPr algn="l">
              <a:lnSpc>
                <a:spcPct val="92000"/>
              </a:lnSpc>
              <a:buNone/>
              <a:defRPr sz="3600" b="1" i="0">
                <a:solidFill>
                  <a:srgbClr val="F6F3EA"/>
                </a:solidFill>
                <a:latin typeface="Avenir Next"/>
                <a:ea typeface="Avenir Next"/>
                <a:cs typeface="Avenir Next"/>
              </a:defRPr>
            </a:pPr>
            <a:r>
              <a:rPr sz="3600" b="1" i="0">
                <a:solidFill>
                  <a:srgbClr val="F6F3EA"/>
                </a:solidFill>
                <a:latin typeface="Avenir Next"/>
                <a:ea typeface="Avenir Next"/>
                <a:cs typeface="Avenir Next"/>
              </a:rPr>
              <a:t>ein Prozessstand</a:t>
            </a:r>
          </a:p>
        </p:txBody>
      </p:sp>
      <p:sp>
        <p:nvSpPr>
          <p:cNvPr id="7" name="">
            <a:extLst xmlns:a="http://schemas.openxmlformats.org/drawingml/2006/main">
              <a:ext uri="{FF2B5EF4-FFF2-40B4-BE49-F238E27FC236}">
                <a16:creationId xmlns:a16="http://schemas.microsoft.com/office/drawing/2014/main" id="{2EEC21EE-7EC1-4E5B-BE41-31FD0BAFD58A}"/>
              </a:ext>
            </a:extLst>
          </p:cNvPr>
          <p:cNvSpPr>
            <a:spLocks xmlns:a="http://schemas.openxmlformats.org/drawingml/2006/main" noGrp="1"/>
          </p:cNvSpPr>
          <p:nvPr/>
        </p:nvSpPr>
        <p:spPr>
          <a:xfrm xmlns:a="http://schemas.openxmlformats.org/drawingml/2006/main">
            <a:off x="609600" y="3143250"/>
            <a:ext cx="4191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D5DEE7"/>
                </a:solidFill>
                <a:latin typeface="Avenir Next"/>
                <a:ea typeface="Avenir Next"/>
                <a:cs typeface="Avenir Next"/>
              </a:defRPr>
            </a:pPr>
            <a:r>
              <a:rPr sz="1725" b="0" i="0">
                <a:solidFill>
                  <a:srgbClr val="D5DEE7"/>
                </a:solidFill>
                <a:latin typeface="Avenir Next"/>
                <a:ea typeface="Avenir Next"/>
                <a:cs typeface="Avenir Next"/>
              </a:rPr>
              <a:t>AMAVIO verbindet Rollen, Fristen, Wohnraum, Freigaben und lokale Orientierung in einer gemeinsamen Workflow- und Datenlogik.</a:t>
            </a:r>
          </a:p>
        </p:txBody>
      </p:sp>
      <p:sp>
        <p:nvSpPr>
          <p:cNvPr id="8" name="">
            <a:extLst xmlns:a="http://schemas.openxmlformats.org/drawingml/2006/main">
              <a:ext uri="{FF2B5EF4-FFF2-40B4-BE49-F238E27FC236}">
                <a16:creationId xmlns:a16="http://schemas.microsoft.com/office/drawing/2014/main" id="{0AC8FF26-BF34-497B-822E-5F6B08BF08D7}"/>
              </a:ext>
            </a:extLst>
          </p:cNvPr>
          <p:cNvSpPr>
            <a:spLocks xmlns:a="http://schemas.openxmlformats.org/drawingml/2006/main" noGrp="1"/>
          </p:cNvSpPr>
          <p:nvPr/>
        </p:nvSpPr>
        <p:spPr>
          <a:xfrm xmlns:a="http://schemas.openxmlformats.org/drawingml/2006/main">
            <a:off x="5715000" y="4857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C8A25A"/>
                </a:solidFill>
                <a:latin typeface="Avenir Next"/>
                <a:ea typeface="Avenir Next"/>
                <a:cs typeface="Avenir Next"/>
              </a:defRPr>
            </a:pPr>
            <a:r>
              <a:rPr sz="1200" b="1" i="0">
                <a:solidFill>
                  <a:srgbClr val="C8A25A"/>
                </a:solidFill>
                <a:latin typeface="Avenir Next"/>
                <a:ea typeface="Avenir Next"/>
                <a:cs typeface="Avenir Next"/>
              </a:rPr>
              <a:t>01</a:t>
            </a:r>
          </a:p>
        </p:txBody>
      </p:sp>
      <p:sp>
        <p:nvSpPr>
          <p:cNvPr id="9" name="">
            <a:extLst xmlns:a="http://schemas.openxmlformats.org/drawingml/2006/main">
              <a:ext uri="{FF2B5EF4-FFF2-40B4-BE49-F238E27FC236}">
                <a16:creationId xmlns:a16="http://schemas.microsoft.com/office/drawing/2014/main" id="{A71E753A-3E12-4C3C-B0E0-AEE0F67FAEFD}"/>
              </a:ext>
            </a:extLst>
          </p:cNvPr>
          <p:cNvSpPr>
            <a:spLocks xmlns:a="http://schemas.openxmlformats.org/drawingml/2006/main" noGrp="1"/>
          </p:cNvSpPr>
          <p:nvPr/>
        </p:nvSpPr>
        <p:spPr>
          <a:xfrm xmlns:a="http://schemas.openxmlformats.org/drawingml/2006/main">
            <a:off x="5715000" y="5181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Avenir Next"/>
                <a:ea typeface="Avenir Next"/>
                <a:cs typeface="Avenir Next"/>
              </a:defRPr>
            </a:pPr>
            <a:r>
              <a:rPr sz="1575" b="1" i="0">
                <a:solidFill>
                  <a:srgbClr val="FFFFFF"/>
                </a:solidFill>
                <a:latin typeface="Avenir Next"/>
                <a:ea typeface="Avenir Next"/>
                <a:cs typeface="Avenir Next"/>
              </a:rPr>
              <a:t>Arbeitgeber</a:t>
            </a:r>
          </a:p>
        </p:txBody>
      </p:sp>
      <p:sp>
        <p:nvSpPr>
          <p:cNvPr id="10" name="">
            <a:extLst xmlns:a="http://schemas.openxmlformats.org/drawingml/2006/main">
              <a:ext uri="{FF2B5EF4-FFF2-40B4-BE49-F238E27FC236}">
                <a16:creationId xmlns:a16="http://schemas.microsoft.com/office/drawing/2014/main" id="{FEB2A11B-7611-4DA5-A4E7-A464ADD38646}"/>
              </a:ext>
            </a:extLst>
          </p:cNvPr>
          <p:cNvSpPr>
            <a:spLocks xmlns:a="http://schemas.openxmlformats.org/drawingml/2006/main" noGrp="1"/>
          </p:cNvSpPr>
          <p:nvPr/>
        </p:nvSpPr>
        <p:spPr>
          <a:xfrm xmlns:a="http://schemas.openxmlformats.org/drawingml/2006/main">
            <a:off x="5715000" y="55435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ED7E1"/>
                </a:solidFill>
                <a:latin typeface="Avenir Next"/>
                <a:ea typeface="Avenir Next"/>
                <a:cs typeface="Avenir Next"/>
              </a:defRPr>
            </a:pPr>
            <a:r>
              <a:rPr sz="1200" b="0" i="0">
                <a:solidFill>
                  <a:srgbClr val="CED7E1"/>
                </a:solidFill>
                <a:latin typeface="Avenir Next"/>
                <a:ea typeface="Avenir Next"/>
                <a:cs typeface="Avenir Next"/>
              </a:rPr>
              <a:t>steuern Fälle und Budgets</a:t>
            </a:r>
          </a:p>
        </p:txBody>
      </p:sp>
      <p:sp>
        <p:nvSpPr>
          <p:cNvPr id="11" name="">
            <a:extLst xmlns:a="http://schemas.openxmlformats.org/drawingml/2006/main">
              <a:ext uri="{FF2B5EF4-FFF2-40B4-BE49-F238E27FC236}">
                <a16:creationId xmlns:a16="http://schemas.microsoft.com/office/drawing/2014/main" id="{036EBDBE-BFCF-429B-A593-C1C5A1DE7324}"/>
              </a:ext>
            </a:extLst>
          </p:cNvPr>
          <p:cNvSpPr>
            <a:spLocks xmlns:a="http://schemas.openxmlformats.org/drawingml/2006/main" noGrp="1"/>
          </p:cNvSpPr>
          <p:nvPr/>
        </p:nvSpPr>
        <p:spPr>
          <a:xfrm xmlns:a="http://schemas.openxmlformats.org/drawingml/2006/main">
            <a:off x="7296150" y="4857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C8A25A"/>
                </a:solidFill>
                <a:latin typeface="Avenir Next"/>
                <a:ea typeface="Avenir Next"/>
                <a:cs typeface="Avenir Next"/>
              </a:defRPr>
            </a:pPr>
            <a:r>
              <a:rPr sz="1200" b="1" i="0">
                <a:solidFill>
                  <a:srgbClr val="C8A25A"/>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ED91614B-1814-41E0-9E63-D01568BD233A}"/>
              </a:ext>
            </a:extLst>
          </p:cNvPr>
          <p:cNvSpPr>
            <a:spLocks xmlns:a="http://schemas.openxmlformats.org/drawingml/2006/main" noGrp="1"/>
          </p:cNvSpPr>
          <p:nvPr/>
        </p:nvSpPr>
        <p:spPr>
          <a:xfrm xmlns:a="http://schemas.openxmlformats.org/drawingml/2006/main">
            <a:off x="7296150" y="5181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Avenir Next"/>
                <a:ea typeface="Avenir Next"/>
                <a:cs typeface="Avenir Next"/>
              </a:defRPr>
            </a:pPr>
            <a:r>
              <a:rPr sz="1575" b="1" i="0">
                <a:solidFill>
                  <a:srgbClr val="FFFFFF"/>
                </a:solidFill>
                <a:latin typeface="Avenir Next"/>
                <a:ea typeface="Avenir Next"/>
                <a:cs typeface="Avenir Next"/>
              </a:rPr>
              <a:t>Fachkräfte</a:t>
            </a:r>
          </a:p>
        </p:txBody>
      </p:sp>
      <p:sp>
        <p:nvSpPr>
          <p:cNvPr id="13" name="">
            <a:extLst xmlns:a="http://schemas.openxmlformats.org/drawingml/2006/main">
              <a:ext uri="{FF2B5EF4-FFF2-40B4-BE49-F238E27FC236}">
                <a16:creationId xmlns:a16="http://schemas.microsoft.com/office/drawing/2014/main" id="{EA957EA6-36F2-4AD2-A08D-55D6BAA81BC0}"/>
              </a:ext>
            </a:extLst>
          </p:cNvPr>
          <p:cNvSpPr>
            <a:spLocks xmlns:a="http://schemas.openxmlformats.org/drawingml/2006/main" noGrp="1"/>
          </p:cNvSpPr>
          <p:nvPr/>
        </p:nvSpPr>
        <p:spPr>
          <a:xfrm xmlns:a="http://schemas.openxmlformats.org/drawingml/2006/main">
            <a:off x="7296150" y="55435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ED7E1"/>
                </a:solidFill>
                <a:latin typeface="Avenir Next"/>
                <a:ea typeface="Avenir Next"/>
                <a:cs typeface="Avenir Next"/>
              </a:defRPr>
            </a:pPr>
            <a:r>
              <a:rPr sz="1200" b="0" i="0">
                <a:solidFill>
                  <a:srgbClr val="CED7E1"/>
                </a:solidFill>
                <a:latin typeface="Avenir Next"/>
                <a:ea typeface="Avenir Next"/>
                <a:cs typeface="Avenir Next"/>
              </a:rPr>
              <a:t>sehen nächste Schritte</a:t>
            </a:r>
          </a:p>
        </p:txBody>
      </p:sp>
      <p:sp>
        <p:nvSpPr>
          <p:cNvPr id="14" name="">
            <a:extLst xmlns:a="http://schemas.openxmlformats.org/drawingml/2006/main">
              <a:ext uri="{FF2B5EF4-FFF2-40B4-BE49-F238E27FC236}">
                <a16:creationId xmlns:a16="http://schemas.microsoft.com/office/drawing/2014/main" id="{FC9E2B55-8A24-4CAB-91F4-87D59DCD3A04}"/>
              </a:ext>
            </a:extLst>
          </p:cNvPr>
          <p:cNvSpPr>
            <a:spLocks xmlns:a="http://schemas.openxmlformats.org/drawingml/2006/main" noGrp="1"/>
          </p:cNvSpPr>
          <p:nvPr/>
        </p:nvSpPr>
        <p:spPr>
          <a:xfrm xmlns:a="http://schemas.openxmlformats.org/drawingml/2006/main">
            <a:off x="8877300" y="4857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C8A25A"/>
                </a:solidFill>
                <a:latin typeface="Avenir Next"/>
                <a:ea typeface="Avenir Next"/>
                <a:cs typeface="Avenir Next"/>
              </a:defRPr>
            </a:pPr>
            <a:r>
              <a:rPr sz="1200" b="1" i="0">
                <a:solidFill>
                  <a:srgbClr val="C8A25A"/>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A60C5B95-7A29-4825-B212-A6404E6EC151}"/>
              </a:ext>
            </a:extLst>
          </p:cNvPr>
          <p:cNvSpPr>
            <a:spLocks xmlns:a="http://schemas.openxmlformats.org/drawingml/2006/main" noGrp="1"/>
          </p:cNvSpPr>
          <p:nvPr/>
        </p:nvSpPr>
        <p:spPr>
          <a:xfrm xmlns:a="http://schemas.openxmlformats.org/drawingml/2006/main">
            <a:off x="8877300" y="5181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Avenir Next"/>
                <a:ea typeface="Avenir Next"/>
                <a:cs typeface="Avenir Next"/>
              </a:defRPr>
            </a:pPr>
            <a:r>
              <a:rPr sz="1575" b="1" i="0">
                <a:solidFill>
                  <a:srgbClr val="FFFFFF"/>
                </a:solidFill>
                <a:latin typeface="Avenir Next"/>
                <a:ea typeface="Avenir Next"/>
                <a:cs typeface="Avenir Next"/>
              </a:rPr>
              <a:t>Wohnraum</a:t>
            </a:r>
          </a:p>
        </p:txBody>
      </p:sp>
      <p:sp>
        <p:nvSpPr>
          <p:cNvPr id="16" name="">
            <a:extLst xmlns:a="http://schemas.openxmlformats.org/drawingml/2006/main">
              <a:ext uri="{FF2B5EF4-FFF2-40B4-BE49-F238E27FC236}">
                <a16:creationId xmlns:a16="http://schemas.microsoft.com/office/drawing/2014/main" id="{23EFA43B-59B4-42EA-8E8B-FCE4E1C94D0B}"/>
              </a:ext>
            </a:extLst>
          </p:cNvPr>
          <p:cNvSpPr>
            <a:spLocks xmlns:a="http://schemas.openxmlformats.org/drawingml/2006/main" noGrp="1"/>
          </p:cNvSpPr>
          <p:nvPr/>
        </p:nvSpPr>
        <p:spPr>
          <a:xfrm xmlns:a="http://schemas.openxmlformats.org/drawingml/2006/main">
            <a:off x="8877300" y="55435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ED7E1"/>
                </a:solidFill>
                <a:latin typeface="Avenir Next"/>
                <a:ea typeface="Avenir Next"/>
                <a:cs typeface="Avenir Next"/>
              </a:defRPr>
            </a:pPr>
            <a:r>
              <a:rPr sz="1200" b="0" i="0">
                <a:solidFill>
                  <a:srgbClr val="CED7E1"/>
                </a:solidFill>
                <a:latin typeface="Avenir Next"/>
                <a:ea typeface="Avenir Next"/>
                <a:cs typeface="Avenir Next"/>
              </a:rPr>
              <a:t>meldet Verfügbarkeit</a:t>
            </a:r>
          </a:p>
        </p:txBody>
      </p:sp>
      <p:sp>
        <p:nvSpPr>
          <p:cNvPr id="17" name="">
            <a:extLst xmlns:a="http://schemas.openxmlformats.org/drawingml/2006/main">
              <a:ext uri="{FF2B5EF4-FFF2-40B4-BE49-F238E27FC236}">
                <a16:creationId xmlns:a16="http://schemas.microsoft.com/office/drawing/2014/main" id="{86440CE3-D9BC-4C46-B83E-3D63186FEAC8}"/>
              </a:ext>
            </a:extLst>
          </p:cNvPr>
          <p:cNvSpPr>
            <a:spLocks xmlns:a="http://schemas.openxmlformats.org/drawingml/2006/main" noGrp="1"/>
          </p:cNvSpPr>
          <p:nvPr/>
        </p:nvSpPr>
        <p:spPr>
          <a:xfrm xmlns:a="http://schemas.openxmlformats.org/drawingml/2006/main">
            <a:off x="10458450" y="48577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C8A25A"/>
                </a:solidFill>
                <a:latin typeface="Avenir Next"/>
                <a:ea typeface="Avenir Next"/>
                <a:cs typeface="Avenir Next"/>
              </a:defRPr>
            </a:pPr>
            <a:r>
              <a:rPr sz="1200" b="1" i="0">
                <a:solidFill>
                  <a:srgbClr val="C8A25A"/>
                </a:solidFill>
                <a:latin typeface="Avenir Next"/>
                <a:ea typeface="Avenir Next"/>
                <a:cs typeface="Avenir Next"/>
              </a:rPr>
              <a:t>04</a:t>
            </a:r>
          </a:p>
        </p:txBody>
      </p:sp>
      <p:sp>
        <p:nvSpPr>
          <p:cNvPr id="18" name="">
            <a:extLst xmlns:a="http://schemas.openxmlformats.org/drawingml/2006/main">
              <a:ext uri="{FF2B5EF4-FFF2-40B4-BE49-F238E27FC236}">
                <a16:creationId xmlns:a16="http://schemas.microsoft.com/office/drawing/2014/main" id="{8E245501-C041-41B1-8D99-203F36321296}"/>
              </a:ext>
            </a:extLst>
          </p:cNvPr>
          <p:cNvSpPr>
            <a:spLocks xmlns:a="http://schemas.openxmlformats.org/drawingml/2006/main" noGrp="1"/>
          </p:cNvSpPr>
          <p:nvPr/>
        </p:nvSpPr>
        <p:spPr>
          <a:xfrm xmlns:a="http://schemas.openxmlformats.org/drawingml/2006/main">
            <a:off x="10458450" y="5181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Avenir Next"/>
                <a:ea typeface="Avenir Next"/>
                <a:cs typeface="Avenir Next"/>
              </a:defRPr>
            </a:pPr>
            <a:r>
              <a:rPr sz="1575" b="1" i="0">
                <a:solidFill>
                  <a:srgbClr val="FFFFFF"/>
                </a:solidFill>
                <a:latin typeface="Avenir Next"/>
                <a:ea typeface="Avenir Next"/>
                <a:cs typeface="Avenir Next"/>
              </a:rPr>
              <a:t>Partner</a:t>
            </a:r>
          </a:p>
        </p:txBody>
      </p:sp>
      <p:sp>
        <p:nvSpPr>
          <p:cNvPr id="19" name="">
            <a:extLst xmlns:a="http://schemas.openxmlformats.org/drawingml/2006/main">
              <a:ext uri="{FF2B5EF4-FFF2-40B4-BE49-F238E27FC236}">
                <a16:creationId xmlns:a16="http://schemas.microsoft.com/office/drawing/2014/main" id="{87B3779F-112B-4904-8647-66F85FC2797E}"/>
              </a:ext>
            </a:extLst>
          </p:cNvPr>
          <p:cNvSpPr>
            <a:spLocks xmlns:a="http://schemas.openxmlformats.org/drawingml/2006/main" noGrp="1"/>
          </p:cNvSpPr>
          <p:nvPr/>
        </p:nvSpPr>
        <p:spPr>
          <a:xfrm xmlns:a="http://schemas.openxmlformats.org/drawingml/2006/main">
            <a:off x="10458450" y="55435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CED7E1"/>
                </a:solidFill>
                <a:latin typeface="Avenir Next"/>
                <a:ea typeface="Avenir Next"/>
                <a:cs typeface="Avenir Next"/>
              </a:defRPr>
            </a:pPr>
            <a:r>
              <a:rPr sz="1200" b="0" i="0">
                <a:solidFill>
                  <a:srgbClr val="CED7E1"/>
                </a:solidFill>
                <a:latin typeface="Avenir Next"/>
                <a:ea typeface="Avenir Next"/>
                <a:cs typeface="Avenir Next"/>
              </a:rPr>
              <a:t>öffnet lokale Angebote</a:t>
            </a:r>
          </a:p>
        </p:txBody>
      </p:sp>
      <p:sp>
        <p:nvSpPr>
          <p:cNvPr id="20" name="">
            <a:extLst xmlns:a="http://schemas.openxmlformats.org/drawingml/2006/main">
              <a:ext uri="{FF2B5EF4-FFF2-40B4-BE49-F238E27FC236}">
                <a16:creationId xmlns:a16="http://schemas.microsoft.com/office/drawing/2014/main" id="{E58100CD-C0AE-455E-81B1-AB112753CF38}"/>
              </a:ext>
            </a:extLst>
          </p:cNvPr>
          <p:cNvSpPr>
            <a:spLocks xmlns:a="http://schemas.openxmlformats.org/drawingml/2006/main" noGrp="1"/>
          </p:cNvSpPr>
          <p:nvPr/>
        </p:nvSpPr>
        <p:spPr>
          <a:xfrm xmlns:a="http://schemas.openxmlformats.org/drawingml/2006/main">
            <a:off x="609600" y="5734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C8A25A"/>
                </a:solidFill>
                <a:latin typeface="Avenir Next"/>
                <a:ea typeface="Avenir Next"/>
                <a:cs typeface="Avenir Next"/>
              </a:defRPr>
            </a:pPr>
            <a:r>
              <a:rPr sz="2100" b="1" i="0">
                <a:solidFill>
                  <a:srgbClr val="C8A25A"/>
                </a:solidFill>
                <a:latin typeface="Avenir Next"/>
                <a:ea typeface="Avenir Next"/>
                <a:cs typeface="Avenir Next"/>
              </a:rPr>
              <a:t>Ein Workflow. Ein Datenstand.</a:t>
            </a:r>
          </a:p>
        </p:txBody>
      </p:sp>
      <p:sp>
        <p:nvSpPr>
          <p:cNvPr id="21" name="">
            <a:extLst xmlns:a="http://schemas.openxmlformats.org/drawingml/2006/main">
              <a:ext uri="{FF2B5EF4-FFF2-40B4-BE49-F238E27FC236}">
                <a16:creationId xmlns:a16="http://schemas.microsoft.com/office/drawing/2014/main" id="{D995BAC0-0A45-4D6E-BAC7-BA269084FF3B}"/>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22" name="">
            <a:extLst xmlns:a="http://schemas.openxmlformats.org/drawingml/2006/main">
              <a:ext uri="{FF2B5EF4-FFF2-40B4-BE49-F238E27FC236}">
                <a16:creationId xmlns:a16="http://schemas.microsoft.com/office/drawing/2014/main" id="{C8EB3CE7-C894-42FB-BD7A-AA331845B764}"/>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03</a:t>
            </a:r>
          </a:p>
        </p:txBody>
      </p:sp>
    </p:spTree>
    <p:extLst>
      <p:ext uri="{BB962C8B-B14F-4D97-AF65-F5344CB8AC3E}">
        <p14:creationId xmlns:p14="http://schemas.microsoft.com/office/powerpoint/2010/main" val="2052227963"/>
      </p:ext>
    </p:extLst>
  </p:cSld>
</p:sld>
</file>

<file path=ppt/slides/slide4.xml><?xml version="1.0" encoding="utf-8"?>
<p:sld xmlns:p="http://schemas.openxmlformats.org/presentationml/2006/main">
  <p:cSld>
    <p:bg>
      <p:bgPr>
        <a:solidFill xmlns:a="http://schemas.openxmlformats.org/drawingml/2006/main">
          <a:srgbClr val="0715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1E70AA8-C9A7-41D7-82C4-741E392D2E23}"/>
              </a:ext>
            </a:extLst>
          </p:cNvPr>
          <p:cNvSpPr>
            <a:spLocks xmlns:a="http://schemas.openxmlformats.org/drawingml/2006/main" noGrp="1"/>
          </p:cNvSpPr>
          <p:nvPr/>
        </p:nvSpPr>
        <p:spPr>
          <a:xfrm xmlns:a="http://schemas.openxmlformats.org/drawingml/2006/main">
            <a:off x="609600" y="4762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i="0">
                <a:solidFill>
                  <a:srgbClr val="F6F3EA"/>
                </a:solidFill>
                <a:latin typeface="Avenir Next"/>
                <a:ea typeface="Avenir Next"/>
                <a:cs typeface="Avenir Next"/>
              </a:defRPr>
            </a:pPr>
            <a:r>
              <a:rPr sz="3150" b="1" i="0">
                <a:solidFill>
                  <a:srgbClr val="F6F3EA"/>
                </a:solidFill>
                <a:latin typeface="Avenir Next"/>
                <a:ea typeface="Avenir Next"/>
                <a:cs typeface="Avenir Next"/>
              </a:rPr>
              <a:t>Arrival Control Center und App</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520e6895e814950"/>
          <a:stretch xmlns:a="http://schemas.openxmlformats.org/drawingml/2006/main"/>
        </p:blipFill>
        <p:spPr>
          <a:xfrm xmlns:a="http://schemas.openxmlformats.org/drawingml/2006/main">
            <a:off x="9936079" y="304800"/>
            <a:ext cx="1616242" cy="495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6089A7-050B-4A82-81B1-62FEBFC61E3B}"/>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4" name="">
            <a:extLst xmlns:a="http://schemas.openxmlformats.org/drawingml/2006/main">
              <a:ext uri="{FF2B5EF4-FFF2-40B4-BE49-F238E27FC236}">
                <a16:creationId xmlns:a16="http://schemas.microsoft.com/office/drawing/2014/main" id="{6A5559F6-CABE-4C86-B256-2940443354D9}"/>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04</a:t>
            </a:r>
          </a:p>
        </p:txBody>
      </p:sp>
      <p:sp>
        <p:nvSpPr>
          <p:cNvPr id="5" name="">
            <a:extLst xmlns:a="http://schemas.openxmlformats.org/drawingml/2006/main">
              <a:ext uri="{FF2B5EF4-FFF2-40B4-BE49-F238E27FC236}">
                <a16:creationId xmlns:a16="http://schemas.microsoft.com/office/drawing/2014/main" id="{187EEC9F-46AC-44BB-9CE2-C64252E71750}"/>
              </a:ext>
            </a:extLst>
          </p:cNvPr>
          <p:cNvSpPr>
            <a:spLocks xmlns:a="http://schemas.openxmlformats.org/drawingml/2006/main" noGrp="1"/>
          </p:cNvSpPr>
          <p:nvPr/>
        </p:nvSpPr>
        <p:spPr>
          <a:xfrm xmlns:a="http://schemas.openxmlformats.org/drawingml/2006/main">
            <a:off x="609600" y="1352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PRODUKTARCHITEKTUR</a:t>
            </a:r>
          </a:p>
        </p:txBody>
      </p:sp>
      <p:sp>
        <p:nvSpPr>
          <p:cNvPr id="6" name="">
            <a:extLst xmlns:a="http://schemas.openxmlformats.org/drawingml/2006/main">
              <a:ext uri="{FF2B5EF4-FFF2-40B4-BE49-F238E27FC236}">
                <a16:creationId xmlns:a16="http://schemas.microsoft.com/office/drawing/2014/main" id="{85B757BE-56D6-4F41-BC9D-BE5F4BB8D9A6}"/>
              </a:ext>
            </a:extLst>
          </p:cNvPr>
          <p:cNvSpPr>
            <a:spLocks xmlns:a="http://schemas.openxmlformats.org/drawingml/2006/main" noGrp="1"/>
          </p:cNvSpPr>
          <p:nvPr/>
        </p:nvSpPr>
        <p:spPr>
          <a:xfrm xmlns:a="http://schemas.openxmlformats.org/drawingml/2006/main">
            <a:off x="609600" y="19050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7C7B496-4ED6-41B6-8DE5-D05FEC7E8E88}"/>
              </a:ext>
            </a:extLst>
          </p:cNvPr>
          <p:cNvSpPr>
            <a:spLocks xmlns:a="http://schemas.openxmlformats.org/drawingml/2006/main" noGrp="1"/>
          </p:cNvSpPr>
          <p:nvPr/>
        </p:nvSpPr>
        <p:spPr>
          <a:xfrm xmlns:a="http://schemas.openxmlformats.org/drawingml/2006/main">
            <a:off x="1066800" y="18573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FFFFFF"/>
                </a:solidFill>
                <a:latin typeface="Avenir Next"/>
                <a:ea typeface="Avenir Next"/>
                <a:cs typeface="Avenir Next"/>
              </a:defRPr>
            </a:pPr>
            <a:r>
              <a:rPr sz="1575" b="1" i="0">
                <a:solidFill>
                  <a:srgbClr val="FFFFFF"/>
                </a:solidFill>
                <a:latin typeface="Avenir Next"/>
                <a:ea typeface="Avenir Next"/>
                <a:cs typeface="Avenir Next"/>
              </a:rPr>
              <a:t>Mein Prozess</a:t>
            </a:r>
          </a:p>
        </p:txBody>
      </p:sp>
      <p:sp>
        <p:nvSpPr>
          <p:cNvPr id="8" name="">
            <a:extLst xmlns:a="http://schemas.openxmlformats.org/drawingml/2006/main">
              <a:ext uri="{FF2B5EF4-FFF2-40B4-BE49-F238E27FC236}">
                <a16:creationId xmlns:a16="http://schemas.microsoft.com/office/drawing/2014/main" id="{FDD708BE-AC44-4958-82B3-829FA2E524FC}"/>
              </a:ext>
            </a:extLst>
          </p:cNvPr>
          <p:cNvSpPr>
            <a:spLocks xmlns:a="http://schemas.openxmlformats.org/drawingml/2006/main" noGrp="1"/>
          </p:cNvSpPr>
          <p:nvPr/>
        </p:nvSpPr>
        <p:spPr>
          <a:xfrm xmlns:a="http://schemas.openxmlformats.org/drawingml/2006/main">
            <a:off x="1066800" y="2362200"/>
            <a:ext cx="1428750" cy="0"/>
          </a:xfrm>
          <a:prstGeom xmlns:a="http://schemas.openxmlformats.org/drawingml/2006/main" prst="line">
            <a:avLst/>
          </a:prstGeom>
          <a:noFill xmlns:a="http://schemas.openxmlformats.org/drawingml/2006/main"/>
          <a:ln xmlns:a="http://schemas.openxmlformats.org/drawingml/2006/main" w="9525">
            <a:solidFill>
              <a:srgbClr val="314256"/>
            </a:solidFill>
            <a:prstDash val="solid"/>
          </a:ln>
        </p:spPr>
      </p:sp>
      <p:sp>
        <p:nvSpPr>
          <p:cNvPr id="9" name="">
            <a:extLst xmlns:a="http://schemas.openxmlformats.org/drawingml/2006/main">
              <a:ext uri="{FF2B5EF4-FFF2-40B4-BE49-F238E27FC236}">
                <a16:creationId xmlns:a16="http://schemas.microsoft.com/office/drawing/2014/main" id="{921797FE-3F81-4CCE-973D-86AB15487B13}"/>
              </a:ext>
            </a:extLst>
          </p:cNvPr>
          <p:cNvSpPr>
            <a:spLocks xmlns:a="http://schemas.openxmlformats.org/drawingml/2006/main" noGrp="1"/>
          </p:cNvSpPr>
          <p:nvPr/>
        </p:nvSpPr>
        <p:spPr>
          <a:xfrm xmlns:a="http://schemas.openxmlformats.org/drawingml/2006/main">
            <a:off x="609600" y="27241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7F8C9C"/>
                </a:solidFill>
                <a:latin typeface="Avenir Next"/>
                <a:ea typeface="Avenir Next"/>
                <a:cs typeface="Avenir Next"/>
              </a:defRPr>
            </a:pPr>
            <a:r>
              <a:rPr sz="1125" b="1" i="0">
                <a:solidFill>
                  <a:srgbClr val="7F8C9C"/>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E8D6A326-B03B-4A41-B593-88AADB25BE69}"/>
              </a:ext>
            </a:extLst>
          </p:cNvPr>
          <p:cNvSpPr>
            <a:spLocks xmlns:a="http://schemas.openxmlformats.org/drawingml/2006/main" noGrp="1"/>
          </p:cNvSpPr>
          <p:nvPr/>
        </p:nvSpPr>
        <p:spPr>
          <a:xfrm xmlns:a="http://schemas.openxmlformats.org/drawingml/2006/main">
            <a:off x="1066800" y="26765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B7C0CA"/>
                </a:solidFill>
                <a:latin typeface="Avenir Next"/>
                <a:ea typeface="Avenir Next"/>
                <a:cs typeface="Avenir Next"/>
              </a:defRPr>
            </a:pPr>
            <a:r>
              <a:rPr sz="1575" b="0" i="0">
                <a:solidFill>
                  <a:srgbClr val="B7C0CA"/>
                </a:solidFill>
                <a:latin typeface="Avenir Next"/>
                <a:ea typeface="Avenir Next"/>
                <a:cs typeface="Avenir Next"/>
              </a:rPr>
              <a:t>Mein Wohnen</a:t>
            </a:r>
          </a:p>
        </p:txBody>
      </p:sp>
      <p:sp>
        <p:nvSpPr>
          <p:cNvPr id="11" name="">
            <a:extLst xmlns:a="http://schemas.openxmlformats.org/drawingml/2006/main">
              <a:ext uri="{FF2B5EF4-FFF2-40B4-BE49-F238E27FC236}">
                <a16:creationId xmlns:a16="http://schemas.microsoft.com/office/drawing/2014/main" id="{E2061FD8-6BDC-456A-93A5-7380F3523490}"/>
              </a:ext>
            </a:extLst>
          </p:cNvPr>
          <p:cNvSpPr>
            <a:spLocks xmlns:a="http://schemas.openxmlformats.org/drawingml/2006/main" noGrp="1"/>
          </p:cNvSpPr>
          <p:nvPr/>
        </p:nvSpPr>
        <p:spPr>
          <a:xfrm xmlns:a="http://schemas.openxmlformats.org/drawingml/2006/main">
            <a:off x="1066800" y="3181350"/>
            <a:ext cx="1428750" cy="0"/>
          </a:xfrm>
          <a:prstGeom xmlns:a="http://schemas.openxmlformats.org/drawingml/2006/main" prst="line">
            <a:avLst/>
          </a:prstGeom>
          <a:noFill xmlns:a="http://schemas.openxmlformats.org/drawingml/2006/main"/>
          <a:ln xmlns:a="http://schemas.openxmlformats.org/drawingml/2006/main" w="9525">
            <a:solidFill>
              <a:srgbClr val="314256"/>
            </a:solidFill>
            <a:prstDash val="solid"/>
          </a:ln>
        </p:spPr>
      </p:sp>
      <p:sp>
        <p:nvSpPr>
          <p:cNvPr id="12" name="">
            <a:extLst xmlns:a="http://schemas.openxmlformats.org/drawingml/2006/main">
              <a:ext uri="{FF2B5EF4-FFF2-40B4-BE49-F238E27FC236}">
                <a16:creationId xmlns:a16="http://schemas.microsoft.com/office/drawing/2014/main" id="{72D5E42D-2BBD-4DED-A44E-C6AED80891B9}"/>
              </a:ext>
            </a:extLst>
          </p:cNvPr>
          <p:cNvSpPr>
            <a:spLocks xmlns:a="http://schemas.openxmlformats.org/drawingml/2006/main" noGrp="1"/>
          </p:cNvSpPr>
          <p:nvPr/>
        </p:nvSpPr>
        <p:spPr>
          <a:xfrm xmlns:a="http://schemas.openxmlformats.org/drawingml/2006/main">
            <a:off x="609600" y="35433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7F8C9C"/>
                </a:solidFill>
                <a:latin typeface="Avenir Next"/>
                <a:ea typeface="Avenir Next"/>
                <a:cs typeface="Avenir Next"/>
              </a:defRPr>
            </a:pPr>
            <a:r>
              <a:rPr sz="1125" b="1" i="0">
                <a:solidFill>
                  <a:srgbClr val="7F8C9C"/>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C8BBFDA3-F725-424C-A660-6270B0727775}"/>
              </a:ext>
            </a:extLst>
          </p:cNvPr>
          <p:cNvSpPr>
            <a:spLocks xmlns:a="http://schemas.openxmlformats.org/drawingml/2006/main" noGrp="1"/>
          </p:cNvSpPr>
          <p:nvPr/>
        </p:nvSpPr>
        <p:spPr>
          <a:xfrm xmlns:a="http://schemas.openxmlformats.org/drawingml/2006/main">
            <a:off x="1066800" y="34956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36"/>
          </a:bodyPr>
          <a:lstStyle xmlns:a="http://schemas.openxmlformats.org/drawingml/2006/main"/>
          <a:p xmlns:a="http://schemas.openxmlformats.org/drawingml/2006/main">
            <a:pPr algn="l">
              <a:lnSpc>
                <a:spcPct val="100000"/>
              </a:lnSpc>
              <a:buNone/>
              <a:defRPr sz="1575" b="0" i="0">
                <a:solidFill>
                  <a:srgbClr val="B7C0CA"/>
                </a:solidFill>
                <a:latin typeface="Avenir Next"/>
                <a:ea typeface="Avenir Next"/>
                <a:cs typeface="Avenir Next"/>
              </a:defRPr>
            </a:pPr>
            <a:r>
              <a:rPr sz="1575" b="0" i="0">
                <a:solidFill>
                  <a:srgbClr val="B7C0CA"/>
                </a:solidFill>
                <a:latin typeface="Avenir Next"/>
                <a:ea typeface="Avenir Next"/>
                <a:cs typeface="Avenir Next"/>
              </a:rPr>
              <a:t>Stadt und Community</a:t>
            </a:r>
          </a:p>
        </p:txBody>
      </p:sp>
      <p:sp>
        <p:nvSpPr>
          <p:cNvPr id="14" name="">
            <a:extLst xmlns:a="http://schemas.openxmlformats.org/drawingml/2006/main">
              <a:ext uri="{FF2B5EF4-FFF2-40B4-BE49-F238E27FC236}">
                <a16:creationId xmlns:a16="http://schemas.microsoft.com/office/drawing/2014/main" id="{64A5915A-3F82-414F-9504-71572A47B05D}"/>
              </a:ext>
            </a:extLst>
          </p:cNvPr>
          <p:cNvSpPr>
            <a:spLocks xmlns:a="http://schemas.openxmlformats.org/drawingml/2006/main" noGrp="1"/>
          </p:cNvSpPr>
          <p:nvPr/>
        </p:nvSpPr>
        <p:spPr>
          <a:xfrm xmlns:a="http://schemas.openxmlformats.org/drawingml/2006/main">
            <a:off x="1066800" y="4000500"/>
            <a:ext cx="1428750" cy="0"/>
          </a:xfrm>
          <a:prstGeom xmlns:a="http://schemas.openxmlformats.org/drawingml/2006/main" prst="line">
            <a:avLst/>
          </a:prstGeom>
          <a:noFill xmlns:a="http://schemas.openxmlformats.org/drawingml/2006/main"/>
          <a:ln xmlns:a="http://schemas.openxmlformats.org/drawingml/2006/main" w="9525">
            <a:solidFill>
              <a:srgbClr val="314256"/>
            </a:solidFill>
            <a:prstDash val="solid"/>
          </a:ln>
        </p:spPr>
      </p:sp>
      <p:sp>
        <p:nvSpPr>
          <p:cNvPr id="15" name="">
            <a:extLst xmlns:a="http://schemas.openxmlformats.org/drawingml/2006/main">
              <a:ext uri="{FF2B5EF4-FFF2-40B4-BE49-F238E27FC236}">
                <a16:creationId xmlns:a16="http://schemas.microsoft.com/office/drawing/2014/main" id="{A751A236-A3C0-4D06-BC36-3EFDD4264D7E}"/>
              </a:ext>
            </a:extLst>
          </p:cNvPr>
          <p:cNvSpPr>
            <a:spLocks xmlns:a="http://schemas.openxmlformats.org/drawingml/2006/main" noGrp="1"/>
          </p:cNvSpPr>
          <p:nvPr/>
        </p:nvSpPr>
        <p:spPr>
          <a:xfrm xmlns:a="http://schemas.openxmlformats.org/drawingml/2006/main">
            <a:off x="609600" y="43624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7F8C9C"/>
                </a:solidFill>
                <a:latin typeface="Avenir Next"/>
                <a:ea typeface="Avenir Next"/>
                <a:cs typeface="Avenir Next"/>
              </a:defRPr>
            </a:pPr>
            <a:r>
              <a:rPr sz="1125" b="1" i="0">
                <a:solidFill>
                  <a:srgbClr val="7F8C9C"/>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8C9CE413-FAC0-4FEF-8A07-B28B9B2282CA}"/>
              </a:ext>
            </a:extLst>
          </p:cNvPr>
          <p:cNvSpPr>
            <a:spLocks xmlns:a="http://schemas.openxmlformats.org/drawingml/2006/main" noGrp="1"/>
          </p:cNvSpPr>
          <p:nvPr/>
        </p:nvSpPr>
        <p:spPr>
          <a:xfrm xmlns:a="http://schemas.openxmlformats.org/drawingml/2006/main">
            <a:off x="1066800" y="43148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B7C0CA"/>
                </a:solidFill>
                <a:latin typeface="Avenir Next"/>
                <a:ea typeface="Avenir Next"/>
                <a:cs typeface="Avenir Next"/>
              </a:defRPr>
            </a:pPr>
            <a:r>
              <a:rPr sz="1575" b="0" i="0">
                <a:solidFill>
                  <a:srgbClr val="B7C0CA"/>
                </a:solidFill>
                <a:latin typeface="Avenir Next"/>
                <a:ea typeface="Avenir Next"/>
                <a:cs typeface="Avenir Next"/>
              </a:rPr>
              <a:t>Partnerangebote</a:t>
            </a:r>
          </a:p>
        </p:txBody>
      </p:sp>
      <p:sp>
        <p:nvSpPr>
          <p:cNvPr id="17" name="">
            <a:extLst xmlns:a="http://schemas.openxmlformats.org/drawingml/2006/main">
              <a:ext uri="{FF2B5EF4-FFF2-40B4-BE49-F238E27FC236}">
                <a16:creationId xmlns:a16="http://schemas.microsoft.com/office/drawing/2014/main" id="{5C32603E-E29E-42F4-8CD8-F280908B8413}"/>
              </a:ext>
            </a:extLst>
          </p:cNvPr>
          <p:cNvSpPr>
            <a:spLocks xmlns:a="http://schemas.openxmlformats.org/drawingml/2006/main" noGrp="1"/>
          </p:cNvSpPr>
          <p:nvPr/>
        </p:nvSpPr>
        <p:spPr>
          <a:xfrm xmlns:a="http://schemas.openxmlformats.org/drawingml/2006/main">
            <a:off x="609600" y="5314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HEUTE VORHANDEN</a:t>
            </a:r>
          </a:p>
        </p:txBody>
      </p:sp>
      <p:sp>
        <p:nvSpPr>
          <p:cNvPr id="18" name="">
            <a:extLst xmlns:a="http://schemas.openxmlformats.org/drawingml/2006/main">
              <a:ext uri="{FF2B5EF4-FFF2-40B4-BE49-F238E27FC236}">
                <a16:creationId xmlns:a16="http://schemas.microsoft.com/office/drawing/2014/main" id="{D1F85ECD-A768-403D-9523-06E9C550CC5B}"/>
              </a:ext>
            </a:extLst>
          </p:cNvPr>
          <p:cNvSpPr>
            <a:spLocks xmlns:a="http://schemas.openxmlformats.org/drawingml/2006/main" noGrp="1"/>
          </p:cNvSpPr>
          <p:nvPr/>
        </p:nvSpPr>
        <p:spPr>
          <a:xfrm xmlns:a="http://schemas.openxmlformats.org/drawingml/2006/main">
            <a:off x="609600" y="561975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84"/>
          </a:bodyPr>
          <a:lstStyle xmlns:a="http://schemas.openxmlformats.org/drawingml/2006/main"/>
          <a:p xmlns:a="http://schemas.openxmlformats.org/drawingml/2006/main">
            <a:pPr algn="l">
              <a:lnSpc>
                <a:spcPct val="112000"/>
              </a:lnSpc>
              <a:buNone/>
              <a:defRPr sz="1200" b="1" i="0">
                <a:solidFill>
                  <a:srgbClr val="CED7E1"/>
                </a:solidFill>
                <a:latin typeface="Avenir Next"/>
                <a:ea typeface="Avenir Next"/>
                <a:cs typeface="Avenir Next"/>
              </a:defRPr>
            </a:pPr>
            <a:r>
              <a:rPr sz="1200" b="1" i="0">
                <a:solidFill>
                  <a:srgbClr val="CED7E1"/>
                </a:solidFill>
                <a:latin typeface="Avenir Next"/>
                <a:ea typeface="Avenir Next"/>
                <a:cs typeface="Avenir Next"/>
              </a:rPr>
              <a:t>Konzeptdemo</a:t>
            </a:r>
          </a:p>
          <a:p xmlns:a="http://schemas.openxmlformats.org/drawingml/2006/main">
            <a:pPr algn="l">
              <a:lnSpc>
                <a:spcPct val="112000"/>
              </a:lnSpc>
              <a:buNone/>
              <a:defRPr sz="1200" b="1" i="0">
                <a:solidFill>
                  <a:srgbClr val="CED7E1"/>
                </a:solidFill>
                <a:latin typeface="Avenir Next"/>
                <a:ea typeface="Avenir Next"/>
                <a:cs typeface="Avenir Next"/>
              </a:defRPr>
            </a:pPr>
            <a:r>
              <a:rPr sz="1200" b="1" i="0">
                <a:solidFill>
                  <a:srgbClr val="CED7E1"/>
                </a:solidFill>
                <a:latin typeface="Avenir Next"/>
                <a:ea typeface="Avenir Next"/>
                <a:cs typeface="Avenir Next"/>
              </a:rPr>
              <a:t>Produktarchitektur</a:t>
            </a:r>
          </a:p>
          <a:p xmlns:a="http://schemas.openxmlformats.org/drawingml/2006/main">
            <a:pPr algn="l">
              <a:lnSpc>
                <a:spcPct val="112000"/>
              </a:lnSpc>
              <a:buNone/>
              <a:defRPr sz="1200" b="1" i="0">
                <a:solidFill>
                  <a:srgbClr val="CED7E1"/>
                </a:solidFill>
                <a:latin typeface="Avenir Next"/>
                <a:ea typeface="Avenir Next"/>
                <a:cs typeface="Avenir Next"/>
              </a:defRPr>
            </a:pPr>
            <a:r>
              <a:rPr sz="1200" b="1" i="0">
                <a:solidFill>
                  <a:srgbClr val="CED7E1"/>
                </a:solidFill>
                <a:latin typeface="Avenir Next"/>
                <a:ea typeface="Avenir Next"/>
                <a:cs typeface="Avenir Next"/>
              </a:rPr>
              <a:t>Datenstruktur · MVP-Lastenheft</a:t>
            </a:r>
          </a:p>
        </p:txBody>
      </p:sp>
      <p:sp>
        <p:nvSpPr>
          <p:cNvPr id="19" name="">
            <a:extLst xmlns:a="http://schemas.openxmlformats.org/drawingml/2006/main">
              <a:ext uri="{FF2B5EF4-FFF2-40B4-BE49-F238E27FC236}">
                <a16:creationId xmlns:a16="http://schemas.microsoft.com/office/drawing/2014/main" id="{CB31C9AE-5FCC-4158-BF9D-C04C560F70BE}"/>
              </a:ext>
            </a:extLst>
          </p:cNvPr>
          <p:cNvSpPr>
            <a:spLocks xmlns:a="http://schemas.openxmlformats.org/drawingml/2006/main" noGrp="1"/>
          </p:cNvSpPr>
          <p:nvPr/>
        </p:nvSpPr>
        <p:spPr>
          <a:xfrm xmlns:a="http://schemas.openxmlformats.org/drawingml/2006/main">
            <a:off x="3124200" y="1295400"/>
            <a:ext cx="8096250" cy="4629150"/>
          </a:xfrm>
          <a:prstGeom xmlns:a="http://schemas.openxmlformats.org/drawingml/2006/main" prst="rect">
            <a:avLst/>
          </a:prstGeom>
          <a:solidFill xmlns:a="http://schemas.openxmlformats.org/drawingml/2006/main">
            <a:srgbClr val="F6F3EA"/>
          </a:solidFill>
          <a:ln xmlns:a="http://schemas.openxmlformats.org/drawingml/2006/main" w="14288">
            <a:solidFill>
              <a:srgbClr val="C8A25A"/>
            </a:solidFill>
            <a:prstDash val="solid"/>
          </a:ln>
        </p:spPr>
      </p:sp>
      <p:sp>
        <p:nvSpPr>
          <p:cNvPr id="20" name="">
            <a:extLst xmlns:a="http://schemas.openxmlformats.org/drawingml/2006/main">
              <a:ext uri="{FF2B5EF4-FFF2-40B4-BE49-F238E27FC236}">
                <a16:creationId xmlns:a16="http://schemas.microsoft.com/office/drawing/2014/main" id="{3838B87D-E2A5-46D9-8C10-D171CAC54EF1}"/>
              </a:ext>
            </a:extLst>
          </p:cNvPr>
          <p:cNvSpPr>
            <a:spLocks xmlns:a="http://schemas.openxmlformats.org/drawingml/2006/main" noGrp="1"/>
          </p:cNvSpPr>
          <p:nvPr/>
        </p:nvSpPr>
        <p:spPr>
          <a:xfrm xmlns:a="http://schemas.openxmlformats.org/drawingml/2006/main">
            <a:off x="3333750" y="1504950"/>
            <a:ext cx="6858000" cy="39433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4"/>
            </a:solidFill>
            <a:prstDash val="solid"/>
          </a:ln>
        </p:spPr>
      </p:sp>
      <p:sp>
        <p:nvSpPr>
          <p:cNvPr id="21" name="">
            <a:extLst xmlns:a="http://schemas.openxmlformats.org/drawingml/2006/main">
              <a:ext uri="{FF2B5EF4-FFF2-40B4-BE49-F238E27FC236}">
                <a16:creationId xmlns:a16="http://schemas.microsoft.com/office/drawing/2014/main" id="{876D09D7-0482-41BE-9D2D-B6A3F7BA30E5}"/>
              </a:ext>
            </a:extLst>
          </p:cNvPr>
          <p:cNvSpPr>
            <a:spLocks xmlns:a="http://schemas.openxmlformats.org/drawingml/2006/main" noGrp="1"/>
          </p:cNvSpPr>
          <p:nvPr/>
        </p:nvSpPr>
        <p:spPr>
          <a:xfrm xmlns:a="http://schemas.openxmlformats.org/drawingml/2006/main">
            <a:off x="3333750" y="1504950"/>
            <a:ext cx="6858000" cy="266700"/>
          </a:xfrm>
          <a:prstGeom xmlns:a="http://schemas.openxmlformats.org/drawingml/2006/main" prst="rect">
            <a:avLst/>
          </a:prstGeom>
          <a:solidFill xmlns:a="http://schemas.openxmlformats.org/drawingml/2006/main">
            <a:srgbClr val="E9EB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A19948-AFF1-4CC1-9276-95A2A9466745}"/>
              </a:ext>
            </a:extLst>
          </p:cNvPr>
          <p:cNvSpPr>
            <a:spLocks xmlns:a="http://schemas.openxmlformats.org/drawingml/2006/main" noGrp="1"/>
          </p:cNvSpPr>
          <p:nvPr/>
        </p:nvSpPr>
        <p:spPr>
          <a:xfrm xmlns:a="http://schemas.openxmlformats.org/drawingml/2006/main">
            <a:off x="3486150" y="1590675"/>
            <a:ext cx="85725" cy="85725"/>
          </a:xfrm>
          <a:prstGeom xmlns:a="http://schemas.openxmlformats.org/drawingml/2006/main" prst="ellipse">
            <a:avLst/>
          </a:prstGeom>
          <a:solidFill xmlns:a="http://schemas.openxmlformats.org/drawingml/2006/main">
            <a:srgbClr val="B958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479A0A6-B6A7-4C3C-B2A4-C021BB2B89D6}"/>
              </a:ext>
            </a:extLst>
          </p:cNvPr>
          <p:cNvSpPr>
            <a:spLocks xmlns:a="http://schemas.openxmlformats.org/drawingml/2006/main" noGrp="1"/>
          </p:cNvSpPr>
          <p:nvPr/>
        </p:nvSpPr>
        <p:spPr>
          <a:xfrm xmlns:a="http://schemas.openxmlformats.org/drawingml/2006/main">
            <a:off x="3657600" y="1590675"/>
            <a:ext cx="85725" cy="85725"/>
          </a:xfrm>
          <a:prstGeom xmlns:a="http://schemas.openxmlformats.org/drawingml/2006/main" prst="ellipse">
            <a:avLst/>
          </a:prstGeom>
          <a:solidFill xmlns:a="http://schemas.openxmlformats.org/drawingml/2006/main">
            <a:srgbClr val="C8A25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169A6C-57BA-4B89-823D-1CF2F293A18A}"/>
              </a:ext>
            </a:extLst>
          </p:cNvPr>
          <p:cNvSpPr>
            <a:spLocks xmlns:a="http://schemas.openxmlformats.org/drawingml/2006/main" noGrp="1"/>
          </p:cNvSpPr>
          <p:nvPr/>
        </p:nvSpPr>
        <p:spPr>
          <a:xfrm xmlns:a="http://schemas.openxmlformats.org/drawingml/2006/main">
            <a:off x="3829050" y="1590675"/>
            <a:ext cx="85725" cy="85725"/>
          </a:xfrm>
          <a:prstGeom xmlns:a="http://schemas.openxmlformats.org/drawingml/2006/main" prst="ellipse">
            <a:avLst/>
          </a:prstGeom>
          <a:solidFill xmlns:a="http://schemas.openxmlformats.org/drawingml/2006/main">
            <a:srgbClr val="356D69"/>
          </a:solidFill>
          <a:ln xmlns:a="http://schemas.openxmlformats.org/drawingml/2006/main" w="0">
            <a:no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a97c61f14e544a0"/>
          <a:srcRect xmlns:a="http://schemas.openxmlformats.org/drawingml/2006/main" l="0" t="2346" r="0" b="2346"/>
          <a:stretch xmlns:a="http://schemas.openxmlformats.org/drawingml/2006/main">
            <a:fillRect l="0" t="0" r="0" b="0"/>
          </a:stretch>
        </p:blipFill>
        <p:spPr>
          <a:xfrm xmlns:a="http://schemas.openxmlformats.org/drawingml/2006/main">
            <a:off x="3333750" y="1771650"/>
            <a:ext cx="6858000" cy="3676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1EB79438-CF62-4354-AFBF-2F126F78F145}"/>
              </a:ext>
            </a:extLst>
          </p:cNvPr>
          <p:cNvSpPr>
            <a:spLocks xmlns:a="http://schemas.openxmlformats.org/drawingml/2006/main" noGrp="1"/>
          </p:cNvSpPr>
          <p:nvPr/>
        </p:nvSpPr>
        <p:spPr>
          <a:xfrm xmlns:a="http://schemas.openxmlformats.org/drawingml/2006/main">
            <a:off x="9563100" y="2057400"/>
            <a:ext cx="1504950" cy="3143250"/>
          </a:xfrm>
          <a:prstGeom xmlns:a="http://schemas.openxmlformats.org/drawingml/2006/main" prst="rect">
            <a:avLst/>
          </a:prstGeom>
          <a:solidFill xmlns:a="http://schemas.openxmlformats.org/drawingml/2006/main">
            <a:srgbClr val="11161D"/>
          </a:solidFill>
          <a:ln xmlns:a="http://schemas.openxmlformats.org/drawingml/2006/main" w="19050">
            <a:solidFill>
              <a:srgbClr val="C8A25A"/>
            </a:solidFill>
            <a:prstDash val="solid"/>
          </a:ln>
        </p:spPr>
      </p:sp>
      <p:sp>
        <p:nvSpPr>
          <p:cNvPr id="27" name="">
            <a:extLst xmlns:a="http://schemas.openxmlformats.org/drawingml/2006/main">
              <a:ext uri="{FF2B5EF4-FFF2-40B4-BE49-F238E27FC236}">
                <a16:creationId xmlns:a16="http://schemas.microsoft.com/office/drawing/2014/main" id="{181DAF35-BF0A-4A4C-B754-A919CFF16BEE}"/>
              </a:ext>
            </a:extLst>
          </p:cNvPr>
          <p:cNvSpPr>
            <a:spLocks xmlns:a="http://schemas.openxmlformats.org/drawingml/2006/main" noGrp="1"/>
          </p:cNvSpPr>
          <p:nvPr/>
        </p:nvSpPr>
        <p:spPr>
          <a:xfrm xmlns:a="http://schemas.openxmlformats.org/drawingml/2006/main">
            <a:off x="10058400" y="2152650"/>
            <a:ext cx="514350" cy="47625"/>
          </a:xfrm>
          <a:prstGeom xmlns:a="http://schemas.openxmlformats.org/drawingml/2006/main" prst="roundRect">
            <a:avLst>
              <a:gd name="adj" fmla="val 50000"/>
            </a:avLst>
          </a:prstGeom>
          <a:solidFill xmlns:a="http://schemas.openxmlformats.org/drawingml/2006/main">
            <a:srgbClr val="5B616A"/>
          </a:solidFill>
          <a:ln xmlns:a="http://schemas.openxmlformats.org/drawingml/2006/main" w="0">
            <a:no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8571ff60f8e4ed9"/>
          <a:srcRect xmlns:a="http://schemas.openxmlformats.org/drawingml/2006/main" l="316" t="0" r="316" b="0"/>
          <a:stretch xmlns:a="http://schemas.openxmlformats.org/drawingml/2006/main">
            <a:fillRect l="0" t="0" r="0" b="0"/>
          </a:stretch>
        </p:blipFill>
        <p:spPr>
          <a:xfrm xmlns:a="http://schemas.openxmlformats.org/drawingml/2006/main">
            <a:off x="9658350" y="2286000"/>
            <a:ext cx="1314450" cy="27813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596946CD-D5AE-4382-BE41-0381123C025E}"/>
              </a:ext>
            </a:extLst>
          </p:cNvPr>
          <p:cNvSpPr>
            <a:spLocks xmlns:a="http://schemas.openxmlformats.org/drawingml/2006/main" noGrp="1"/>
          </p:cNvSpPr>
          <p:nvPr/>
        </p:nvSpPr>
        <p:spPr>
          <a:xfrm xmlns:a="http://schemas.openxmlformats.org/drawingml/2006/main">
            <a:off x="3352800" y="5562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i="0">
                <a:solidFill>
                  <a:srgbClr val="66717D"/>
                </a:solidFill>
                <a:latin typeface="Avenir Next"/>
                <a:ea typeface="Avenir Next"/>
                <a:cs typeface="Avenir Next"/>
              </a:defRPr>
            </a:pPr>
            <a:r>
              <a:rPr sz="1050" b="0" i="0">
                <a:solidFill>
                  <a:srgbClr val="66717D"/>
                </a:solidFill>
                <a:latin typeface="Avenir Next"/>
                <a:ea typeface="Avenir Next"/>
                <a:cs typeface="Avenir Next"/>
              </a:rPr>
              <a:t>Konzeptdemo mit illustrativen Daten. Kein produktiver Kundendatenbetrieb.</a:t>
            </a:r>
          </a:p>
        </p:txBody>
      </p:sp>
    </p:spTree>
    <p:extLst>
      <p:ext uri="{BB962C8B-B14F-4D97-AF65-F5344CB8AC3E}">
        <p14:creationId xmlns:p14="http://schemas.microsoft.com/office/powerpoint/2010/main" val="5231716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a3ef2b2f602427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97A69D-7845-4973-A2DA-F808372E47A5}"/>
              </a:ext>
            </a:extLst>
          </p:cNvPr>
          <p:cNvSpPr>
            <a:spLocks xmlns:a="http://schemas.openxmlformats.org/drawingml/2006/main" noGrp="1"/>
          </p:cNvSpPr>
          <p:nvPr/>
        </p:nvSpPr>
        <p:spPr>
          <a:xfrm xmlns:a="http://schemas.openxmlformats.org/drawingml/2006/main">
            <a:off x="0" y="0"/>
            <a:ext cx="12192000" cy="1524000"/>
          </a:xfrm>
          <a:prstGeom xmlns:a="http://schemas.openxmlformats.org/drawingml/2006/main" prst="rect">
            <a:avLst/>
          </a:prstGeom>
          <a:solidFill xmlns:a="http://schemas.openxmlformats.org/drawingml/2006/main">
            <a:srgbClr val="071527">
              <a:alpha val="8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30A991-1BA3-4CC7-B4F3-E6E36A77E665}"/>
              </a:ext>
            </a:extLst>
          </p:cNvPr>
          <p:cNvSpPr>
            <a:spLocks xmlns:a="http://schemas.openxmlformats.org/drawingml/2006/main" noGrp="1"/>
          </p:cNvSpPr>
          <p:nvPr/>
        </p:nvSpPr>
        <p:spPr>
          <a:xfrm xmlns:a="http://schemas.openxmlformats.org/drawingml/2006/main">
            <a:off x="0" y="4267200"/>
            <a:ext cx="12192000" cy="2590800"/>
          </a:xfrm>
          <a:prstGeom xmlns:a="http://schemas.openxmlformats.org/drawingml/2006/main" prst="rect">
            <a:avLst/>
          </a:prstGeom>
          <a:solidFill xmlns:a="http://schemas.openxmlformats.org/drawingml/2006/main">
            <a:srgbClr val="071527">
              <a:alpha val="92000"/>
            </a:srgbClr>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dfd9b4004314f84"/>
          <a:stretch xmlns:a="http://schemas.openxmlformats.org/drawingml/2006/main"/>
        </p:blipFill>
        <p:spPr>
          <a:xfrm xmlns:a="http://schemas.openxmlformats.org/drawingml/2006/main">
            <a:off x="9936079" y="361950"/>
            <a:ext cx="1616242" cy="49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F1F7A30-805E-44A1-B180-DF0B0E818AFA}"/>
              </a:ext>
            </a:extLst>
          </p:cNvPr>
          <p:cNvSpPr>
            <a:spLocks xmlns:a="http://schemas.openxmlformats.org/drawingml/2006/main" noGrp="1"/>
          </p:cNvSpPr>
          <p:nvPr/>
        </p:nvSpPr>
        <p:spPr>
          <a:xfrm xmlns:a="http://schemas.openxmlformats.org/drawingml/2006/main">
            <a:off x="609600" y="457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i="0">
                <a:solidFill>
                  <a:srgbClr val="F6F3EA"/>
                </a:solidFill>
                <a:latin typeface="Avenir Next"/>
                <a:ea typeface="Avenir Next"/>
                <a:cs typeface="Avenir Next"/>
              </a:defRPr>
            </a:pPr>
            <a:r>
              <a:rPr sz="2850" b="1" i="0">
                <a:solidFill>
                  <a:srgbClr val="F6F3EA"/>
                </a:solidFill>
                <a:latin typeface="Avenir Next"/>
                <a:ea typeface="Avenir Next"/>
                <a:cs typeface="Avenir Next"/>
              </a:rPr>
              <a:t>Ankommen als durchgängige Nutzerreise</a:t>
            </a:r>
          </a:p>
        </p:txBody>
      </p:sp>
      <p:sp>
        <p:nvSpPr>
          <p:cNvPr id="6" name="">
            <a:extLst xmlns:a="http://schemas.openxmlformats.org/drawingml/2006/main">
              <a:ext uri="{FF2B5EF4-FFF2-40B4-BE49-F238E27FC236}">
                <a16:creationId xmlns:a16="http://schemas.microsoft.com/office/drawing/2014/main" id="{3A4E55B9-AC93-45EA-AD92-55CA41B01C5F}"/>
              </a:ext>
            </a:extLst>
          </p:cNvPr>
          <p:cNvSpPr>
            <a:spLocks xmlns:a="http://schemas.openxmlformats.org/drawingml/2006/main" noGrp="1"/>
          </p:cNvSpPr>
          <p:nvPr/>
        </p:nvSpPr>
        <p:spPr>
          <a:xfrm xmlns:a="http://schemas.openxmlformats.org/drawingml/2006/main">
            <a:off x="609600" y="10287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D3DBE4"/>
                </a:solidFill>
                <a:latin typeface="Avenir Next"/>
                <a:ea typeface="Avenir Next"/>
                <a:cs typeface="Avenir Next"/>
              </a:defRPr>
            </a:pPr>
            <a:r>
              <a:rPr sz="1425" b="0" i="0">
                <a:solidFill>
                  <a:srgbClr val="D3DBE4"/>
                </a:solidFill>
                <a:latin typeface="Avenir Next"/>
                <a:ea typeface="Avenir Next"/>
                <a:cs typeface="Avenir Next"/>
              </a:rPr>
              <a:t>Vom nächsten Pflichtschritt bis zum Alltag vor Ort</a:t>
            </a:r>
          </a:p>
        </p:txBody>
      </p:sp>
      <p:sp>
        <p:nvSpPr>
          <p:cNvPr id="7" name="">
            <a:extLst xmlns:a="http://schemas.openxmlformats.org/drawingml/2006/main">
              <a:ext uri="{FF2B5EF4-FFF2-40B4-BE49-F238E27FC236}">
                <a16:creationId xmlns:a16="http://schemas.microsoft.com/office/drawing/2014/main" id="{4D630AC1-CC59-4154-8C1D-ED4AF075A2F1}"/>
              </a:ext>
            </a:extLst>
          </p:cNvPr>
          <p:cNvSpPr>
            <a:spLocks xmlns:a="http://schemas.openxmlformats.org/drawingml/2006/main" noGrp="1"/>
          </p:cNvSpPr>
          <p:nvPr/>
        </p:nvSpPr>
        <p:spPr>
          <a:xfrm xmlns:a="http://schemas.openxmlformats.org/drawingml/2006/main">
            <a:off x="609600" y="4686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BD456988-DCFF-4FC7-A058-4AFFFDB917FD}"/>
              </a:ext>
            </a:extLst>
          </p:cNvPr>
          <p:cNvSpPr>
            <a:spLocks xmlns:a="http://schemas.openxmlformats.org/drawingml/2006/main" noGrp="1"/>
          </p:cNvSpPr>
          <p:nvPr/>
        </p:nvSpPr>
        <p:spPr>
          <a:xfrm xmlns:a="http://schemas.openxmlformats.org/drawingml/2006/main">
            <a:off x="609600" y="5010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FFFF"/>
                </a:solidFill>
                <a:latin typeface="Avenir Next"/>
                <a:ea typeface="Avenir Next"/>
                <a:cs typeface="Avenir Next"/>
              </a:defRPr>
            </a:pPr>
            <a:r>
              <a:rPr sz="1650" b="1" i="0">
                <a:solidFill>
                  <a:srgbClr val="FFFFFF"/>
                </a:solidFill>
                <a:latin typeface="Avenir Next"/>
                <a:ea typeface="Avenir Next"/>
                <a:cs typeface="Avenir Next"/>
              </a:rPr>
              <a:t>Mein Prozess</a:t>
            </a:r>
          </a:p>
        </p:txBody>
      </p:sp>
      <p:sp>
        <p:nvSpPr>
          <p:cNvPr id="9" name="">
            <a:extLst xmlns:a="http://schemas.openxmlformats.org/drawingml/2006/main">
              <a:ext uri="{FF2B5EF4-FFF2-40B4-BE49-F238E27FC236}">
                <a16:creationId xmlns:a16="http://schemas.microsoft.com/office/drawing/2014/main" id="{E6F4F289-7633-44F6-B691-989E76ACEC14}"/>
              </a:ext>
            </a:extLst>
          </p:cNvPr>
          <p:cNvSpPr>
            <a:spLocks xmlns:a="http://schemas.openxmlformats.org/drawingml/2006/main" noGrp="1"/>
          </p:cNvSpPr>
          <p:nvPr/>
        </p:nvSpPr>
        <p:spPr>
          <a:xfrm xmlns:a="http://schemas.openxmlformats.org/drawingml/2006/main">
            <a:off x="609600" y="54292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BD4DE"/>
                </a:solidFill>
                <a:latin typeface="Avenir Next"/>
                <a:ea typeface="Avenir Next"/>
                <a:cs typeface="Avenir Next"/>
              </a:defRPr>
            </a:pPr>
            <a:r>
              <a:rPr sz="1275" b="0" i="0">
                <a:solidFill>
                  <a:srgbClr val="CBD4DE"/>
                </a:solidFill>
                <a:latin typeface="Avenir Next"/>
                <a:ea typeface="Avenir Next"/>
                <a:cs typeface="Avenir Next"/>
              </a:rPr>
              <a:t>Status, Aufgaben, Dokumente</a:t>
            </a:r>
          </a:p>
        </p:txBody>
      </p:sp>
      <p:sp>
        <p:nvSpPr>
          <p:cNvPr id="10" name="">
            <a:extLst xmlns:a="http://schemas.openxmlformats.org/drawingml/2006/main">
              <a:ext uri="{FF2B5EF4-FFF2-40B4-BE49-F238E27FC236}">
                <a16:creationId xmlns:a16="http://schemas.microsoft.com/office/drawing/2014/main" id="{69C87BFC-1292-47CE-A4E3-55EE1A7B588D}"/>
              </a:ext>
            </a:extLst>
          </p:cNvPr>
          <p:cNvSpPr>
            <a:spLocks xmlns:a="http://schemas.openxmlformats.org/drawingml/2006/main" noGrp="1"/>
          </p:cNvSpPr>
          <p:nvPr/>
        </p:nvSpPr>
        <p:spPr>
          <a:xfrm xmlns:a="http://schemas.openxmlformats.org/drawingml/2006/main">
            <a:off x="2990850" y="4724400"/>
            <a:ext cx="247650" cy="0"/>
          </a:xfrm>
          <a:prstGeom xmlns:a="http://schemas.openxmlformats.org/drawingml/2006/main" prst="line">
            <a:avLst/>
          </a:prstGeom>
          <a:noFill xmlns:a="http://schemas.openxmlformats.org/drawingml/2006/main"/>
          <a:ln xmlns:a="http://schemas.openxmlformats.org/drawingml/2006/main" w="14288">
            <a:solidFill>
              <a:srgbClr val="C8A25A"/>
            </a:solidFill>
            <a:prstDash val="solid"/>
          </a:ln>
        </p:spPr>
      </p:sp>
      <p:sp>
        <p:nvSpPr>
          <p:cNvPr id="11" name="">
            <a:extLst xmlns:a="http://schemas.openxmlformats.org/drawingml/2006/main">
              <a:ext uri="{FF2B5EF4-FFF2-40B4-BE49-F238E27FC236}">
                <a16:creationId xmlns:a16="http://schemas.microsoft.com/office/drawing/2014/main" id="{43256621-E8DE-4348-8D8F-D1E4583F341A}"/>
              </a:ext>
            </a:extLst>
          </p:cNvPr>
          <p:cNvSpPr>
            <a:spLocks xmlns:a="http://schemas.openxmlformats.org/drawingml/2006/main" noGrp="1"/>
          </p:cNvSpPr>
          <p:nvPr/>
        </p:nvSpPr>
        <p:spPr>
          <a:xfrm xmlns:a="http://schemas.openxmlformats.org/drawingml/2006/main">
            <a:off x="3409950" y="4686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53FCCDF3-F956-432F-8967-97EC1A8C0A88}"/>
              </a:ext>
            </a:extLst>
          </p:cNvPr>
          <p:cNvSpPr>
            <a:spLocks xmlns:a="http://schemas.openxmlformats.org/drawingml/2006/main" noGrp="1"/>
          </p:cNvSpPr>
          <p:nvPr/>
        </p:nvSpPr>
        <p:spPr>
          <a:xfrm xmlns:a="http://schemas.openxmlformats.org/drawingml/2006/main">
            <a:off x="3409950" y="5010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FFFF"/>
                </a:solidFill>
                <a:latin typeface="Avenir Next"/>
                <a:ea typeface="Avenir Next"/>
                <a:cs typeface="Avenir Next"/>
              </a:defRPr>
            </a:pPr>
            <a:r>
              <a:rPr sz="1650" b="1" i="0">
                <a:solidFill>
                  <a:srgbClr val="FFFFFF"/>
                </a:solidFill>
                <a:latin typeface="Avenir Next"/>
                <a:ea typeface="Avenir Next"/>
                <a:cs typeface="Avenir Next"/>
              </a:rPr>
              <a:t>Mein Wohnen</a:t>
            </a:r>
          </a:p>
        </p:txBody>
      </p:sp>
      <p:sp>
        <p:nvSpPr>
          <p:cNvPr id="13" name="">
            <a:extLst xmlns:a="http://schemas.openxmlformats.org/drawingml/2006/main">
              <a:ext uri="{FF2B5EF4-FFF2-40B4-BE49-F238E27FC236}">
                <a16:creationId xmlns:a16="http://schemas.microsoft.com/office/drawing/2014/main" id="{18AC6336-EA58-4A4D-8D7D-FE6DACE9C4D4}"/>
              </a:ext>
            </a:extLst>
          </p:cNvPr>
          <p:cNvSpPr>
            <a:spLocks xmlns:a="http://schemas.openxmlformats.org/drawingml/2006/main" noGrp="1"/>
          </p:cNvSpPr>
          <p:nvPr/>
        </p:nvSpPr>
        <p:spPr>
          <a:xfrm xmlns:a="http://schemas.openxmlformats.org/drawingml/2006/main">
            <a:off x="3409950" y="54292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BD4DE"/>
                </a:solidFill>
                <a:latin typeface="Avenir Next"/>
                <a:ea typeface="Avenir Next"/>
                <a:cs typeface="Avenir Next"/>
              </a:defRPr>
            </a:pPr>
            <a:r>
              <a:rPr sz="1275" b="0" i="0">
                <a:solidFill>
                  <a:srgbClr val="CBD4DE"/>
                </a:solidFill>
                <a:latin typeface="Avenir Next"/>
                <a:ea typeface="Avenir Next"/>
                <a:cs typeface="Avenir Next"/>
              </a:rPr>
              <a:t>Angebot, Kosten, Einzug</a:t>
            </a:r>
          </a:p>
        </p:txBody>
      </p:sp>
      <p:sp>
        <p:nvSpPr>
          <p:cNvPr id="14" name="">
            <a:extLst xmlns:a="http://schemas.openxmlformats.org/drawingml/2006/main">
              <a:ext uri="{FF2B5EF4-FFF2-40B4-BE49-F238E27FC236}">
                <a16:creationId xmlns:a16="http://schemas.microsoft.com/office/drawing/2014/main" id="{FAA50E27-7A70-4984-A31A-61D5C7F28B2E}"/>
              </a:ext>
            </a:extLst>
          </p:cNvPr>
          <p:cNvSpPr>
            <a:spLocks xmlns:a="http://schemas.openxmlformats.org/drawingml/2006/main" noGrp="1"/>
          </p:cNvSpPr>
          <p:nvPr/>
        </p:nvSpPr>
        <p:spPr>
          <a:xfrm xmlns:a="http://schemas.openxmlformats.org/drawingml/2006/main">
            <a:off x="5791200" y="4724400"/>
            <a:ext cx="247650" cy="0"/>
          </a:xfrm>
          <a:prstGeom xmlns:a="http://schemas.openxmlformats.org/drawingml/2006/main" prst="line">
            <a:avLst/>
          </a:prstGeom>
          <a:noFill xmlns:a="http://schemas.openxmlformats.org/drawingml/2006/main"/>
          <a:ln xmlns:a="http://schemas.openxmlformats.org/drawingml/2006/main" w="14288">
            <a:solidFill>
              <a:srgbClr val="C8A25A"/>
            </a:solidFill>
            <a:prstDash val="solid"/>
          </a:ln>
        </p:spPr>
      </p:sp>
      <p:sp>
        <p:nvSpPr>
          <p:cNvPr id="15" name="">
            <a:extLst xmlns:a="http://schemas.openxmlformats.org/drawingml/2006/main">
              <a:ext uri="{FF2B5EF4-FFF2-40B4-BE49-F238E27FC236}">
                <a16:creationId xmlns:a16="http://schemas.microsoft.com/office/drawing/2014/main" id="{E1057E5E-BB23-4EDE-B8C5-8917C854AAA3}"/>
              </a:ext>
            </a:extLst>
          </p:cNvPr>
          <p:cNvSpPr>
            <a:spLocks xmlns:a="http://schemas.openxmlformats.org/drawingml/2006/main" noGrp="1"/>
          </p:cNvSpPr>
          <p:nvPr/>
        </p:nvSpPr>
        <p:spPr>
          <a:xfrm xmlns:a="http://schemas.openxmlformats.org/drawingml/2006/main">
            <a:off x="6210300" y="4686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03</a:t>
            </a:r>
          </a:p>
        </p:txBody>
      </p:sp>
      <p:sp>
        <p:nvSpPr>
          <p:cNvPr id="16" name="">
            <a:extLst xmlns:a="http://schemas.openxmlformats.org/drawingml/2006/main">
              <a:ext uri="{FF2B5EF4-FFF2-40B4-BE49-F238E27FC236}">
                <a16:creationId xmlns:a16="http://schemas.microsoft.com/office/drawing/2014/main" id="{C4CFC10E-6D3E-4900-BEF0-8968C3594733}"/>
              </a:ext>
            </a:extLst>
          </p:cNvPr>
          <p:cNvSpPr>
            <a:spLocks xmlns:a="http://schemas.openxmlformats.org/drawingml/2006/main" noGrp="1"/>
          </p:cNvSpPr>
          <p:nvPr/>
        </p:nvSpPr>
        <p:spPr>
          <a:xfrm xmlns:a="http://schemas.openxmlformats.org/drawingml/2006/main">
            <a:off x="6210300" y="5010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FFFF"/>
                </a:solidFill>
                <a:latin typeface="Avenir Next"/>
                <a:ea typeface="Avenir Next"/>
                <a:cs typeface="Avenir Next"/>
              </a:defRPr>
            </a:pPr>
            <a:r>
              <a:rPr sz="1650" b="1" i="0">
                <a:solidFill>
                  <a:srgbClr val="FFFFFF"/>
                </a:solidFill>
                <a:latin typeface="Avenir Next"/>
                <a:ea typeface="Avenir Next"/>
                <a:cs typeface="Avenir Next"/>
              </a:rPr>
              <a:t>Meine Stadt</a:t>
            </a:r>
          </a:p>
        </p:txBody>
      </p:sp>
      <p:sp>
        <p:nvSpPr>
          <p:cNvPr id="17" name="">
            <a:extLst xmlns:a="http://schemas.openxmlformats.org/drawingml/2006/main">
              <a:ext uri="{FF2B5EF4-FFF2-40B4-BE49-F238E27FC236}">
                <a16:creationId xmlns:a16="http://schemas.microsoft.com/office/drawing/2014/main" id="{9C63BE67-3836-48F3-89F3-D713FAEDBC6B}"/>
              </a:ext>
            </a:extLst>
          </p:cNvPr>
          <p:cNvSpPr>
            <a:spLocks xmlns:a="http://schemas.openxmlformats.org/drawingml/2006/main" noGrp="1"/>
          </p:cNvSpPr>
          <p:nvPr/>
        </p:nvSpPr>
        <p:spPr>
          <a:xfrm xmlns:a="http://schemas.openxmlformats.org/drawingml/2006/main">
            <a:off x="6210300" y="54292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BD4DE"/>
                </a:solidFill>
                <a:latin typeface="Avenir Next"/>
                <a:ea typeface="Avenir Next"/>
                <a:cs typeface="Avenir Next"/>
              </a:defRPr>
            </a:pPr>
            <a:r>
              <a:rPr sz="1275" b="0" i="0">
                <a:solidFill>
                  <a:srgbClr val="CBD4DE"/>
                </a:solidFill>
                <a:latin typeface="Avenir Next"/>
                <a:ea typeface="Avenir Next"/>
                <a:cs typeface="Avenir Next"/>
              </a:rPr>
              <a:t>Behörden, Sprache, Community</a:t>
            </a:r>
          </a:p>
        </p:txBody>
      </p:sp>
      <p:sp>
        <p:nvSpPr>
          <p:cNvPr id="18" name="">
            <a:extLst xmlns:a="http://schemas.openxmlformats.org/drawingml/2006/main">
              <a:ext uri="{FF2B5EF4-FFF2-40B4-BE49-F238E27FC236}">
                <a16:creationId xmlns:a16="http://schemas.microsoft.com/office/drawing/2014/main" id="{802CD53B-65F4-4660-8723-CB6C9E3CBC96}"/>
              </a:ext>
            </a:extLst>
          </p:cNvPr>
          <p:cNvSpPr>
            <a:spLocks xmlns:a="http://schemas.openxmlformats.org/drawingml/2006/main" noGrp="1"/>
          </p:cNvSpPr>
          <p:nvPr/>
        </p:nvSpPr>
        <p:spPr>
          <a:xfrm xmlns:a="http://schemas.openxmlformats.org/drawingml/2006/main">
            <a:off x="8591550" y="4724400"/>
            <a:ext cx="247650" cy="0"/>
          </a:xfrm>
          <a:prstGeom xmlns:a="http://schemas.openxmlformats.org/drawingml/2006/main" prst="line">
            <a:avLst/>
          </a:prstGeom>
          <a:noFill xmlns:a="http://schemas.openxmlformats.org/drawingml/2006/main"/>
          <a:ln xmlns:a="http://schemas.openxmlformats.org/drawingml/2006/main" w="14288">
            <a:solidFill>
              <a:srgbClr val="C8A25A"/>
            </a:solidFill>
            <a:prstDash val="solid"/>
          </a:ln>
        </p:spPr>
      </p:sp>
      <p:sp>
        <p:nvSpPr>
          <p:cNvPr id="19" name="">
            <a:extLst xmlns:a="http://schemas.openxmlformats.org/drawingml/2006/main">
              <a:ext uri="{FF2B5EF4-FFF2-40B4-BE49-F238E27FC236}">
                <a16:creationId xmlns:a16="http://schemas.microsoft.com/office/drawing/2014/main" id="{1D3C9C17-A33B-45DF-AA9F-05F4796E8902}"/>
              </a:ext>
            </a:extLst>
          </p:cNvPr>
          <p:cNvSpPr>
            <a:spLocks xmlns:a="http://schemas.openxmlformats.org/drawingml/2006/main" noGrp="1"/>
          </p:cNvSpPr>
          <p:nvPr/>
        </p:nvSpPr>
        <p:spPr>
          <a:xfrm xmlns:a="http://schemas.openxmlformats.org/drawingml/2006/main">
            <a:off x="9010650" y="4686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04</a:t>
            </a:r>
          </a:p>
        </p:txBody>
      </p:sp>
      <p:sp>
        <p:nvSpPr>
          <p:cNvPr id="20" name="">
            <a:extLst xmlns:a="http://schemas.openxmlformats.org/drawingml/2006/main">
              <a:ext uri="{FF2B5EF4-FFF2-40B4-BE49-F238E27FC236}">
                <a16:creationId xmlns:a16="http://schemas.microsoft.com/office/drawing/2014/main" id="{9918E1BE-3D82-4E7F-8EAF-AE9017D8ED6F}"/>
              </a:ext>
            </a:extLst>
          </p:cNvPr>
          <p:cNvSpPr>
            <a:spLocks xmlns:a="http://schemas.openxmlformats.org/drawingml/2006/main" noGrp="1"/>
          </p:cNvSpPr>
          <p:nvPr/>
        </p:nvSpPr>
        <p:spPr>
          <a:xfrm xmlns:a="http://schemas.openxmlformats.org/drawingml/2006/main">
            <a:off x="9010650" y="5010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FFFF"/>
                </a:solidFill>
                <a:latin typeface="Avenir Next"/>
                <a:ea typeface="Avenir Next"/>
                <a:cs typeface="Avenir Next"/>
              </a:defRPr>
            </a:pPr>
            <a:r>
              <a:rPr sz="1650" b="1" i="0">
                <a:solidFill>
                  <a:srgbClr val="FFFFFF"/>
                </a:solidFill>
                <a:latin typeface="Avenir Next"/>
                <a:ea typeface="Avenir Next"/>
                <a:cs typeface="Avenir Next"/>
              </a:rPr>
              <a:t>Partnerangebote</a:t>
            </a:r>
          </a:p>
        </p:txBody>
      </p:sp>
      <p:sp>
        <p:nvSpPr>
          <p:cNvPr id="21" name="">
            <a:extLst xmlns:a="http://schemas.openxmlformats.org/drawingml/2006/main">
              <a:ext uri="{FF2B5EF4-FFF2-40B4-BE49-F238E27FC236}">
                <a16:creationId xmlns:a16="http://schemas.microsoft.com/office/drawing/2014/main" id="{56F0CA95-F473-44FB-88FF-EC0D0C5B3FE5}"/>
              </a:ext>
            </a:extLst>
          </p:cNvPr>
          <p:cNvSpPr>
            <a:spLocks xmlns:a="http://schemas.openxmlformats.org/drawingml/2006/main" noGrp="1"/>
          </p:cNvSpPr>
          <p:nvPr/>
        </p:nvSpPr>
        <p:spPr>
          <a:xfrm xmlns:a="http://schemas.openxmlformats.org/drawingml/2006/main">
            <a:off x="9010650" y="54292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BD4DE"/>
                </a:solidFill>
                <a:latin typeface="Avenir Next"/>
                <a:ea typeface="Avenir Next"/>
                <a:cs typeface="Avenir Next"/>
              </a:defRPr>
            </a:pPr>
            <a:r>
              <a:rPr sz="1275" b="0" i="0">
                <a:solidFill>
                  <a:srgbClr val="CBD4DE"/>
                </a:solidFill>
                <a:latin typeface="Avenir Next"/>
                <a:ea typeface="Avenir Next"/>
                <a:cs typeface="Avenir Next"/>
              </a:rPr>
              <a:t>Services, Events, Kontakte</a:t>
            </a:r>
          </a:p>
        </p:txBody>
      </p:sp>
      <p:sp>
        <p:nvSpPr>
          <p:cNvPr id="22" name="">
            <a:extLst xmlns:a="http://schemas.openxmlformats.org/drawingml/2006/main">
              <a:ext uri="{FF2B5EF4-FFF2-40B4-BE49-F238E27FC236}">
                <a16:creationId xmlns:a16="http://schemas.microsoft.com/office/drawing/2014/main" id="{2E7805C2-EA3D-4E4A-A587-323150CE343A}"/>
              </a:ext>
            </a:extLst>
          </p:cNvPr>
          <p:cNvSpPr>
            <a:spLocks xmlns:a="http://schemas.openxmlformats.org/drawingml/2006/main" noGrp="1"/>
          </p:cNvSpPr>
          <p:nvPr/>
        </p:nvSpPr>
        <p:spPr>
          <a:xfrm xmlns:a="http://schemas.openxmlformats.org/drawingml/2006/main">
            <a:off x="609600" y="62293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AEB9C5"/>
                </a:solidFill>
                <a:latin typeface="Avenir Next"/>
                <a:ea typeface="Avenir Next"/>
                <a:cs typeface="Avenir Next"/>
              </a:defRPr>
            </a:pPr>
            <a:r>
              <a:rPr sz="1050" b="0" i="0">
                <a:solidFill>
                  <a:srgbClr val="AEB9C5"/>
                </a:solidFill>
                <a:latin typeface="Avenir Next"/>
                <a:ea typeface="Avenir Next"/>
                <a:cs typeface="Avenir Next"/>
              </a:rPr>
              <a:t>Zielarchitektur. Entwicklung und Pilotierung erfolgen stufenweise.</a:t>
            </a:r>
          </a:p>
        </p:txBody>
      </p:sp>
      <p:sp>
        <p:nvSpPr>
          <p:cNvPr id="23" name="">
            <a:extLst xmlns:a="http://schemas.openxmlformats.org/drawingml/2006/main">
              <a:ext uri="{FF2B5EF4-FFF2-40B4-BE49-F238E27FC236}">
                <a16:creationId xmlns:a16="http://schemas.microsoft.com/office/drawing/2014/main" id="{4F594622-F3D9-4A7A-A257-89EFD44BBBDA}"/>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24" name="">
            <a:extLst xmlns:a="http://schemas.openxmlformats.org/drawingml/2006/main">
              <a:ext uri="{FF2B5EF4-FFF2-40B4-BE49-F238E27FC236}">
                <a16:creationId xmlns:a16="http://schemas.microsoft.com/office/drawing/2014/main" id="{5613961F-8A1C-4C6E-A9FD-D3B80CB4933F}"/>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05</a:t>
            </a:r>
          </a:p>
        </p:txBody>
      </p:sp>
    </p:spTree>
    <p:extLst>
      <p:ext uri="{BB962C8B-B14F-4D97-AF65-F5344CB8AC3E}">
        <p14:creationId xmlns:p14="http://schemas.microsoft.com/office/powerpoint/2010/main" val="948609979"/>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6B3A007-EDF0-4BEE-B806-B76129AF146D}"/>
              </a:ext>
            </a:extLst>
          </p:cNvPr>
          <p:cNvSpPr>
            <a:spLocks xmlns:a="http://schemas.openxmlformats.org/drawingml/2006/main" noGrp="1"/>
          </p:cNvSpPr>
          <p:nvPr/>
        </p:nvSpPr>
        <p:spPr>
          <a:xfrm xmlns:a="http://schemas.openxmlformats.org/drawingml/2006/main">
            <a:off x="609600" y="476250"/>
            <a:ext cx="571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i="0">
                <a:solidFill>
                  <a:srgbClr val="071527"/>
                </a:solidFill>
                <a:latin typeface="Avenir Next"/>
                <a:ea typeface="Avenir Next"/>
                <a:cs typeface="Avenir Next"/>
              </a:defRPr>
            </a:pPr>
            <a:r>
              <a:rPr sz="3150" b="1" i="0">
                <a:solidFill>
                  <a:srgbClr val="071527"/>
                </a:solidFill>
                <a:latin typeface="Avenir Next"/>
                <a:ea typeface="Avenir Next"/>
                <a:cs typeface="Avenir Next"/>
              </a:rPr>
              <a:t>Erlösmodell</a:t>
            </a:r>
          </a:p>
        </p:txBody>
      </p:sp>
      <p:sp>
        <p:nvSpPr>
          <p:cNvPr id="2" name="">
            <a:extLst xmlns:a="http://schemas.openxmlformats.org/drawingml/2006/main">
              <a:ext uri="{FF2B5EF4-FFF2-40B4-BE49-F238E27FC236}">
                <a16:creationId xmlns:a16="http://schemas.microsoft.com/office/drawing/2014/main" id="{B01782A6-6764-4884-A6F2-5996648A899C}"/>
              </a:ext>
            </a:extLst>
          </p:cNvPr>
          <p:cNvSpPr>
            <a:spLocks xmlns:a="http://schemas.openxmlformats.org/drawingml/2006/main" noGrp="1"/>
          </p:cNvSpPr>
          <p:nvPr/>
        </p:nvSpPr>
        <p:spPr>
          <a:xfrm xmlns:a="http://schemas.openxmlformats.org/drawingml/2006/main">
            <a:off x="609600" y="1428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A78342"/>
                </a:solidFill>
                <a:latin typeface="Avenir Next"/>
                <a:ea typeface="Avenir Next"/>
                <a:cs typeface="Avenir Next"/>
              </a:defRPr>
            </a:pPr>
            <a:r>
              <a:rPr sz="1125" b="1" i="0">
                <a:solidFill>
                  <a:srgbClr val="A78342"/>
                </a:solidFill>
                <a:latin typeface="Avenir Next"/>
                <a:ea typeface="Avenir Next"/>
                <a:cs typeface="Avenir Next"/>
              </a:rPr>
              <a:t>HEUTE</a:t>
            </a:r>
          </a:p>
        </p:txBody>
      </p:sp>
      <p:sp>
        <p:nvSpPr>
          <p:cNvPr id="3" name="">
            <a:extLst xmlns:a="http://schemas.openxmlformats.org/drawingml/2006/main">
              <a:ext uri="{FF2B5EF4-FFF2-40B4-BE49-F238E27FC236}">
                <a16:creationId xmlns:a16="http://schemas.microsoft.com/office/drawing/2014/main" id="{51D05CF9-A930-487D-99F2-D6EF8F499FB2}"/>
              </a:ext>
            </a:extLst>
          </p:cNvPr>
          <p:cNvSpPr>
            <a:spLocks xmlns:a="http://schemas.openxmlformats.org/drawingml/2006/main" noGrp="1"/>
          </p:cNvSpPr>
          <p:nvPr/>
        </p:nvSpPr>
        <p:spPr>
          <a:xfrm xmlns:a="http://schemas.openxmlformats.org/drawingml/2006/main">
            <a:off x="609600" y="1752600"/>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60"/>
          </a:bodyPr>
          <a:lstStyle xmlns:a="http://schemas.openxmlformats.org/drawingml/2006/main"/>
          <a:p xmlns:a="http://schemas.openxmlformats.org/drawingml/2006/main">
            <a:pPr algn="l">
              <a:lnSpc>
                <a:spcPct val="100000"/>
              </a:lnSpc>
              <a:buNone/>
              <a:defRPr sz="2550" b="1" i="0">
                <a:solidFill>
                  <a:srgbClr val="071527"/>
                </a:solidFill>
                <a:latin typeface="Avenir Next"/>
                <a:ea typeface="Avenir Next"/>
                <a:cs typeface="Avenir Next"/>
              </a:defRPr>
            </a:pPr>
            <a:r>
              <a:rPr sz="2550" b="1" i="0">
                <a:solidFill>
                  <a:srgbClr val="071527"/>
                </a:solidFill>
                <a:latin typeface="Avenir Next"/>
                <a:ea typeface="Avenir Next"/>
                <a:cs typeface="Avenir Next"/>
              </a:rPr>
              <a:t>Service finanziert den Markteintritt</a:t>
            </a:r>
          </a:p>
        </p:txBody>
      </p:sp>
      <p:sp>
        <p:nvSpPr>
          <p:cNvPr id="4" name="">
            <a:extLst xmlns:a="http://schemas.openxmlformats.org/drawingml/2006/main">
              <a:ext uri="{FF2B5EF4-FFF2-40B4-BE49-F238E27FC236}">
                <a16:creationId xmlns:a16="http://schemas.microsoft.com/office/drawing/2014/main" id="{03D59BF4-39D6-4228-AFE1-C41A688197C2}"/>
              </a:ext>
            </a:extLst>
          </p:cNvPr>
          <p:cNvSpPr>
            <a:spLocks xmlns:a="http://schemas.openxmlformats.org/drawingml/2006/main" noGrp="1"/>
          </p:cNvSpPr>
          <p:nvPr/>
        </p:nvSpPr>
        <p:spPr>
          <a:xfrm xmlns:a="http://schemas.openxmlformats.org/drawingml/2006/main">
            <a:off x="609600" y="2571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071527"/>
                </a:solidFill>
                <a:latin typeface="Avenir Next"/>
                <a:ea typeface="Avenir Next"/>
                <a:cs typeface="Avenir Next"/>
              </a:defRPr>
            </a:pPr>
            <a:r>
              <a:rPr sz="1500" b="1" i="0">
                <a:solidFill>
                  <a:srgbClr val="071527"/>
                </a:solidFill>
                <a:latin typeface="Avenir Next"/>
                <a:ea typeface="Avenir Next"/>
                <a:cs typeface="Avenir Next"/>
              </a:rPr>
              <a:t>Readiness Sprint</a:t>
            </a:r>
          </a:p>
        </p:txBody>
      </p:sp>
      <p:sp>
        <p:nvSpPr>
          <p:cNvPr id="5" name="">
            <a:extLst xmlns:a="http://schemas.openxmlformats.org/drawingml/2006/main">
              <a:ext uri="{FF2B5EF4-FFF2-40B4-BE49-F238E27FC236}">
                <a16:creationId xmlns:a16="http://schemas.microsoft.com/office/drawing/2014/main" id="{6C677E2E-8A8A-4818-9A89-E12F878423BD}"/>
              </a:ext>
            </a:extLst>
          </p:cNvPr>
          <p:cNvSpPr>
            <a:spLocks xmlns:a="http://schemas.openxmlformats.org/drawingml/2006/main" noGrp="1"/>
          </p:cNvSpPr>
          <p:nvPr/>
        </p:nvSpPr>
        <p:spPr>
          <a:xfrm xmlns:a="http://schemas.openxmlformats.org/drawingml/2006/main">
            <a:off x="3333750" y="25527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A78342"/>
                </a:solidFill>
                <a:latin typeface="Avenir Next"/>
                <a:ea typeface="Avenir Next"/>
                <a:cs typeface="Avenir Next"/>
              </a:defRPr>
            </a:pPr>
            <a:r>
              <a:rPr sz="1575" b="1" i="0">
                <a:solidFill>
                  <a:srgbClr val="A78342"/>
                </a:solidFill>
                <a:latin typeface="Avenir Next"/>
                <a:ea typeface="Avenir Next"/>
                <a:cs typeface="Avenir Next"/>
              </a:rPr>
              <a:t>ab 5.900 EUR</a:t>
            </a:r>
          </a:p>
        </p:txBody>
      </p:sp>
      <p:sp>
        <p:nvSpPr>
          <p:cNvPr id="6" name="">
            <a:extLst xmlns:a="http://schemas.openxmlformats.org/drawingml/2006/main">
              <a:ext uri="{FF2B5EF4-FFF2-40B4-BE49-F238E27FC236}">
                <a16:creationId xmlns:a16="http://schemas.microsoft.com/office/drawing/2014/main" id="{DC581312-0F38-4448-AB95-9B64EFA25C53}"/>
              </a:ext>
            </a:extLst>
          </p:cNvPr>
          <p:cNvSpPr>
            <a:spLocks xmlns:a="http://schemas.openxmlformats.org/drawingml/2006/main" noGrp="1"/>
          </p:cNvSpPr>
          <p:nvPr/>
        </p:nvSpPr>
        <p:spPr>
          <a:xfrm xmlns:a="http://schemas.openxmlformats.org/drawingml/2006/main">
            <a:off x="609600" y="28575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6717D"/>
                </a:solidFill>
                <a:latin typeface="Avenir Next"/>
                <a:ea typeface="Avenir Next"/>
                <a:cs typeface="Avenir Next"/>
              </a:defRPr>
            </a:pPr>
            <a:r>
              <a:rPr sz="1050" b="0" i="0">
                <a:solidFill>
                  <a:srgbClr val="66717D"/>
                </a:solidFill>
                <a:latin typeface="Avenir Next"/>
                <a:ea typeface="Avenir Next"/>
                <a:cs typeface="Avenir Next"/>
              </a:rPr>
              <a:t>2 bis 3 Wochen</a:t>
            </a:r>
          </a:p>
        </p:txBody>
      </p:sp>
      <p:sp>
        <p:nvSpPr>
          <p:cNvPr id="7" name="">
            <a:extLst xmlns:a="http://schemas.openxmlformats.org/drawingml/2006/main">
              <a:ext uri="{FF2B5EF4-FFF2-40B4-BE49-F238E27FC236}">
                <a16:creationId xmlns:a16="http://schemas.microsoft.com/office/drawing/2014/main" id="{D286B538-92E2-4A11-9BE0-DC691CE47F91}"/>
              </a:ext>
            </a:extLst>
          </p:cNvPr>
          <p:cNvSpPr>
            <a:spLocks xmlns:a="http://schemas.openxmlformats.org/drawingml/2006/main" noGrp="1"/>
          </p:cNvSpPr>
          <p:nvPr/>
        </p:nvSpPr>
        <p:spPr>
          <a:xfrm xmlns:a="http://schemas.openxmlformats.org/drawingml/2006/main">
            <a:off x="609600" y="3124200"/>
            <a:ext cx="4667250" cy="0"/>
          </a:xfrm>
          <a:prstGeom xmlns:a="http://schemas.openxmlformats.org/drawingml/2006/main" prst="line">
            <a:avLst/>
          </a:prstGeom>
          <a:noFill xmlns:a="http://schemas.openxmlformats.org/drawingml/2006/main"/>
          <a:ln xmlns:a="http://schemas.openxmlformats.org/drawingml/2006/main" w="9525">
            <a:solidFill>
              <a:srgbClr val="D8D5CD"/>
            </a:solidFill>
            <a:prstDash val="solid"/>
          </a:ln>
        </p:spPr>
      </p:sp>
      <p:sp>
        <p:nvSpPr>
          <p:cNvPr id="8" name="">
            <a:extLst xmlns:a="http://schemas.openxmlformats.org/drawingml/2006/main">
              <a:ext uri="{FF2B5EF4-FFF2-40B4-BE49-F238E27FC236}">
                <a16:creationId xmlns:a16="http://schemas.microsoft.com/office/drawing/2014/main" id="{68E09AEB-C713-4071-A146-3836F9CD7DF9}"/>
              </a:ext>
            </a:extLst>
          </p:cNvPr>
          <p:cNvSpPr>
            <a:spLocks xmlns:a="http://schemas.openxmlformats.org/drawingml/2006/main" noGrp="1"/>
          </p:cNvSpPr>
          <p:nvPr/>
        </p:nvSpPr>
        <p:spPr>
          <a:xfrm xmlns:a="http://schemas.openxmlformats.org/drawingml/2006/main">
            <a:off x="609600" y="3257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071527"/>
                </a:solidFill>
                <a:latin typeface="Avenir Next"/>
                <a:ea typeface="Avenir Next"/>
                <a:cs typeface="Avenir Next"/>
              </a:defRPr>
            </a:pPr>
            <a:r>
              <a:rPr sz="1500" b="1" i="0">
                <a:solidFill>
                  <a:srgbClr val="071527"/>
                </a:solidFill>
                <a:latin typeface="Avenir Next"/>
                <a:ea typeface="Avenir Next"/>
                <a:cs typeface="Avenir Next"/>
              </a:rPr>
              <a:t>Arrival Control Pilot</a:t>
            </a:r>
          </a:p>
        </p:txBody>
      </p:sp>
      <p:sp>
        <p:nvSpPr>
          <p:cNvPr id="9" name="">
            <a:extLst xmlns:a="http://schemas.openxmlformats.org/drawingml/2006/main">
              <a:ext uri="{FF2B5EF4-FFF2-40B4-BE49-F238E27FC236}">
                <a16:creationId xmlns:a16="http://schemas.microsoft.com/office/drawing/2014/main" id="{90B5FDEA-6795-42A1-A11D-F4F1E8CB3E92}"/>
              </a:ext>
            </a:extLst>
          </p:cNvPr>
          <p:cNvSpPr>
            <a:spLocks xmlns:a="http://schemas.openxmlformats.org/drawingml/2006/main" noGrp="1"/>
          </p:cNvSpPr>
          <p:nvPr/>
        </p:nvSpPr>
        <p:spPr>
          <a:xfrm xmlns:a="http://schemas.openxmlformats.org/drawingml/2006/main">
            <a:off x="3333750" y="3238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A78342"/>
                </a:solidFill>
                <a:latin typeface="Avenir Next"/>
                <a:ea typeface="Avenir Next"/>
                <a:cs typeface="Avenir Next"/>
              </a:defRPr>
            </a:pPr>
            <a:r>
              <a:rPr sz="1575" b="1" i="0">
                <a:solidFill>
                  <a:srgbClr val="A78342"/>
                </a:solidFill>
                <a:latin typeface="Avenir Next"/>
                <a:ea typeface="Avenir Next"/>
                <a:cs typeface="Avenir Next"/>
              </a:rPr>
              <a:t>ab 18.500 EUR</a:t>
            </a:r>
          </a:p>
        </p:txBody>
      </p:sp>
      <p:sp>
        <p:nvSpPr>
          <p:cNvPr id="10" name="">
            <a:extLst xmlns:a="http://schemas.openxmlformats.org/drawingml/2006/main">
              <a:ext uri="{FF2B5EF4-FFF2-40B4-BE49-F238E27FC236}">
                <a16:creationId xmlns:a16="http://schemas.microsoft.com/office/drawing/2014/main" id="{D56F182F-0FEE-45E3-877C-D16C907F7274}"/>
              </a:ext>
            </a:extLst>
          </p:cNvPr>
          <p:cNvSpPr>
            <a:spLocks xmlns:a="http://schemas.openxmlformats.org/drawingml/2006/main" noGrp="1"/>
          </p:cNvSpPr>
          <p:nvPr/>
        </p:nvSpPr>
        <p:spPr>
          <a:xfrm xmlns:a="http://schemas.openxmlformats.org/drawingml/2006/main">
            <a:off x="609600" y="35433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6717D"/>
                </a:solidFill>
                <a:latin typeface="Avenir Next"/>
                <a:ea typeface="Avenir Next"/>
                <a:cs typeface="Avenir Next"/>
              </a:defRPr>
            </a:pPr>
            <a:r>
              <a:rPr sz="1050" b="0" i="0">
                <a:solidFill>
                  <a:srgbClr val="66717D"/>
                </a:solidFill>
                <a:latin typeface="Avenir Next"/>
                <a:ea typeface="Avenir Next"/>
                <a:cs typeface="Avenir Next"/>
              </a:rPr>
              <a:t>8 bis 12 Wochen</a:t>
            </a:r>
          </a:p>
        </p:txBody>
      </p:sp>
      <p:sp>
        <p:nvSpPr>
          <p:cNvPr id="11" name="">
            <a:extLst xmlns:a="http://schemas.openxmlformats.org/drawingml/2006/main">
              <a:ext uri="{FF2B5EF4-FFF2-40B4-BE49-F238E27FC236}">
                <a16:creationId xmlns:a16="http://schemas.microsoft.com/office/drawing/2014/main" id="{22F78E2C-312F-4396-BB7A-4CC2582CDF43}"/>
              </a:ext>
            </a:extLst>
          </p:cNvPr>
          <p:cNvSpPr>
            <a:spLocks xmlns:a="http://schemas.openxmlformats.org/drawingml/2006/main" noGrp="1"/>
          </p:cNvSpPr>
          <p:nvPr/>
        </p:nvSpPr>
        <p:spPr>
          <a:xfrm xmlns:a="http://schemas.openxmlformats.org/drawingml/2006/main">
            <a:off x="609600" y="3810000"/>
            <a:ext cx="4667250" cy="0"/>
          </a:xfrm>
          <a:prstGeom xmlns:a="http://schemas.openxmlformats.org/drawingml/2006/main" prst="line">
            <a:avLst/>
          </a:prstGeom>
          <a:noFill xmlns:a="http://schemas.openxmlformats.org/drawingml/2006/main"/>
          <a:ln xmlns:a="http://schemas.openxmlformats.org/drawingml/2006/main" w="9525">
            <a:solidFill>
              <a:srgbClr val="D8D5CD"/>
            </a:solidFill>
            <a:prstDash val="solid"/>
          </a:ln>
        </p:spPr>
      </p:sp>
      <p:sp>
        <p:nvSpPr>
          <p:cNvPr id="12" name="">
            <a:extLst xmlns:a="http://schemas.openxmlformats.org/drawingml/2006/main">
              <a:ext uri="{FF2B5EF4-FFF2-40B4-BE49-F238E27FC236}">
                <a16:creationId xmlns:a16="http://schemas.microsoft.com/office/drawing/2014/main" id="{B2B5F45E-4996-49E4-BE29-E9F3062ACBE9}"/>
              </a:ext>
            </a:extLst>
          </p:cNvPr>
          <p:cNvSpPr>
            <a:spLocks xmlns:a="http://schemas.openxmlformats.org/drawingml/2006/main" noGrp="1"/>
          </p:cNvSpPr>
          <p:nvPr/>
        </p:nvSpPr>
        <p:spPr>
          <a:xfrm xmlns:a="http://schemas.openxmlformats.org/drawingml/2006/main">
            <a:off x="609600" y="39433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071527"/>
                </a:solidFill>
                <a:latin typeface="Avenir Next"/>
                <a:ea typeface="Avenir Next"/>
                <a:cs typeface="Avenir Next"/>
              </a:defRPr>
            </a:pPr>
            <a:r>
              <a:rPr sz="1500" b="1" i="0">
                <a:solidFill>
                  <a:srgbClr val="071527"/>
                </a:solidFill>
                <a:latin typeface="Avenir Next"/>
                <a:ea typeface="Avenir Next"/>
                <a:cs typeface="Avenir Next"/>
              </a:rPr>
              <a:t>Erweitertes Mandat</a:t>
            </a:r>
          </a:p>
        </p:txBody>
      </p:sp>
      <p:sp>
        <p:nvSpPr>
          <p:cNvPr id="13" name="">
            <a:extLst xmlns:a="http://schemas.openxmlformats.org/drawingml/2006/main">
              <a:ext uri="{FF2B5EF4-FFF2-40B4-BE49-F238E27FC236}">
                <a16:creationId xmlns:a16="http://schemas.microsoft.com/office/drawing/2014/main" id="{95C91C05-AD04-4DBA-BAF0-93C1554DAB7E}"/>
              </a:ext>
            </a:extLst>
          </p:cNvPr>
          <p:cNvSpPr>
            <a:spLocks xmlns:a="http://schemas.openxmlformats.org/drawingml/2006/main" noGrp="1"/>
          </p:cNvSpPr>
          <p:nvPr/>
        </p:nvSpPr>
        <p:spPr>
          <a:xfrm xmlns:a="http://schemas.openxmlformats.org/drawingml/2006/main">
            <a:off x="3333750" y="39243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A78342"/>
                </a:solidFill>
                <a:latin typeface="Avenir Next"/>
                <a:ea typeface="Avenir Next"/>
                <a:cs typeface="Avenir Next"/>
              </a:defRPr>
            </a:pPr>
            <a:r>
              <a:rPr sz="1575" b="1" i="0">
                <a:solidFill>
                  <a:srgbClr val="A78342"/>
                </a:solidFill>
                <a:latin typeface="Avenir Next"/>
                <a:ea typeface="Avenir Next"/>
                <a:cs typeface="Avenir Next"/>
              </a:rPr>
              <a:t>42.000 EUR</a:t>
            </a:r>
          </a:p>
        </p:txBody>
      </p:sp>
      <p:sp>
        <p:nvSpPr>
          <p:cNvPr id="14" name="">
            <a:extLst xmlns:a="http://schemas.openxmlformats.org/drawingml/2006/main">
              <a:ext uri="{FF2B5EF4-FFF2-40B4-BE49-F238E27FC236}">
                <a16:creationId xmlns:a16="http://schemas.microsoft.com/office/drawing/2014/main" id="{67E6D8A6-6D69-49FC-A276-5079046F0460}"/>
              </a:ext>
            </a:extLst>
          </p:cNvPr>
          <p:cNvSpPr>
            <a:spLocks xmlns:a="http://schemas.openxmlformats.org/drawingml/2006/main" noGrp="1"/>
          </p:cNvSpPr>
          <p:nvPr/>
        </p:nvSpPr>
        <p:spPr>
          <a:xfrm xmlns:a="http://schemas.openxmlformats.org/drawingml/2006/main">
            <a:off x="609600" y="42291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6717D"/>
                </a:solidFill>
                <a:latin typeface="Avenir Next"/>
                <a:ea typeface="Avenir Next"/>
                <a:cs typeface="Avenir Next"/>
              </a:defRPr>
            </a:pPr>
            <a:r>
              <a:rPr sz="1050" b="0" i="0">
                <a:solidFill>
                  <a:srgbClr val="66717D"/>
                </a:solidFill>
                <a:latin typeface="Avenir Next"/>
                <a:ea typeface="Avenir Next"/>
                <a:cs typeface="Avenir Next"/>
              </a:rPr>
              <a:t>Planpreis bei Komplexität</a:t>
            </a:r>
          </a:p>
        </p:txBody>
      </p:sp>
      <p:sp>
        <p:nvSpPr>
          <p:cNvPr id="15" name="">
            <a:extLst xmlns:a="http://schemas.openxmlformats.org/drawingml/2006/main">
              <a:ext uri="{FF2B5EF4-FFF2-40B4-BE49-F238E27FC236}">
                <a16:creationId xmlns:a16="http://schemas.microsoft.com/office/drawing/2014/main" id="{ADD63650-7090-40BB-B9D1-04E5BFD95353}"/>
              </a:ext>
            </a:extLst>
          </p:cNvPr>
          <p:cNvSpPr>
            <a:spLocks xmlns:a="http://schemas.openxmlformats.org/drawingml/2006/main" noGrp="1"/>
          </p:cNvSpPr>
          <p:nvPr/>
        </p:nvSpPr>
        <p:spPr>
          <a:xfrm xmlns:a="http://schemas.openxmlformats.org/drawingml/2006/main">
            <a:off x="609600" y="4495800"/>
            <a:ext cx="4667250" cy="0"/>
          </a:xfrm>
          <a:prstGeom xmlns:a="http://schemas.openxmlformats.org/drawingml/2006/main" prst="line">
            <a:avLst/>
          </a:prstGeom>
          <a:noFill xmlns:a="http://schemas.openxmlformats.org/drawingml/2006/main"/>
          <a:ln xmlns:a="http://schemas.openxmlformats.org/drawingml/2006/main" w="9525">
            <a:solidFill>
              <a:srgbClr val="D8D5CD"/>
            </a:solidFill>
            <a:prstDash val="solid"/>
          </a:ln>
        </p:spPr>
      </p:sp>
      <p:sp>
        <p:nvSpPr>
          <p:cNvPr id="16" name="">
            <a:extLst xmlns:a="http://schemas.openxmlformats.org/drawingml/2006/main">
              <a:ext uri="{FF2B5EF4-FFF2-40B4-BE49-F238E27FC236}">
                <a16:creationId xmlns:a16="http://schemas.microsoft.com/office/drawing/2014/main" id="{1AF89F30-14DC-41C8-B4BE-B71F1B6D44D7}"/>
              </a:ext>
            </a:extLst>
          </p:cNvPr>
          <p:cNvSpPr>
            <a:spLocks xmlns:a="http://schemas.openxmlformats.org/drawingml/2006/main" noGrp="1"/>
          </p:cNvSpPr>
          <p:nvPr/>
        </p:nvSpPr>
        <p:spPr>
          <a:xfrm xmlns:a="http://schemas.openxmlformats.org/drawingml/2006/main">
            <a:off x="609600" y="4629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071527"/>
                </a:solidFill>
                <a:latin typeface="Avenir Next"/>
                <a:ea typeface="Avenir Next"/>
                <a:cs typeface="Avenir Next"/>
              </a:defRPr>
            </a:pPr>
            <a:r>
              <a:rPr sz="1500" b="1" i="0">
                <a:solidFill>
                  <a:srgbClr val="071527"/>
                </a:solidFill>
                <a:latin typeface="Avenir Next"/>
                <a:ea typeface="Avenir Next"/>
                <a:cs typeface="Avenir Next"/>
              </a:rPr>
              <a:t>Monitoring</a:t>
            </a:r>
          </a:p>
        </p:txBody>
      </p:sp>
      <p:sp>
        <p:nvSpPr>
          <p:cNvPr id="17" name="">
            <a:extLst xmlns:a="http://schemas.openxmlformats.org/drawingml/2006/main">
              <a:ext uri="{FF2B5EF4-FFF2-40B4-BE49-F238E27FC236}">
                <a16:creationId xmlns:a16="http://schemas.microsoft.com/office/drawing/2014/main" id="{AF9F31AB-9636-4439-BE89-1B17650F0CA5}"/>
              </a:ext>
            </a:extLst>
          </p:cNvPr>
          <p:cNvSpPr>
            <a:spLocks xmlns:a="http://schemas.openxmlformats.org/drawingml/2006/main" noGrp="1"/>
          </p:cNvSpPr>
          <p:nvPr/>
        </p:nvSpPr>
        <p:spPr>
          <a:xfrm xmlns:a="http://schemas.openxmlformats.org/drawingml/2006/main">
            <a:off x="3333750" y="46101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B95844"/>
                </a:solidFill>
                <a:latin typeface="Avenir Next"/>
                <a:ea typeface="Avenir Next"/>
                <a:cs typeface="Avenir Next"/>
              </a:defRPr>
            </a:pPr>
            <a:r>
              <a:rPr sz="1575" b="1" i="0">
                <a:solidFill>
                  <a:srgbClr val="B95844"/>
                </a:solidFill>
                <a:latin typeface="Avenir Next"/>
                <a:ea typeface="Avenir Next"/>
                <a:cs typeface="Avenir Next"/>
              </a:rPr>
              <a:t>ab 2.900 EUR</a:t>
            </a:r>
          </a:p>
        </p:txBody>
      </p:sp>
      <p:sp>
        <p:nvSpPr>
          <p:cNvPr id="18" name="">
            <a:extLst xmlns:a="http://schemas.openxmlformats.org/drawingml/2006/main">
              <a:ext uri="{FF2B5EF4-FFF2-40B4-BE49-F238E27FC236}">
                <a16:creationId xmlns:a16="http://schemas.microsoft.com/office/drawing/2014/main" id="{D28240EF-DA1D-4C78-AE22-22C88AA1A7D9}"/>
              </a:ext>
            </a:extLst>
          </p:cNvPr>
          <p:cNvSpPr>
            <a:spLocks xmlns:a="http://schemas.openxmlformats.org/drawingml/2006/main" noGrp="1"/>
          </p:cNvSpPr>
          <p:nvPr/>
        </p:nvSpPr>
        <p:spPr>
          <a:xfrm xmlns:a="http://schemas.openxmlformats.org/drawingml/2006/main">
            <a:off x="609600" y="49149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6717D"/>
                </a:solidFill>
                <a:latin typeface="Avenir Next"/>
                <a:ea typeface="Avenir Next"/>
                <a:cs typeface="Avenir Next"/>
              </a:defRPr>
            </a:pPr>
            <a:r>
              <a:rPr sz="1050" b="0" i="0">
                <a:solidFill>
                  <a:srgbClr val="66717D"/>
                </a:solidFill>
                <a:latin typeface="Avenir Next"/>
                <a:ea typeface="Avenir Next"/>
                <a:cs typeface="Avenir Next"/>
              </a:rPr>
              <a:t>pro Monat</a:t>
            </a:r>
          </a:p>
        </p:txBody>
      </p:sp>
      <p:sp>
        <p:nvSpPr>
          <p:cNvPr id="19" name="">
            <a:extLst xmlns:a="http://schemas.openxmlformats.org/drawingml/2006/main">
              <a:ext uri="{FF2B5EF4-FFF2-40B4-BE49-F238E27FC236}">
                <a16:creationId xmlns:a16="http://schemas.microsoft.com/office/drawing/2014/main" id="{C9A90B0B-8790-4884-A589-F9EA15C61EF4}"/>
              </a:ext>
            </a:extLst>
          </p:cNvPr>
          <p:cNvSpPr>
            <a:spLocks xmlns:a="http://schemas.openxmlformats.org/drawingml/2006/main" noGrp="1"/>
          </p:cNvSpPr>
          <p:nvPr/>
        </p:nvSpPr>
        <p:spPr>
          <a:xfrm xmlns:a="http://schemas.openxmlformats.org/drawingml/2006/main">
            <a:off x="609600" y="57531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356D69"/>
                </a:solidFill>
                <a:latin typeface="Avenir Next"/>
                <a:ea typeface="Avenir Next"/>
                <a:cs typeface="Avenir Next"/>
              </a:defRPr>
            </a:pPr>
            <a:r>
              <a:rPr sz="2700" b="1" i="0">
                <a:solidFill>
                  <a:srgbClr val="356D69"/>
                </a:solidFill>
                <a:latin typeface="Avenir Next"/>
                <a:ea typeface="Avenir Next"/>
                <a:cs typeface="Avenir Next"/>
              </a:rPr>
              <a:t>237.700 EUR</a:t>
            </a:r>
          </a:p>
        </p:txBody>
      </p:sp>
      <p:sp>
        <p:nvSpPr>
          <p:cNvPr id="20" name="">
            <a:extLst xmlns:a="http://schemas.openxmlformats.org/drawingml/2006/main">
              <a:ext uri="{FF2B5EF4-FFF2-40B4-BE49-F238E27FC236}">
                <a16:creationId xmlns:a16="http://schemas.microsoft.com/office/drawing/2014/main" id="{D63E9A5A-0D7D-4DC1-9CAD-F4E9865671E4}"/>
              </a:ext>
            </a:extLst>
          </p:cNvPr>
          <p:cNvSpPr>
            <a:spLocks xmlns:a="http://schemas.openxmlformats.org/drawingml/2006/main" noGrp="1"/>
          </p:cNvSpPr>
          <p:nvPr/>
        </p:nvSpPr>
        <p:spPr>
          <a:xfrm xmlns:a="http://schemas.openxmlformats.org/drawingml/2006/main">
            <a:off x="3162300" y="58197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71527"/>
                </a:solidFill>
                <a:latin typeface="Avenir Next"/>
                <a:ea typeface="Avenir Next"/>
                <a:cs typeface="Avenir Next"/>
              </a:defRPr>
            </a:pPr>
            <a:r>
              <a:rPr sz="1275" b="0" i="0">
                <a:solidFill>
                  <a:srgbClr val="071527"/>
                </a:solidFill>
                <a:latin typeface="Avenir Next"/>
                <a:ea typeface="Avenir Next"/>
                <a:cs typeface="Avenir Next"/>
              </a:rPr>
              <a:t>Dienstleistungsumsatz im ersten rollierenden Planjahr</a:t>
            </a:r>
          </a:p>
        </p:txBody>
      </p:sp>
      <p:sp>
        <p:nvSpPr>
          <p:cNvPr id="21" name="">
            <a:extLst xmlns:a="http://schemas.openxmlformats.org/drawingml/2006/main">
              <a:ext uri="{FF2B5EF4-FFF2-40B4-BE49-F238E27FC236}">
                <a16:creationId xmlns:a16="http://schemas.microsoft.com/office/drawing/2014/main" id="{BFC9DC59-0078-47C4-B64C-7E104DAF2843}"/>
              </a:ext>
            </a:extLst>
          </p:cNvPr>
          <p:cNvSpPr>
            <a:spLocks xmlns:a="http://schemas.openxmlformats.org/drawingml/2006/main" noGrp="1"/>
          </p:cNvSpPr>
          <p:nvPr/>
        </p:nvSpPr>
        <p:spPr>
          <a:xfrm xmlns:a="http://schemas.openxmlformats.org/drawingml/2006/main">
            <a:off x="6096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66717D"/>
                </a:solidFill>
                <a:latin typeface="Avenir Next"/>
                <a:ea typeface="Avenir Next"/>
                <a:cs typeface="Avenir Next"/>
              </a:defRPr>
            </a:pPr>
            <a:r>
              <a:rPr sz="975" b="0" i="1">
                <a:solidFill>
                  <a:srgbClr val="66717D"/>
                </a:solidFill>
                <a:latin typeface="Avenir Next"/>
                <a:ea typeface="Avenir Next"/>
                <a:cs typeface="Avenir Next"/>
              </a:rPr>
              <a:t>Planwert, keine Umsatzgarantie</a:t>
            </a:r>
          </a:p>
        </p:txBody>
      </p:sp>
      <p:sp>
        <p:nvSpPr>
          <p:cNvPr id="22" name="">
            <a:extLst xmlns:a="http://schemas.openxmlformats.org/drawingml/2006/main">
              <a:ext uri="{FF2B5EF4-FFF2-40B4-BE49-F238E27FC236}">
                <a16:creationId xmlns:a16="http://schemas.microsoft.com/office/drawing/2014/main" id="{9DFF8DA0-D1B6-4994-813C-4BD38FDE6EDC}"/>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071527"/>
          </a:solidFill>
          <a:ln xmlns:a="http://schemas.openxmlformats.org/drawingml/2006/main" w="0">
            <a:no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4a2e0412c364104"/>
          <a:stretch xmlns:a="http://schemas.openxmlformats.org/drawingml/2006/main"/>
        </p:blipFill>
        <p:spPr>
          <a:xfrm xmlns:a="http://schemas.openxmlformats.org/drawingml/2006/main">
            <a:off x="9936079" y="304800"/>
            <a:ext cx="1616242" cy="4953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8D4472B0-0B1E-4C47-AFA0-44BD3092CA8C}"/>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66717D"/>
                </a:solidFill>
                <a:latin typeface="Avenir Next"/>
                <a:ea typeface="Avenir Next"/>
                <a:cs typeface="Avenir Next"/>
              </a:defRPr>
            </a:pPr>
            <a:r>
              <a:rPr sz="975" b="0" i="0">
                <a:solidFill>
                  <a:srgbClr val="66717D"/>
                </a:solidFill>
                <a:latin typeface="Avenir Next"/>
                <a:ea typeface="Avenir Next"/>
                <a:cs typeface="Avenir Next"/>
              </a:rPr>
              <a:t>NEXT Award Düsseldorf 2026</a:t>
            </a:r>
          </a:p>
        </p:txBody>
      </p:sp>
      <p:sp>
        <p:nvSpPr>
          <p:cNvPr id="25" name="">
            <a:extLst xmlns:a="http://schemas.openxmlformats.org/drawingml/2006/main">
              <a:ext uri="{FF2B5EF4-FFF2-40B4-BE49-F238E27FC236}">
                <a16:creationId xmlns:a16="http://schemas.microsoft.com/office/drawing/2014/main" id="{9DD8C688-3CCD-4360-A947-BA618B1EA6BA}"/>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06</a:t>
            </a:r>
          </a:p>
        </p:txBody>
      </p:sp>
      <p:sp>
        <p:nvSpPr>
          <p:cNvPr id="26" name="">
            <a:extLst xmlns:a="http://schemas.openxmlformats.org/drawingml/2006/main">
              <a:ext uri="{FF2B5EF4-FFF2-40B4-BE49-F238E27FC236}">
                <a16:creationId xmlns:a16="http://schemas.microsoft.com/office/drawing/2014/main" id="{6B82F542-5241-4E63-A495-5653C1DDC74C}"/>
              </a:ext>
            </a:extLst>
          </p:cNvPr>
          <p:cNvSpPr>
            <a:spLocks xmlns:a="http://schemas.openxmlformats.org/drawingml/2006/main" noGrp="1"/>
          </p:cNvSpPr>
          <p:nvPr/>
        </p:nvSpPr>
        <p:spPr>
          <a:xfrm xmlns:a="http://schemas.openxmlformats.org/drawingml/2006/main">
            <a:off x="7334250" y="1428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NACH PRODUKTREIFE</a:t>
            </a:r>
          </a:p>
        </p:txBody>
      </p:sp>
      <p:sp>
        <p:nvSpPr>
          <p:cNvPr id="27" name="">
            <a:extLst xmlns:a="http://schemas.openxmlformats.org/drawingml/2006/main">
              <a:ext uri="{FF2B5EF4-FFF2-40B4-BE49-F238E27FC236}">
                <a16:creationId xmlns:a16="http://schemas.microsoft.com/office/drawing/2014/main" id="{FD7B9CCB-D8B7-4CDF-9D96-3348222A2164}"/>
              </a:ext>
            </a:extLst>
          </p:cNvPr>
          <p:cNvSpPr>
            <a:spLocks xmlns:a="http://schemas.openxmlformats.org/drawingml/2006/main" noGrp="1"/>
          </p:cNvSpPr>
          <p:nvPr/>
        </p:nvSpPr>
        <p:spPr>
          <a:xfrm xmlns:a="http://schemas.openxmlformats.org/drawingml/2006/main">
            <a:off x="7334250" y="186690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225" b="1" i="0">
                <a:solidFill>
                  <a:srgbClr val="F6F3EA"/>
                </a:solidFill>
                <a:latin typeface="Avenir Next"/>
                <a:ea typeface="Avenir Next"/>
                <a:cs typeface="Avenir Next"/>
              </a:defRPr>
            </a:pPr>
            <a:r>
              <a:rPr sz="3225" b="1" i="0">
                <a:solidFill>
                  <a:srgbClr val="F6F3EA"/>
                </a:solidFill>
                <a:latin typeface="Avenir Next"/>
                <a:ea typeface="Avenir Next"/>
                <a:cs typeface="Avenir Next"/>
              </a:rPr>
              <a:t>Plattform- und</a:t>
            </a:r>
          </a:p>
          <a:p xmlns:a="http://schemas.openxmlformats.org/drawingml/2006/main">
            <a:pPr algn="l">
              <a:lnSpc>
                <a:spcPct val="94000"/>
              </a:lnSpc>
              <a:buNone/>
              <a:defRPr sz="3225" b="1" i="0">
                <a:solidFill>
                  <a:srgbClr val="F6F3EA"/>
                </a:solidFill>
                <a:latin typeface="Avenir Next"/>
                <a:ea typeface="Avenir Next"/>
                <a:cs typeface="Avenir Next"/>
              </a:defRPr>
            </a:pPr>
            <a:r>
              <a:rPr sz="3225" b="1" i="0">
                <a:solidFill>
                  <a:srgbClr val="F6F3EA"/>
                </a:solidFill>
                <a:latin typeface="Avenir Next"/>
                <a:ea typeface="Avenir Next"/>
                <a:cs typeface="Avenir Next"/>
              </a:rPr>
              <a:t>Standortlizenz</a:t>
            </a:r>
          </a:p>
        </p:txBody>
      </p:sp>
      <p:sp>
        <p:nvSpPr>
          <p:cNvPr id="28" name="">
            <a:extLst xmlns:a="http://schemas.openxmlformats.org/drawingml/2006/main">
              <a:ext uri="{FF2B5EF4-FFF2-40B4-BE49-F238E27FC236}">
                <a16:creationId xmlns:a16="http://schemas.microsoft.com/office/drawing/2014/main" id="{C28184D2-1D4C-4AF8-9933-2969D03A3D78}"/>
              </a:ext>
            </a:extLst>
          </p:cNvPr>
          <p:cNvSpPr>
            <a:spLocks xmlns:a="http://schemas.openxmlformats.org/drawingml/2006/main" noGrp="1"/>
          </p:cNvSpPr>
          <p:nvPr/>
        </p:nvSpPr>
        <p:spPr>
          <a:xfrm xmlns:a="http://schemas.openxmlformats.org/drawingml/2006/main">
            <a:off x="7334250" y="3276600"/>
            <a:ext cx="381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D2DAE3"/>
                </a:solidFill>
                <a:latin typeface="Avenir Next"/>
                <a:ea typeface="Avenir Next"/>
                <a:cs typeface="Avenir Next"/>
              </a:defRPr>
            </a:pPr>
            <a:r>
              <a:rPr sz="1725" b="0" i="0">
                <a:solidFill>
                  <a:srgbClr val="D2DAE3"/>
                </a:solidFill>
                <a:latin typeface="Avenir Next"/>
                <a:ea typeface="Avenir Next"/>
                <a:cs typeface="Avenir Next"/>
              </a:rPr>
              <a:t>Wiederkehrende Erlöse entstehen erst nach belastbarer Produktreife und validierter Nutzung.</a:t>
            </a:r>
          </a:p>
        </p:txBody>
      </p:sp>
      <p:sp>
        <p:nvSpPr>
          <p:cNvPr id="29" name="">
            <a:extLst xmlns:a="http://schemas.openxmlformats.org/drawingml/2006/main">
              <a:ext uri="{FF2B5EF4-FFF2-40B4-BE49-F238E27FC236}">
                <a16:creationId xmlns:a16="http://schemas.microsoft.com/office/drawing/2014/main" id="{5E55A815-99C7-45DC-BA3E-B6E901E19EA8}"/>
              </a:ext>
            </a:extLst>
          </p:cNvPr>
          <p:cNvSpPr>
            <a:spLocks xmlns:a="http://schemas.openxmlformats.org/drawingml/2006/main" noGrp="1"/>
          </p:cNvSpPr>
          <p:nvPr/>
        </p:nvSpPr>
        <p:spPr>
          <a:xfrm xmlns:a="http://schemas.openxmlformats.org/drawingml/2006/main">
            <a:off x="7334250" y="43434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8A25A"/>
                </a:solidFill>
                <a:latin typeface="Avenir Next"/>
                <a:ea typeface="Avenir Next"/>
                <a:cs typeface="Avenir Next"/>
              </a:defRPr>
            </a:pPr>
            <a:r>
              <a:rPr sz="1350" b="1" i="0">
                <a:solidFill>
                  <a:srgbClr val="C8A25A"/>
                </a:solidFill>
                <a:latin typeface="Avenir Next"/>
                <a:ea typeface="Avenir Next"/>
                <a:cs typeface="Avenir Next"/>
              </a:rPr>
              <a:t>Service → Prozesswissen → Module → Lizenz</a:t>
            </a:r>
          </a:p>
        </p:txBody>
      </p:sp>
      <p:sp>
        <p:nvSpPr>
          <p:cNvPr id="30" name="">
            <a:extLst xmlns:a="http://schemas.openxmlformats.org/drawingml/2006/main">
              <a:ext uri="{FF2B5EF4-FFF2-40B4-BE49-F238E27FC236}">
                <a16:creationId xmlns:a16="http://schemas.microsoft.com/office/drawing/2014/main" id="{622AAF70-7E3A-4C89-9A1D-C408FF81F3FE}"/>
              </a:ext>
            </a:extLst>
          </p:cNvPr>
          <p:cNvSpPr>
            <a:spLocks xmlns:a="http://schemas.openxmlformats.org/drawingml/2006/main" noGrp="1"/>
          </p:cNvSpPr>
          <p:nvPr/>
        </p:nvSpPr>
        <p:spPr>
          <a:xfrm xmlns:a="http://schemas.openxmlformats.org/drawingml/2006/main">
            <a:off x="7334250" y="46863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AEB9C5"/>
                </a:solidFill>
                <a:latin typeface="Avenir Next"/>
                <a:ea typeface="Avenir Next"/>
                <a:cs typeface="Avenir Next"/>
              </a:defRPr>
            </a:pPr>
            <a:r>
              <a:rPr sz="1125" b="0" i="0">
                <a:solidFill>
                  <a:srgbClr val="AEB9C5"/>
                </a:solidFill>
                <a:latin typeface="Avenir Next"/>
                <a:ea typeface="Avenir Next"/>
                <a:cs typeface="Avenir Next"/>
              </a:rPr>
              <a:t>Ziel: weniger manueller Aufwand je wiederholtem Ablauf.</a:t>
            </a:r>
          </a:p>
        </p:txBody>
      </p:sp>
      <p:sp>
        <p:nvSpPr>
          <p:cNvPr id="31" name="">
            <a:extLst xmlns:a="http://schemas.openxmlformats.org/drawingml/2006/main">
              <a:ext uri="{FF2B5EF4-FFF2-40B4-BE49-F238E27FC236}">
                <a16:creationId xmlns:a16="http://schemas.microsoft.com/office/drawing/2014/main" id="{84B0F1FE-92BF-4D56-9D9E-990319B9AFED}"/>
              </a:ext>
            </a:extLst>
          </p:cNvPr>
          <p:cNvSpPr>
            <a:spLocks xmlns:a="http://schemas.openxmlformats.org/drawingml/2006/main" noGrp="1"/>
          </p:cNvSpPr>
          <p:nvPr/>
        </p:nvSpPr>
        <p:spPr>
          <a:xfrm xmlns:a="http://schemas.openxmlformats.org/drawingml/2006/main">
            <a:off x="7334250" y="5124450"/>
            <a:ext cx="238125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32" name="">
            <a:extLst xmlns:a="http://schemas.openxmlformats.org/drawingml/2006/main">
              <a:ext uri="{FF2B5EF4-FFF2-40B4-BE49-F238E27FC236}">
                <a16:creationId xmlns:a16="http://schemas.microsoft.com/office/drawing/2014/main" id="{E6038586-DBB7-4BBC-81A4-D6BCBCE9E7A2}"/>
              </a:ext>
            </a:extLst>
          </p:cNvPr>
          <p:cNvSpPr>
            <a:spLocks xmlns:a="http://schemas.openxmlformats.org/drawingml/2006/main" noGrp="1"/>
          </p:cNvSpPr>
          <p:nvPr/>
        </p:nvSpPr>
        <p:spPr>
          <a:xfrm xmlns:a="http://schemas.openxmlformats.org/drawingml/2006/main">
            <a:off x="7334250" y="5391150"/>
            <a:ext cx="3857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Keine unterstellten Wohnraum- oder Partnerprovisionen</a:t>
            </a:r>
          </a:p>
        </p:txBody>
      </p:sp>
      <p:sp>
        <p:nvSpPr>
          <p:cNvPr id="33" name="">
            <a:extLst xmlns:a="http://schemas.openxmlformats.org/drawingml/2006/main">
              <a:ext uri="{FF2B5EF4-FFF2-40B4-BE49-F238E27FC236}">
                <a16:creationId xmlns:a16="http://schemas.microsoft.com/office/drawing/2014/main" id="{57EE52A8-B246-429A-AAE6-A98D4A58B2E2}"/>
              </a:ext>
            </a:extLst>
          </p:cNvPr>
          <p:cNvSpPr>
            <a:spLocks xmlns:a="http://schemas.openxmlformats.org/drawingml/2006/main" noGrp="1"/>
          </p:cNvSpPr>
          <p:nvPr/>
        </p:nvSpPr>
        <p:spPr>
          <a:xfrm xmlns:a="http://schemas.openxmlformats.org/drawingml/2006/main">
            <a:off x="7334250" y="6000750"/>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373"/>
          </a:bodyPr>
          <a:lstStyle xmlns:a="http://schemas.openxmlformats.org/drawingml/2006/main"/>
          <a:p xmlns:a="http://schemas.openxmlformats.org/drawingml/2006/main">
            <a:pPr algn="l">
              <a:lnSpc>
                <a:spcPct val="100000"/>
              </a:lnSpc>
              <a:buNone/>
              <a:defRPr sz="1275" b="0" i="0">
                <a:solidFill>
                  <a:srgbClr val="AEB9C5"/>
                </a:solidFill>
                <a:latin typeface="Avenir Next"/>
                <a:ea typeface="Avenir Next"/>
                <a:cs typeface="Avenir Next"/>
              </a:defRPr>
            </a:pPr>
            <a:r>
              <a:rPr sz="1275" b="0" i="0">
                <a:solidFill>
                  <a:srgbClr val="AEB9C5"/>
                </a:solidFill>
                <a:latin typeface="Avenir Next"/>
                <a:ea typeface="Avenir Next"/>
                <a:cs typeface="Avenir Next"/>
              </a:rPr>
              <a:t>Fremdkosten und Leistungen Dritter bleiben separat.</a:t>
            </a:r>
          </a:p>
        </p:txBody>
      </p:sp>
    </p:spTree>
    <p:extLst>
      <p:ext uri="{BB962C8B-B14F-4D97-AF65-F5344CB8AC3E}">
        <p14:creationId xmlns:p14="http://schemas.microsoft.com/office/powerpoint/2010/main" val="11104590"/>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2bd368999e54b2e"/>
          <a:srcRect xmlns:a="http://schemas.openxmlformats.org/drawingml/2006/main" l="28730" t="0" r="28730" b="0"/>
          <a:stretch xmlns:a="http://schemas.openxmlformats.org/drawingml/2006/main">
            <a:fillRect l="0" t="0" r="0" b="0"/>
          </a:stretch>
        </p:blipFill>
        <p:spPr>
          <a:xfrm xmlns:a="http://schemas.openxmlformats.org/drawingml/2006/main">
            <a:off x="7086600" y="0"/>
            <a:ext cx="5105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C12039-374B-4E3C-9956-D4248B247591}"/>
              </a:ext>
            </a:extLst>
          </p:cNvPr>
          <p:cNvSpPr>
            <a:spLocks xmlns:a="http://schemas.openxmlformats.org/drawingml/2006/main" noGrp="1"/>
          </p:cNvSpPr>
          <p:nvPr/>
        </p:nvSpPr>
        <p:spPr>
          <a:xfrm xmlns:a="http://schemas.openxmlformats.org/drawingml/2006/main">
            <a:off x="6705600" y="0"/>
            <a:ext cx="381000" cy="6858000"/>
          </a:xfrm>
          <a:prstGeom xmlns:a="http://schemas.openxmlformats.org/drawingml/2006/main" prst="rect">
            <a:avLst/>
          </a:prstGeom>
          <a:solidFill xmlns:a="http://schemas.openxmlformats.org/drawingml/2006/main">
            <a:srgbClr val="356D69"/>
          </a:solidFill>
          <a:ln xmlns:a="http://schemas.openxmlformats.org/drawingml/2006/main" w="0">
            <a:no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9759d6d20c44e15"/>
          <a:stretch xmlns:a="http://schemas.openxmlformats.org/drawingml/2006/main"/>
        </p:blipFill>
        <p:spPr>
          <a:xfrm xmlns:a="http://schemas.openxmlformats.org/drawingml/2006/main">
            <a:off x="639679" y="323850"/>
            <a:ext cx="1616242" cy="495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929AAB-7143-4F5C-A1C3-C24E6FF0B0F6}"/>
              </a:ext>
            </a:extLst>
          </p:cNvPr>
          <p:cNvSpPr>
            <a:spLocks xmlns:a="http://schemas.openxmlformats.org/drawingml/2006/main" noGrp="1"/>
          </p:cNvSpPr>
          <p:nvPr/>
        </p:nvSpPr>
        <p:spPr>
          <a:xfrm xmlns:a="http://schemas.openxmlformats.org/drawingml/2006/main">
            <a:off x="609600" y="12192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A78342"/>
                </a:solidFill>
                <a:latin typeface="Avenir Next"/>
                <a:ea typeface="Avenir Next"/>
                <a:cs typeface="Avenir Next"/>
              </a:defRPr>
            </a:pPr>
            <a:r>
              <a:rPr sz="1125" b="1" i="0">
                <a:solidFill>
                  <a:srgbClr val="A78342"/>
                </a:solidFill>
                <a:latin typeface="Avenir Next"/>
                <a:ea typeface="Avenir Next"/>
                <a:cs typeface="Avenir Next"/>
              </a:rPr>
              <a:t>KANÄLE UND KUNDENBEZIEHUNG</a:t>
            </a:r>
          </a:p>
        </p:txBody>
      </p:sp>
      <p:sp>
        <p:nvSpPr>
          <p:cNvPr id="5" name="">
            <a:extLst xmlns:a="http://schemas.openxmlformats.org/drawingml/2006/main">
              <a:ext uri="{FF2B5EF4-FFF2-40B4-BE49-F238E27FC236}">
                <a16:creationId xmlns:a16="http://schemas.microsoft.com/office/drawing/2014/main" id="{3448C1A0-1B4B-4F04-8C6B-7546D12C257D}"/>
              </a:ext>
            </a:extLst>
          </p:cNvPr>
          <p:cNvSpPr>
            <a:spLocks xmlns:a="http://schemas.openxmlformats.org/drawingml/2006/main" noGrp="1"/>
          </p:cNvSpPr>
          <p:nvPr/>
        </p:nvSpPr>
        <p:spPr>
          <a:xfrm xmlns:a="http://schemas.openxmlformats.org/drawingml/2006/main">
            <a:off x="609600" y="1562100"/>
            <a:ext cx="5429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225" b="1" i="0">
                <a:solidFill>
                  <a:srgbClr val="071527"/>
                </a:solidFill>
                <a:latin typeface="Avenir Next"/>
                <a:ea typeface="Avenir Next"/>
                <a:cs typeface="Avenir Next"/>
              </a:defRPr>
            </a:pPr>
            <a:r>
              <a:rPr sz="3225" b="1" i="0">
                <a:solidFill>
                  <a:srgbClr val="071527"/>
                </a:solidFill>
                <a:latin typeface="Avenir Next"/>
                <a:ea typeface="Avenir Next"/>
                <a:cs typeface="Avenir Next"/>
              </a:rPr>
              <a:t>Markteintritt über einen bezahlten Pilot</a:t>
            </a:r>
          </a:p>
        </p:txBody>
      </p:sp>
      <p:sp>
        <p:nvSpPr>
          <p:cNvPr id="6" name="">
            <a:extLst xmlns:a="http://schemas.openxmlformats.org/drawingml/2006/main">
              <a:ext uri="{FF2B5EF4-FFF2-40B4-BE49-F238E27FC236}">
                <a16:creationId xmlns:a16="http://schemas.microsoft.com/office/drawing/2014/main" id="{B046B7F3-EAFD-4587-A903-D98267AB884C}"/>
              </a:ext>
            </a:extLst>
          </p:cNvPr>
          <p:cNvSpPr>
            <a:spLocks xmlns:a="http://schemas.openxmlformats.org/drawingml/2006/main" noGrp="1"/>
          </p:cNvSpPr>
          <p:nvPr/>
        </p:nvSpPr>
        <p:spPr>
          <a:xfrm xmlns:a="http://schemas.openxmlformats.org/drawingml/2006/main">
            <a:off x="609600" y="28670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071527"/>
                </a:solidFill>
                <a:latin typeface="Avenir Next"/>
                <a:ea typeface="Avenir Next"/>
                <a:cs typeface="Avenir Next"/>
              </a:defRPr>
            </a:pPr>
            <a:r>
              <a:rPr sz="2175" b="1" i="0">
                <a:solidFill>
                  <a:srgbClr val="071527"/>
                </a:solidFill>
                <a:latin typeface="Avenir Next"/>
                <a:ea typeface="Avenir Next"/>
                <a:cs typeface="Avenir Next"/>
              </a:rPr>
              <a:t>50</a:t>
            </a:r>
          </a:p>
        </p:txBody>
      </p:sp>
      <p:sp>
        <p:nvSpPr>
          <p:cNvPr id="7" name="">
            <a:extLst xmlns:a="http://schemas.openxmlformats.org/drawingml/2006/main">
              <a:ext uri="{FF2B5EF4-FFF2-40B4-BE49-F238E27FC236}">
                <a16:creationId xmlns:a16="http://schemas.microsoft.com/office/drawing/2014/main" id="{9E5A408B-9409-4F6D-B342-FC0BE9F7AEF0}"/>
              </a:ext>
            </a:extLst>
          </p:cNvPr>
          <p:cNvSpPr>
            <a:spLocks xmlns:a="http://schemas.openxmlformats.org/drawingml/2006/main" noGrp="1"/>
          </p:cNvSpPr>
          <p:nvPr/>
        </p:nvSpPr>
        <p:spPr>
          <a:xfrm xmlns:a="http://schemas.openxmlformats.org/drawingml/2006/main">
            <a:off x="1219200" y="2905125"/>
            <a:ext cx="4095750" cy="304800"/>
          </a:xfrm>
          <a:prstGeom xmlns:a="http://schemas.openxmlformats.org/drawingml/2006/main" prst="rect">
            <a:avLst/>
          </a:prstGeom>
          <a:solidFill xmlns:a="http://schemas.openxmlformats.org/drawingml/2006/main">
            <a:srgbClr val="07152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99AF7E-552B-4D2F-9D7B-C359DBEA3727}"/>
              </a:ext>
            </a:extLst>
          </p:cNvPr>
          <p:cNvSpPr>
            <a:spLocks xmlns:a="http://schemas.openxmlformats.org/drawingml/2006/main" noGrp="1"/>
          </p:cNvSpPr>
          <p:nvPr/>
        </p:nvSpPr>
        <p:spPr>
          <a:xfrm xmlns:a="http://schemas.openxmlformats.org/drawingml/2006/main">
            <a:off x="1333500" y="29527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Zielarbeitgeber</a:t>
            </a:r>
          </a:p>
        </p:txBody>
      </p:sp>
      <p:sp>
        <p:nvSpPr>
          <p:cNvPr id="9" name="">
            <a:extLst xmlns:a="http://schemas.openxmlformats.org/drawingml/2006/main">
              <a:ext uri="{FF2B5EF4-FFF2-40B4-BE49-F238E27FC236}">
                <a16:creationId xmlns:a16="http://schemas.microsoft.com/office/drawing/2014/main" id="{F4F602AE-6EC3-4A09-B079-D9C74230E1C0}"/>
              </a:ext>
            </a:extLst>
          </p:cNvPr>
          <p:cNvSpPr>
            <a:spLocks xmlns:a="http://schemas.openxmlformats.org/drawingml/2006/main" noGrp="1"/>
          </p:cNvSpPr>
          <p:nvPr/>
        </p:nvSpPr>
        <p:spPr>
          <a:xfrm xmlns:a="http://schemas.openxmlformats.org/drawingml/2006/main">
            <a:off x="609600" y="35337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356D69"/>
                </a:solidFill>
                <a:latin typeface="Avenir Next"/>
                <a:ea typeface="Avenir Next"/>
                <a:cs typeface="Avenir Next"/>
              </a:defRPr>
            </a:pPr>
            <a:r>
              <a:rPr sz="2175" b="1" i="0">
                <a:solidFill>
                  <a:srgbClr val="356D69"/>
                </a:solidFill>
                <a:latin typeface="Avenir Next"/>
                <a:ea typeface="Avenir Next"/>
                <a:cs typeface="Avenir Next"/>
              </a:rPr>
              <a:t>20</a:t>
            </a:r>
          </a:p>
        </p:txBody>
      </p:sp>
      <p:sp>
        <p:nvSpPr>
          <p:cNvPr id="10" name="">
            <a:extLst xmlns:a="http://schemas.openxmlformats.org/drawingml/2006/main">
              <a:ext uri="{FF2B5EF4-FFF2-40B4-BE49-F238E27FC236}">
                <a16:creationId xmlns:a16="http://schemas.microsoft.com/office/drawing/2014/main" id="{7D0FB388-9CAB-4233-BF11-9AA29314A45A}"/>
              </a:ext>
            </a:extLst>
          </p:cNvPr>
          <p:cNvSpPr>
            <a:spLocks xmlns:a="http://schemas.openxmlformats.org/drawingml/2006/main" noGrp="1"/>
          </p:cNvSpPr>
          <p:nvPr/>
        </p:nvSpPr>
        <p:spPr>
          <a:xfrm xmlns:a="http://schemas.openxmlformats.org/drawingml/2006/main">
            <a:off x="1219200" y="3571875"/>
            <a:ext cx="2857500" cy="304800"/>
          </a:xfrm>
          <a:prstGeom xmlns:a="http://schemas.openxmlformats.org/drawingml/2006/main" prst="rect">
            <a:avLst/>
          </a:prstGeom>
          <a:solidFill xmlns:a="http://schemas.openxmlformats.org/drawingml/2006/main">
            <a:srgbClr val="356D6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BE08C9-75D0-47A1-A2F9-C3D701B3A864}"/>
              </a:ext>
            </a:extLst>
          </p:cNvPr>
          <p:cNvSpPr>
            <a:spLocks xmlns:a="http://schemas.openxmlformats.org/drawingml/2006/main" noGrp="1"/>
          </p:cNvSpPr>
          <p:nvPr/>
        </p:nvSpPr>
        <p:spPr>
          <a:xfrm xmlns:a="http://schemas.openxmlformats.org/drawingml/2006/main">
            <a:off x="1333500" y="36195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qualifizierte Gespräche</a:t>
            </a:r>
          </a:p>
        </p:txBody>
      </p:sp>
      <p:sp>
        <p:nvSpPr>
          <p:cNvPr id="12" name="">
            <a:extLst xmlns:a="http://schemas.openxmlformats.org/drawingml/2006/main">
              <a:ext uri="{FF2B5EF4-FFF2-40B4-BE49-F238E27FC236}">
                <a16:creationId xmlns:a16="http://schemas.microsoft.com/office/drawing/2014/main" id="{14A53FD3-052B-46D2-893E-EBFBFC7C1770}"/>
              </a:ext>
            </a:extLst>
          </p:cNvPr>
          <p:cNvSpPr>
            <a:spLocks xmlns:a="http://schemas.openxmlformats.org/drawingml/2006/main" noGrp="1"/>
          </p:cNvSpPr>
          <p:nvPr/>
        </p:nvSpPr>
        <p:spPr>
          <a:xfrm xmlns:a="http://schemas.openxmlformats.org/drawingml/2006/main">
            <a:off x="609600" y="42005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A78342"/>
                </a:solidFill>
                <a:latin typeface="Avenir Next"/>
                <a:ea typeface="Avenir Next"/>
                <a:cs typeface="Avenir Next"/>
              </a:defRPr>
            </a:pPr>
            <a:r>
              <a:rPr sz="2175" b="1" i="0">
                <a:solidFill>
                  <a:srgbClr val="A78342"/>
                </a:solidFill>
                <a:latin typeface="Avenir Next"/>
                <a:ea typeface="Avenir Next"/>
                <a:cs typeface="Avenir Next"/>
              </a:rPr>
              <a:t>8</a:t>
            </a:r>
          </a:p>
        </p:txBody>
      </p:sp>
      <p:sp>
        <p:nvSpPr>
          <p:cNvPr id="13" name="">
            <a:extLst xmlns:a="http://schemas.openxmlformats.org/drawingml/2006/main">
              <a:ext uri="{FF2B5EF4-FFF2-40B4-BE49-F238E27FC236}">
                <a16:creationId xmlns:a16="http://schemas.microsoft.com/office/drawing/2014/main" id="{C22370BC-CAE3-4B8F-A853-32A0D6D2170A}"/>
              </a:ext>
            </a:extLst>
          </p:cNvPr>
          <p:cNvSpPr>
            <a:spLocks xmlns:a="http://schemas.openxmlformats.org/drawingml/2006/main" noGrp="1"/>
          </p:cNvSpPr>
          <p:nvPr/>
        </p:nvSpPr>
        <p:spPr>
          <a:xfrm xmlns:a="http://schemas.openxmlformats.org/drawingml/2006/main">
            <a:off x="1219200" y="4238625"/>
            <a:ext cx="1762125" cy="304800"/>
          </a:xfrm>
          <a:prstGeom xmlns:a="http://schemas.openxmlformats.org/drawingml/2006/main" prst="rect">
            <a:avLst/>
          </a:prstGeom>
          <a:solidFill xmlns:a="http://schemas.openxmlformats.org/drawingml/2006/main">
            <a:srgbClr val="A7834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97F077-BA44-40DF-98A0-8E1EFEBD943D}"/>
              </a:ext>
            </a:extLst>
          </p:cNvPr>
          <p:cNvSpPr>
            <a:spLocks xmlns:a="http://schemas.openxmlformats.org/drawingml/2006/main" noGrp="1"/>
          </p:cNvSpPr>
          <p:nvPr/>
        </p:nvSpPr>
        <p:spPr>
          <a:xfrm xmlns:a="http://schemas.openxmlformats.org/drawingml/2006/main">
            <a:off x="1333500" y="42862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Angebote</a:t>
            </a:r>
          </a:p>
        </p:txBody>
      </p:sp>
      <p:sp>
        <p:nvSpPr>
          <p:cNvPr id="15" name="">
            <a:extLst xmlns:a="http://schemas.openxmlformats.org/drawingml/2006/main">
              <a:ext uri="{FF2B5EF4-FFF2-40B4-BE49-F238E27FC236}">
                <a16:creationId xmlns:a16="http://schemas.microsoft.com/office/drawing/2014/main" id="{4366C2F8-456C-4429-AE05-27435AE1AA06}"/>
              </a:ext>
            </a:extLst>
          </p:cNvPr>
          <p:cNvSpPr>
            <a:spLocks xmlns:a="http://schemas.openxmlformats.org/drawingml/2006/main" noGrp="1"/>
          </p:cNvSpPr>
          <p:nvPr/>
        </p:nvSpPr>
        <p:spPr>
          <a:xfrm xmlns:a="http://schemas.openxmlformats.org/drawingml/2006/main">
            <a:off x="609600" y="48672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B95844"/>
                </a:solidFill>
                <a:latin typeface="Avenir Next"/>
                <a:ea typeface="Avenir Next"/>
                <a:cs typeface="Avenir Next"/>
              </a:defRPr>
            </a:pPr>
            <a:r>
              <a:rPr sz="2175" b="1" i="0">
                <a:solidFill>
                  <a:srgbClr val="B95844"/>
                </a:solidFill>
                <a:latin typeface="Avenir Next"/>
                <a:ea typeface="Avenir Next"/>
                <a:cs typeface="Avenir Next"/>
              </a:rPr>
              <a:t>1</a:t>
            </a:r>
          </a:p>
        </p:txBody>
      </p:sp>
      <p:sp>
        <p:nvSpPr>
          <p:cNvPr id="16" name="">
            <a:extLst xmlns:a="http://schemas.openxmlformats.org/drawingml/2006/main">
              <a:ext uri="{FF2B5EF4-FFF2-40B4-BE49-F238E27FC236}">
                <a16:creationId xmlns:a16="http://schemas.microsoft.com/office/drawing/2014/main" id="{95FAAAE9-C211-45B2-9C7E-3ACDC13AD9A6}"/>
              </a:ext>
            </a:extLst>
          </p:cNvPr>
          <p:cNvSpPr>
            <a:spLocks xmlns:a="http://schemas.openxmlformats.org/drawingml/2006/main" noGrp="1"/>
          </p:cNvSpPr>
          <p:nvPr/>
        </p:nvSpPr>
        <p:spPr>
          <a:xfrm xmlns:a="http://schemas.openxmlformats.org/drawingml/2006/main">
            <a:off x="1219200" y="4905375"/>
            <a:ext cx="857250" cy="304800"/>
          </a:xfrm>
          <a:prstGeom xmlns:a="http://schemas.openxmlformats.org/drawingml/2006/main" prst="rect">
            <a:avLst/>
          </a:prstGeom>
          <a:solidFill xmlns:a="http://schemas.openxmlformats.org/drawingml/2006/main">
            <a:srgbClr val="B9584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404C72-FF9D-4F71-BE1A-5FD69DCE5722}"/>
              </a:ext>
            </a:extLst>
          </p:cNvPr>
          <p:cNvSpPr>
            <a:spLocks xmlns:a="http://schemas.openxmlformats.org/drawingml/2006/main" noGrp="1"/>
          </p:cNvSpPr>
          <p:nvPr/>
        </p:nvSpPr>
        <p:spPr>
          <a:xfrm xmlns:a="http://schemas.openxmlformats.org/drawingml/2006/main">
            <a:off x="1333500" y="49530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5903"/>
          </a:bodyPr>
          <a:lstStyle xmlns:a="http://schemas.openxmlformats.org/drawingml/2006/main"/>
          <a:p xmlns:a="http://schemas.openxmlformats.org/drawingml/2006/main">
            <a:pPr algn="l">
              <a:lnSpc>
                <a:spcPct val="100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bezahlter Pilot</a:t>
            </a:r>
          </a:p>
        </p:txBody>
      </p:sp>
      <p:sp>
        <p:nvSpPr>
          <p:cNvPr id="18" name="">
            <a:extLst xmlns:a="http://schemas.openxmlformats.org/drawingml/2006/main">
              <a:ext uri="{FF2B5EF4-FFF2-40B4-BE49-F238E27FC236}">
                <a16:creationId xmlns:a16="http://schemas.microsoft.com/office/drawing/2014/main" id="{5A27B61E-B74B-46D6-932A-37077C03AF12}"/>
              </a:ext>
            </a:extLst>
          </p:cNvPr>
          <p:cNvSpPr>
            <a:spLocks xmlns:a="http://schemas.openxmlformats.org/drawingml/2006/main" noGrp="1"/>
          </p:cNvSpPr>
          <p:nvPr/>
        </p:nvSpPr>
        <p:spPr>
          <a:xfrm xmlns:a="http://schemas.openxmlformats.org/drawingml/2006/main">
            <a:off x="609600" y="575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71527"/>
                </a:solidFill>
                <a:latin typeface="Avenir Next"/>
                <a:ea typeface="Avenir Next"/>
                <a:cs typeface="Avenir Next"/>
              </a:defRPr>
            </a:pPr>
            <a:r>
              <a:rPr sz="1350" b="1" i="0">
                <a:solidFill>
                  <a:srgbClr val="071527"/>
                </a:solidFill>
                <a:latin typeface="Avenir Next"/>
                <a:ea typeface="Avenir Next"/>
                <a:cs typeface="Avenir Next"/>
              </a:rPr>
              <a:t>Direkter Gründervertrieb, Empfehlungen und geplante Designpartnergespräche</a:t>
            </a:r>
          </a:p>
        </p:txBody>
      </p:sp>
      <p:sp>
        <p:nvSpPr>
          <p:cNvPr id="19" name="">
            <a:extLst xmlns:a="http://schemas.openxmlformats.org/drawingml/2006/main">
              <a:ext uri="{FF2B5EF4-FFF2-40B4-BE49-F238E27FC236}">
                <a16:creationId xmlns:a16="http://schemas.microsoft.com/office/drawing/2014/main" id="{CE17822F-139D-46BE-ADA6-3C7F4E43CA3F}"/>
              </a:ext>
            </a:extLst>
          </p:cNvPr>
          <p:cNvSpPr>
            <a:spLocks xmlns:a="http://schemas.openxmlformats.org/drawingml/2006/main" noGrp="1"/>
          </p:cNvSpPr>
          <p:nvPr/>
        </p:nvSpPr>
        <p:spPr>
          <a:xfrm xmlns:a="http://schemas.openxmlformats.org/drawingml/2006/main">
            <a:off x="609600" y="62865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66717D"/>
                </a:solidFill>
                <a:latin typeface="Avenir Next"/>
                <a:ea typeface="Avenir Next"/>
                <a:cs typeface="Avenir Next"/>
              </a:defRPr>
            </a:pPr>
            <a:r>
              <a:rPr sz="975" b="0" i="1">
                <a:solidFill>
                  <a:srgbClr val="66717D"/>
                </a:solidFill>
                <a:latin typeface="Avenir Next"/>
                <a:ea typeface="Avenir Next"/>
                <a:cs typeface="Avenir Next"/>
              </a:rPr>
              <a:t>Zielwerte bis Monat 6. Keine Kundenzusagen.</a:t>
            </a:r>
          </a:p>
        </p:txBody>
      </p:sp>
      <p:sp>
        <p:nvSpPr>
          <p:cNvPr id="20" name="">
            <a:extLst xmlns:a="http://schemas.openxmlformats.org/drawingml/2006/main">
              <a:ext uri="{FF2B5EF4-FFF2-40B4-BE49-F238E27FC236}">
                <a16:creationId xmlns:a16="http://schemas.microsoft.com/office/drawing/2014/main" id="{59B1C259-B58E-46C4-AA7B-07D9F7639D3B}"/>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66717D"/>
                </a:solidFill>
                <a:latin typeface="Avenir Next"/>
                <a:ea typeface="Avenir Next"/>
                <a:cs typeface="Avenir Next"/>
              </a:defRPr>
            </a:pPr>
            <a:r>
              <a:rPr sz="975" b="0" i="0">
                <a:solidFill>
                  <a:srgbClr val="66717D"/>
                </a:solidFill>
                <a:latin typeface="Avenir Next"/>
                <a:ea typeface="Avenir Next"/>
                <a:cs typeface="Avenir Next"/>
              </a:rPr>
              <a:t>NEXT Award Düsseldorf 2026</a:t>
            </a:r>
          </a:p>
        </p:txBody>
      </p:sp>
      <p:sp>
        <p:nvSpPr>
          <p:cNvPr id="21" name="">
            <a:extLst xmlns:a="http://schemas.openxmlformats.org/drawingml/2006/main">
              <a:ext uri="{FF2B5EF4-FFF2-40B4-BE49-F238E27FC236}">
                <a16:creationId xmlns:a16="http://schemas.microsoft.com/office/drawing/2014/main" id="{3846A601-E1FD-4174-AD26-37E3E1ABD615}"/>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66717D"/>
                </a:solidFill>
                <a:latin typeface="Avenir Next"/>
                <a:ea typeface="Avenir Next"/>
                <a:cs typeface="Avenir Next"/>
              </a:defRPr>
            </a:pPr>
            <a:r>
              <a:rPr sz="975" b="0" i="0">
                <a:solidFill>
                  <a:srgbClr val="66717D"/>
                </a:solidFill>
                <a:latin typeface="Avenir Next"/>
                <a:ea typeface="Avenir Next"/>
                <a:cs typeface="Avenir Next"/>
              </a:rPr>
              <a:t>07</a:t>
            </a:r>
          </a:p>
        </p:txBody>
      </p:sp>
    </p:spTree>
    <p:extLst>
      <p:ext uri="{BB962C8B-B14F-4D97-AF65-F5344CB8AC3E}">
        <p14:creationId xmlns:p14="http://schemas.microsoft.com/office/powerpoint/2010/main" val="1919199891"/>
      </p:ext>
    </p:extLst>
  </p:cSld>
</p:sld>
</file>

<file path=ppt/slides/slide8.xml><?xml version="1.0" encoding="utf-8"?>
<p:sld xmlns:p="http://schemas.openxmlformats.org/presentationml/2006/main">
  <p:cSld>
    <p:bg>
      <p:bgPr>
        <a:solidFill xmlns:a="http://schemas.openxmlformats.org/drawingml/2006/main">
          <a:srgbClr val="0715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64876C1-5FF3-4777-B49D-CBEE54435866}"/>
              </a:ext>
            </a:extLst>
          </p:cNvPr>
          <p:cNvSpPr>
            <a:spLocks xmlns:a="http://schemas.openxmlformats.org/drawingml/2006/main" noGrp="1"/>
          </p:cNvSpPr>
          <p:nvPr/>
        </p:nvSpPr>
        <p:spPr>
          <a:xfrm xmlns:a="http://schemas.openxmlformats.org/drawingml/2006/main">
            <a:off x="609600" y="476250"/>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i="0">
                <a:solidFill>
                  <a:srgbClr val="F6F3EA"/>
                </a:solidFill>
                <a:latin typeface="Avenir Next"/>
                <a:ea typeface="Avenir Next"/>
                <a:cs typeface="Avenir Next"/>
              </a:defRPr>
            </a:pPr>
            <a:r>
              <a:rPr sz="3150" b="1" i="0">
                <a:solidFill>
                  <a:srgbClr val="F6F3EA"/>
                </a:solidFill>
                <a:latin typeface="Avenir Next"/>
                <a:ea typeface="Avenir Next"/>
                <a:cs typeface="Avenir Next"/>
              </a:rPr>
              <a:t>Servicefälle werden zu Produktwissen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90d278d77824699"/>
          <a:stretch xmlns:a="http://schemas.openxmlformats.org/drawingml/2006/main"/>
        </p:blipFill>
        <p:spPr>
          <a:xfrm xmlns:a="http://schemas.openxmlformats.org/drawingml/2006/main">
            <a:off x="9936079" y="304800"/>
            <a:ext cx="1616242" cy="495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3278E5-1E3C-407F-8BF2-3221B5ADE244}"/>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4" name="">
            <a:extLst xmlns:a="http://schemas.openxmlformats.org/drawingml/2006/main">
              <a:ext uri="{FF2B5EF4-FFF2-40B4-BE49-F238E27FC236}">
                <a16:creationId xmlns:a16="http://schemas.microsoft.com/office/drawing/2014/main" id="{FBA84583-D2DE-4F64-A239-367A5D141D7C}"/>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08</a:t>
            </a:r>
          </a:p>
        </p:txBody>
      </p:sp>
      <p:sp>
        <p:nvSpPr>
          <p:cNvPr id="5" name="">
            <a:extLst xmlns:a="http://schemas.openxmlformats.org/drawingml/2006/main">
              <a:ext uri="{FF2B5EF4-FFF2-40B4-BE49-F238E27FC236}">
                <a16:creationId xmlns:a16="http://schemas.microsoft.com/office/drawing/2014/main" id="{8DD91153-B985-4165-BA3C-8F7A9E2E26BE}"/>
              </a:ext>
            </a:extLst>
          </p:cNvPr>
          <p:cNvSpPr>
            <a:spLocks xmlns:a="http://schemas.openxmlformats.org/drawingml/2006/main" noGrp="1"/>
          </p:cNvSpPr>
          <p:nvPr/>
        </p:nvSpPr>
        <p:spPr>
          <a:xfrm xmlns:a="http://schemas.openxmlformats.org/drawingml/2006/main">
            <a:off x="609600" y="1390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SCHLÜSSELAKTIVITÄTEN</a:t>
            </a:r>
          </a:p>
        </p:txBody>
      </p:sp>
      <p:sp>
        <p:nvSpPr>
          <p:cNvPr id="6" name="">
            <a:extLst xmlns:a="http://schemas.openxmlformats.org/drawingml/2006/main">
              <a:ext uri="{FF2B5EF4-FFF2-40B4-BE49-F238E27FC236}">
                <a16:creationId xmlns:a16="http://schemas.microsoft.com/office/drawing/2014/main" id="{1018B2EE-41FA-48CF-A3D5-991918B2D83C}"/>
              </a:ext>
            </a:extLst>
          </p:cNvPr>
          <p:cNvSpPr>
            <a:spLocks xmlns:a="http://schemas.openxmlformats.org/drawingml/2006/main" noGrp="1"/>
          </p:cNvSpPr>
          <p:nvPr/>
        </p:nvSpPr>
        <p:spPr>
          <a:xfrm xmlns:a="http://schemas.openxmlformats.org/drawingml/2006/main">
            <a:off x="609600" y="17145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D6DEE7"/>
                </a:solidFill>
                <a:latin typeface="Avenir Next"/>
                <a:ea typeface="Avenir Next"/>
                <a:cs typeface="Avenir Next"/>
              </a:defRPr>
            </a:pPr>
            <a:r>
              <a:rPr sz="2025" b="0" i="0">
                <a:solidFill>
                  <a:srgbClr val="D6DEE7"/>
                </a:solidFill>
                <a:latin typeface="Avenir Next"/>
                <a:ea typeface="Avenir Next"/>
                <a:cs typeface="Avenir Next"/>
              </a:rPr>
              <a:t>Der wiederkehrende Ablauf wird mit jedem Pilot präziser.</a:t>
            </a:r>
          </a:p>
        </p:txBody>
      </p:sp>
      <p:sp>
        <p:nvSpPr>
          <p:cNvPr id="7" name="">
            <a:extLst xmlns:a="http://schemas.openxmlformats.org/drawingml/2006/main">
              <a:ext uri="{FF2B5EF4-FFF2-40B4-BE49-F238E27FC236}">
                <a16:creationId xmlns:a16="http://schemas.microsoft.com/office/drawing/2014/main" id="{3F84E84C-6EE5-45D5-9196-AF55EBA2FDDF}"/>
              </a:ext>
            </a:extLst>
          </p:cNvPr>
          <p:cNvSpPr>
            <a:spLocks xmlns:a="http://schemas.openxmlformats.org/drawingml/2006/main" noGrp="1"/>
          </p:cNvSpPr>
          <p:nvPr/>
        </p:nvSpPr>
        <p:spPr>
          <a:xfrm xmlns:a="http://schemas.openxmlformats.org/drawingml/2006/main">
            <a:off x="1143000" y="3257550"/>
            <a:ext cx="9810750" cy="0"/>
          </a:xfrm>
          <a:prstGeom xmlns:a="http://schemas.openxmlformats.org/drawingml/2006/main" prst="line">
            <a:avLst/>
          </a:prstGeom>
          <a:noFill xmlns:a="http://schemas.openxmlformats.org/drawingml/2006/main"/>
          <a:ln xmlns:a="http://schemas.openxmlformats.org/drawingml/2006/main" w="19050">
            <a:solidFill>
              <a:srgbClr val="58687A"/>
            </a:solidFill>
            <a:prstDash val="solid"/>
          </a:ln>
        </p:spPr>
      </p:sp>
      <p:sp>
        <p:nvSpPr>
          <p:cNvPr id="8" name="">
            <a:extLst xmlns:a="http://schemas.openxmlformats.org/drawingml/2006/main">
              <a:ext uri="{FF2B5EF4-FFF2-40B4-BE49-F238E27FC236}">
                <a16:creationId xmlns:a16="http://schemas.microsoft.com/office/drawing/2014/main" id="{41322AF3-5304-40C0-89FA-2E62C015D6E7}"/>
              </a:ext>
            </a:extLst>
          </p:cNvPr>
          <p:cNvSpPr>
            <a:spLocks xmlns:a="http://schemas.openxmlformats.org/drawingml/2006/main" noGrp="1"/>
          </p:cNvSpPr>
          <p:nvPr/>
        </p:nvSpPr>
        <p:spPr>
          <a:xfrm xmlns:a="http://schemas.openxmlformats.org/drawingml/2006/main">
            <a:off x="933450" y="3048000"/>
            <a:ext cx="419100" cy="419100"/>
          </a:xfrm>
          <a:prstGeom xmlns:a="http://schemas.openxmlformats.org/drawingml/2006/main" prst="ellipse">
            <a:avLst/>
          </a:prstGeom>
          <a:solidFill xmlns:a="http://schemas.openxmlformats.org/drawingml/2006/main">
            <a:srgbClr val="C8A25A"/>
          </a:solidFill>
          <a:ln xmlns:a="http://schemas.openxmlformats.org/drawingml/2006/main" w="28575">
            <a:solidFill>
              <a:srgbClr val="071527"/>
            </a:solidFill>
            <a:prstDash val="solid"/>
          </a:ln>
        </p:spPr>
      </p:sp>
      <p:sp>
        <p:nvSpPr>
          <p:cNvPr id="9" name="">
            <a:extLst xmlns:a="http://schemas.openxmlformats.org/drawingml/2006/main">
              <a:ext uri="{FF2B5EF4-FFF2-40B4-BE49-F238E27FC236}">
                <a16:creationId xmlns:a16="http://schemas.microsoft.com/office/drawing/2014/main" id="{8F488681-119E-4B46-9427-E626E32A072D}"/>
              </a:ext>
            </a:extLst>
          </p:cNvPr>
          <p:cNvSpPr>
            <a:spLocks xmlns:a="http://schemas.openxmlformats.org/drawingml/2006/main" noGrp="1"/>
          </p:cNvSpPr>
          <p:nvPr/>
        </p:nvSpPr>
        <p:spPr>
          <a:xfrm xmlns:a="http://schemas.openxmlformats.org/drawingml/2006/main">
            <a:off x="981075" y="31623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10" name="">
            <a:extLst xmlns:a="http://schemas.openxmlformats.org/drawingml/2006/main">
              <a:ext uri="{FF2B5EF4-FFF2-40B4-BE49-F238E27FC236}">
                <a16:creationId xmlns:a16="http://schemas.microsoft.com/office/drawing/2014/main" id="{A39B205D-31D2-480D-B436-AF379ED69BB3}"/>
              </a:ext>
            </a:extLst>
          </p:cNvPr>
          <p:cNvSpPr>
            <a:spLocks xmlns:a="http://schemas.openxmlformats.org/drawingml/2006/main" noGrp="1"/>
          </p:cNvSpPr>
          <p:nvPr/>
        </p:nvSpPr>
        <p:spPr>
          <a:xfrm xmlns:a="http://schemas.openxmlformats.org/drawingml/2006/main">
            <a:off x="876300" y="3676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FFF"/>
                </a:solidFill>
                <a:latin typeface="Avenir Next"/>
                <a:ea typeface="Avenir Next"/>
                <a:cs typeface="Avenir Next"/>
              </a:defRPr>
            </a:pPr>
            <a:r>
              <a:rPr sz="2025" b="1" i="0">
                <a:solidFill>
                  <a:srgbClr val="FFFFFF"/>
                </a:solidFill>
                <a:latin typeface="Avenir Next"/>
                <a:ea typeface="Avenir Next"/>
                <a:cs typeface="Avenir Next"/>
              </a:rPr>
              <a:t>Mandat</a:t>
            </a:r>
          </a:p>
        </p:txBody>
      </p:sp>
      <p:sp>
        <p:nvSpPr>
          <p:cNvPr id="11" name="">
            <a:extLst xmlns:a="http://schemas.openxmlformats.org/drawingml/2006/main">
              <a:ext uri="{FF2B5EF4-FFF2-40B4-BE49-F238E27FC236}">
                <a16:creationId xmlns:a16="http://schemas.microsoft.com/office/drawing/2014/main" id="{2BE96363-77A8-4AF5-9231-8F54B9C298B4}"/>
              </a:ext>
            </a:extLst>
          </p:cNvPr>
          <p:cNvSpPr>
            <a:spLocks xmlns:a="http://schemas.openxmlformats.org/drawingml/2006/main" noGrp="1"/>
          </p:cNvSpPr>
          <p:nvPr/>
        </p:nvSpPr>
        <p:spPr>
          <a:xfrm xmlns:a="http://schemas.openxmlformats.org/drawingml/2006/main">
            <a:off x="876300" y="41148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5CFDA"/>
                </a:solidFill>
                <a:latin typeface="Avenir Next"/>
                <a:ea typeface="Avenir Next"/>
                <a:cs typeface="Avenir Next"/>
              </a:defRPr>
            </a:pPr>
            <a:r>
              <a:rPr sz="1350" b="0" i="0">
                <a:solidFill>
                  <a:srgbClr val="C5CFDA"/>
                </a:solidFill>
                <a:latin typeface="Avenir Next"/>
                <a:ea typeface="Avenir Next"/>
                <a:cs typeface="Avenir Next"/>
              </a:rPr>
              <a:t>Reale Fälle und Übergaben</a:t>
            </a:r>
          </a:p>
        </p:txBody>
      </p:sp>
      <p:sp>
        <p:nvSpPr>
          <p:cNvPr id="12" name="">
            <a:extLst xmlns:a="http://schemas.openxmlformats.org/drawingml/2006/main">
              <a:ext uri="{FF2B5EF4-FFF2-40B4-BE49-F238E27FC236}">
                <a16:creationId xmlns:a16="http://schemas.microsoft.com/office/drawing/2014/main" id="{0BC75F8E-8095-4806-921D-AE0F70BED054}"/>
              </a:ext>
            </a:extLst>
          </p:cNvPr>
          <p:cNvSpPr>
            <a:spLocks xmlns:a="http://schemas.openxmlformats.org/drawingml/2006/main" noGrp="1"/>
          </p:cNvSpPr>
          <p:nvPr/>
        </p:nvSpPr>
        <p:spPr>
          <a:xfrm xmlns:a="http://schemas.openxmlformats.org/drawingml/2006/main">
            <a:off x="3552825" y="3048000"/>
            <a:ext cx="419100" cy="419100"/>
          </a:xfrm>
          <a:prstGeom xmlns:a="http://schemas.openxmlformats.org/drawingml/2006/main" prst="ellipse">
            <a:avLst/>
          </a:prstGeom>
          <a:solidFill xmlns:a="http://schemas.openxmlformats.org/drawingml/2006/main">
            <a:srgbClr val="C8A25A"/>
          </a:solidFill>
          <a:ln xmlns:a="http://schemas.openxmlformats.org/drawingml/2006/main" w="28575">
            <a:solidFill>
              <a:srgbClr val="071527"/>
            </a:solidFill>
            <a:prstDash val="solid"/>
          </a:ln>
        </p:spPr>
      </p:sp>
      <p:sp>
        <p:nvSpPr>
          <p:cNvPr id="13" name="">
            <a:extLst xmlns:a="http://schemas.openxmlformats.org/drawingml/2006/main">
              <a:ext uri="{FF2B5EF4-FFF2-40B4-BE49-F238E27FC236}">
                <a16:creationId xmlns:a16="http://schemas.microsoft.com/office/drawing/2014/main" id="{18E7ED9C-A530-49ED-AE55-EFF141893F3A}"/>
              </a:ext>
            </a:extLst>
          </p:cNvPr>
          <p:cNvSpPr>
            <a:spLocks xmlns:a="http://schemas.openxmlformats.org/drawingml/2006/main" noGrp="1"/>
          </p:cNvSpPr>
          <p:nvPr/>
        </p:nvSpPr>
        <p:spPr>
          <a:xfrm xmlns:a="http://schemas.openxmlformats.org/drawingml/2006/main">
            <a:off x="3600450" y="31623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4" name="">
            <a:extLst xmlns:a="http://schemas.openxmlformats.org/drawingml/2006/main">
              <a:ext uri="{FF2B5EF4-FFF2-40B4-BE49-F238E27FC236}">
                <a16:creationId xmlns:a16="http://schemas.microsoft.com/office/drawing/2014/main" id="{096DC9FD-D73E-43D4-8AD3-BEAD68E648BA}"/>
              </a:ext>
            </a:extLst>
          </p:cNvPr>
          <p:cNvSpPr>
            <a:spLocks xmlns:a="http://schemas.openxmlformats.org/drawingml/2006/main" noGrp="1"/>
          </p:cNvSpPr>
          <p:nvPr/>
        </p:nvSpPr>
        <p:spPr>
          <a:xfrm xmlns:a="http://schemas.openxmlformats.org/drawingml/2006/main">
            <a:off x="3495675" y="3676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FFF"/>
                </a:solidFill>
                <a:latin typeface="Avenir Next"/>
                <a:ea typeface="Avenir Next"/>
                <a:cs typeface="Avenir Next"/>
              </a:defRPr>
            </a:pPr>
            <a:r>
              <a:rPr sz="2025" b="1" i="0">
                <a:solidFill>
                  <a:srgbClr val="FFFFFF"/>
                </a:solidFill>
                <a:latin typeface="Avenir Next"/>
                <a:ea typeface="Avenir Next"/>
                <a:cs typeface="Avenir Next"/>
              </a:rPr>
              <a:t>Daten</a:t>
            </a:r>
          </a:p>
        </p:txBody>
      </p:sp>
      <p:sp>
        <p:nvSpPr>
          <p:cNvPr id="15" name="">
            <a:extLst xmlns:a="http://schemas.openxmlformats.org/drawingml/2006/main">
              <a:ext uri="{FF2B5EF4-FFF2-40B4-BE49-F238E27FC236}">
                <a16:creationId xmlns:a16="http://schemas.microsoft.com/office/drawing/2014/main" id="{7455640B-477F-4537-BF8F-8D6AF591B87C}"/>
              </a:ext>
            </a:extLst>
          </p:cNvPr>
          <p:cNvSpPr>
            <a:spLocks xmlns:a="http://schemas.openxmlformats.org/drawingml/2006/main" noGrp="1"/>
          </p:cNvSpPr>
          <p:nvPr/>
        </p:nvSpPr>
        <p:spPr>
          <a:xfrm xmlns:a="http://schemas.openxmlformats.org/drawingml/2006/main">
            <a:off x="3495675" y="41148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5CFDA"/>
                </a:solidFill>
                <a:latin typeface="Avenir Next"/>
                <a:ea typeface="Avenir Next"/>
                <a:cs typeface="Avenir Next"/>
              </a:defRPr>
            </a:pPr>
            <a:r>
              <a:rPr sz="1350" b="0" i="0">
                <a:solidFill>
                  <a:srgbClr val="C5CFDA"/>
                </a:solidFill>
                <a:latin typeface="Avenir Next"/>
                <a:ea typeface="Avenir Next"/>
                <a:cs typeface="Avenir Next"/>
              </a:rPr>
              <a:t>Status, Risiken und Aufwand</a:t>
            </a:r>
          </a:p>
        </p:txBody>
      </p:sp>
      <p:sp>
        <p:nvSpPr>
          <p:cNvPr id="16" name="">
            <a:extLst xmlns:a="http://schemas.openxmlformats.org/drawingml/2006/main">
              <a:ext uri="{FF2B5EF4-FFF2-40B4-BE49-F238E27FC236}">
                <a16:creationId xmlns:a16="http://schemas.microsoft.com/office/drawing/2014/main" id="{176A4402-EE9D-4840-85AA-C54AF0C822EA}"/>
              </a:ext>
            </a:extLst>
          </p:cNvPr>
          <p:cNvSpPr>
            <a:spLocks xmlns:a="http://schemas.openxmlformats.org/drawingml/2006/main" noGrp="1"/>
          </p:cNvSpPr>
          <p:nvPr/>
        </p:nvSpPr>
        <p:spPr>
          <a:xfrm xmlns:a="http://schemas.openxmlformats.org/drawingml/2006/main">
            <a:off x="6172200" y="3048000"/>
            <a:ext cx="419100" cy="419100"/>
          </a:xfrm>
          <a:prstGeom xmlns:a="http://schemas.openxmlformats.org/drawingml/2006/main" prst="ellipse">
            <a:avLst/>
          </a:prstGeom>
          <a:solidFill xmlns:a="http://schemas.openxmlformats.org/drawingml/2006/main">
            <a:srgbClr val="C8A25A"/>
          </a:solidFill>
          <a:ln xmlns:a="http://schemas.openxmlformats.org/drawingml/2006/main" w="28575">
            <a:solidFill>
              <a:srgbClr val="071527"/>
            </a:solidFill>
            <a:prstDash val="solid"/>
          </a:ln>
        </p:spPr>
      </p:sp>
      <p:sp>
        <p:nvSpPr>
          <p:cNvPr id="17" name="">
            <a:extLst xmlns:a="http://schemas.openxmlformats.org/drawingml/2006/main">
              <a:ext uri="{FF2B5EF4-FFF2-40B4-BE49-F238E27FC236}">
                <a16:creationId xmlns:a16="http://schemas.microsoft.com/office/drawing/2014/main" id="{EBCF7574-712A-413C-A4A0-7D9713041337}"/>
              </a:ext>
            </a:extLst>
          </p:cNvPr>
          <p:cNvSpPr>
            <a:spLocks xmlns:a="http://schemas.openxmlformats.org/drawingml/2006/main" noGrp="1"/>
          </p:cNvSpPr>
          <p:nvPr/>
        </p:nvSpPr>
        <p:spPr>
          <a:xfrm xmlns:a="http://schemas.openxmlformats.org/drawingml/2006/main">
            <a:off x="6219825" y="31623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7E9A36A9-51F0-43E3-ADE9-5193D620DEE5}"/>
              </a:ext>
            </a:extLst>
          </p:cNvPr>
          <p:cNvSpPr>
            <a:spLocks xmlns:a="http://schemas.openxmlformats.org/drawingml/2006/main" noGrp="1"/>
          </p:cNvSpPr>
          <p:nvPr/>
        </p:nvSpPr>
        <p:spPr>
          <a:xfrm xmlns:a="http://schemas.openxmlformats.org/drawingml/2006/main">
            <a:off x="6115050" y="3676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FFF"/>
                </a:solidFill>
                <a:latin typeface="Avenir Next"/>
                <a:ea typeface="Avenir Next"/>
                <a:cs typeface="Avenir Next"/>
              </a:defRPr>
            </a:pPr>
            <a:r>
              <a:rPr sz="2025" b="1" i="0">
                <a:solidFill>
                  <a:srgbClr val="FFFFFF"/>
                </a:solidFill>
                <a:latin typeface="Avenir Next"/>
                <a:ea typeface="Avenir Next"/>
                <a:cs typeface="Avenir Next"/>
              </a:rPr>
              <a:t>Standard</a:t>
            </a:r>
          </a:p>
        </p:txBody>
      </p:sp>
      <p:sp>
        <p:nvSpPr>
          <p:cNvPr id="19" name="">
            <a:extLst xmlns:a="http://schemas.openxmlformats.org/drawingml/2006/main">
              <a:ext uri="{FF2B5EF4-FFF2-40B4-BE49-F238E27FC236}">
                <a16:creationId xmlns:a16="http://schemas.microsoft.com/office/drawing/2014/main" id="{93026796-C2B3-4F30-B7E1-AA87DD4BEE96}"/>
              </a:ext>
            </a:extLst>
          </p:cNvPr>
          <p:cNvSpPr>
            <a:spLocks xmlns:a="http://schemas.openxmlformats.org/drawingml/2006/main" noGrp="1"/>
          </p:cNvSpPr>
          <p:nvPr/>
        </p:nvSpPr>
        <p:spPr>
          <a:xfrm xmlns:a="http://schemas.openxmlformats.org/drawingml/2006/main">
            <a:off x="6115050" y="41148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5CFDA"/>
                </a:solidFill>
                <a:latin typeface="Avenir Next"/>
                <a:ea typeface="Avenir Next"/>
                <a:cs typeface="Avenir Next"/>
              </a:defRPr>
            </a:pPr>
            <a:r>
              <a:rPr sz="1350" b="0" i="0">
                <a:solidFill>
                  <a:srgbClr val="C5CFDA"/>
                </a:solidFill>
                <a:latin typeface="Avenir Next"/>
                <a:ea typeface="Avenir Next"/>
                <a:cs typeface="Avenir Next"/>
              </a:rPr>
              <a:t>Playbooks und Baselines</a:t>
            </a:r>
          </a:p>
        </p:txBody>
      </p:sp>
      <p:sp>
        <p:nvSpPr>
          <p:cNvPr id="20" name="">
            <a:extLst xmlns:a="http://schemas.openxmlformats.org/drawingml/2006/main">
              <a:ext uri="{FF2B5EF4-FFF2-40B4-BE49-F238E27FC236}">
                <a16:creationId xmlns:a16="http://schemas.microsoft.com/office/drawing/2014/main" id="{93073696-61A7-4EAC-AB71-1778E54B75E6}"/>
              </a:ext>
            </a:extLst>
          </p:cNvPr>
          <p:cNvSpPr>
            <a:spLocks xmlns:a="http://schemas.openxmlformats.org/drawingml/2006/main" noGrp="1"/>
          </p:cNvSpPr>
          <p:nvPr/>
        </p:nvSpPr>
        <p:spPr>
          <a:xfrm xmlns:a="http://schemas.openxmlformats.org/drawingml/2006/main">
            <a:off x="8791575" y="3048000"/>
            <a:ext cx="419100" cy="419100"/>
          </a:xfrm>
          <a:prstGeom xmlns:a="http://schemas.openxmlformats.org/drawingml/2006/main" prst="ellipse">
            <a:avLst/>
          </a:prstGeom>
          <a:solidFill xmlns:a="http://schemas.openxmlformats.org/drawingml/2006/main">
            <a:srgbClr val="356D69"/>
          </a:solidFill>
          <a:ln xmlns:a="http://schemas.openxmlformats.org/drawingml/2006/main" w="28575">
            <a:solidFill>
              <a:srgbClr val="071527"/>
            </a:solidFill>
            <a:prstDash val="solid"/>
          </a:ln>
        </p:spPr>
      </p:sp>
      <p:sp>
        <p:nvSpPr>
          <p:cNvPr id="21" name="">
            <a:extLst xmlns:a="http://schemas.openxmlformats.org/drawingml/2006/main">
              <a:ext uri="{FF2B5EF4-FFF2-40B4-BE49-F238E27FC236}">
                <a16:creationId xmlns:a16="http://schemas.microsoft.com/office/drawing/2014/main" id="{003FB19E-9534-47C9-A201-47B17496F698}"/>
              </a:ext>
            </a:extLst>
          </p:cNvPr>
          <p:cNvSpPr>
            <a:spLocks xmlns:a="http://schemas.openxmlformats.org/drawingml/2006/main" noGrp="1"/>
          </p:cNvSpPr>
          <p:nvPr/>
        </p:nvSpPr>
        <p:spPr>
          <a:xfrm xmlns:a="http://schemas.openxmlformats.org/drawingml/2006/main">
            <a:off x="8839200" y="31623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04</a:t>
            </a:r>
          </a:p>
        </p:txBody>
      </p:sp>
      <p:sp>
        <p:nvSpPr>
          <p:cNvPr id="22" name="">
            <a:extLst xmlns:a="http://schemas.openxmlformats.org/drawingml/2006/main">
              <a:ext uri="{FF2B5EF4-FFF2-40B4-BE49-F238E27FC236}">
                <a16:creationId xmlns:a16="http://schemas.microsoft.com/office/drawing/2014/main" id="{343900D2-AA5A-4A84-967B-85A3EB8BE153}"/>
              </a:ext>
            </a:extLst>
          </p:cNvPr>
          <p:cNvSpPr>
            <a:spLocks xmlns:a="http://schemas.openxmlformats.org/drawingml/2006/main" noGrp="1"/>
          </p:cNvSpPr>
          <p:nvPr/>
        </p:nvSpPr>
        <p:spPr>
          <a:xfrm xmlns:a="http://schemas.openxmlformats.org/drawingml/2006/main">
            <a:off x="8734425" y="3676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FFF"/>
                </a:solidFill>
                <a:latin typeface="Avenir Next"/>
                <a:ea typeface="Avenir Next"/>
                <a:cs typeface="Avenir Next"/>
              </a:defRPr>
            </a:pPr>
            <a:r>
              <a:rPr sz="2025" b="1" i="0">
                <a:solidFill>
                  <a:srgbClr val="FFFFFF"/>
                </a:solidFill>
                <a:latin typeface="Avenir Next"/>
                <a:ea typeface="Avenir Next"/>
                <a:cs typeface="Avenir Next"/>
              </a:rPr>
              <a:t>Produkt</a:t>
            </a:r>
          </a:p>
        </p:txBody>
      </p:sp>
      <p:sp>
        <p:nvSpPr>
          <p:cNvPr id="23" name="">
            <a:extLst xmlns:a="http://schemas.openxmlformats.org/drawingml/2006/main">
              <a:ext uri="{FF2B5EF4-FFF2-40B4-BE49-F238E27FC236}">
                <a16:creationId xmlns:a16="http://schemas.microsoft.com/office/drawing/2014/main" id="{2C6E6CAC-DFFF-4CF6-880C-CE341643C6ED}"/>
              </a:ext>
            </a:extLst>
          </p:cNvPr>
          <p:cNvSpPr>
            <a:spLocks xmlns:a="http://schemas.openxmlformats.org/drawingml/2006/main" noGrp="1"/>
          </p:cNvSpPr>
          <p:nvPr/>
        </p:nvSpPr>
        <p:spPr>
          <a:xfrm xmlns:a="http://schemas.openxmlformats.org/drawingml/2006/main">
            <a:off x="8734425" y="41148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5CFDA"/>
                </a:solidFill>
                <a:latin typeface="Avenir Next"/>
                <a:ea typeface="Avenir Next"/>
                <a:cs typeface="Avenir Next"/>
              </a:defRPr>
            </a:pPr>
            <a:r>
              <a:rPr sz="1350" b="0" i="0">
                <a:solidFill>
                  <a:srgbClr val="C5CFDA"/>
                </a:solidFill>
                <a:latin typeface="Avenir Next"/>
                <a:ea typeface="Avenir Next"/>
                <a:cs typeface="Avenir Next"/>
              </a:rPr>
              <a:t>Workflow und Module</a:t>
            </a:r>
          </a:p>
        </p:txBody>
      </p:sp>
      <p:sp>
        <p:nvSpPr>
          <p:cNvPr id="24" name="">
            <a:extLst xmlns:a="http://schemas.openxmlformats.org/drawingml/2006/main">
              <a:ext uri="{FF2B5EF4-FFF2-40B4-BE49-F238E27FC236}">
                <a16:creationId xmlns:a16="http://schemas.microsoft.com/office/drawing/2014/main" id="{1AEE4AE6-6B15-4567-8BEB-96AC8BFBAFC4}"/>
              </a:ext>
            </a:extLst>
          </p:cNvPr>
          <p:cNvSpPr>
            <a:spLocks xmlns:a="http://schemas.openxmlformats.org/drawingml/2006/main" noGrp="1"/>
          </p:cNvSpPr>
          <p:nvPr/>
        </p:nvSpPr>
        <p:spPr>
          <a:xfrm xmlns:a="http://schemas.openxmlformats.org/drawingml/2006/main">
            <a:off x="609600" y="5048250"/>
            <a:ext cx="10972800" cy="0"/>
          </a:xfrm>
          <a:prstGeom xmlns:a="http://schemas.openxmlformats.org/drawingml/2006/main" prst="line">
            <a:avLst/>
          </a:prstGeom>
          <a:noFill xmlns:a="http://schemas.openxmlformats.org/drawingml/2006/main"/>
          <a:ln xmlns:a="http://schemas.openxmlformats.org/drawingml/2006/main" w="14288">
            <a:solidFill>
              <a:srgbClr val="314256"/>
            </a:solidFill>
            <a:prstDash val="solid"/>
          </a:ln>
        </p:spPr>
      </p:sp>
      <p:sp>
        <p:nvSpPr>
          <p:cNvPr id="25" name="">
            <a:extLst xmlns:a="http://schemas.openxmlformats.org/drawingml/2006/main">
              <a:ext uri="{FF2B5EF4-FFF2-40B4-BE49-F238E27FC236}">
                <a16:creationId xmlns:a16="http://schemas.microsoft.com/office/drawing/2014/main" id="{28336986-CC77-4566-BC87-A1BE1D1EE3CD}"/>
              </a:ext>
            </a:extLst>
          </p:cNvPr>
          <p:cNvSpPr>
            <a:spLocks xmlns:a="http://schemas.openxmlformats.org/drawingml/2006/main" noGrp="1"/>
          </p:cNvSpPr>
          <p:nvPr/>
        </p:nvSpPr>
        <p:spPr>
          <a:xfrm xmlns:a="http://schemas.openxmlformats.org/drawingml/2006/main">
            <a:off x="609600" y="5353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SCHLÜSSELRESSOURCEN UND VORHANDENER STAND</a:t>
            </a:r>
          </a:p>
        </p:txBody>
      </p:sp>
      <p:sp>
        <p:nvSpPr>
          <p:cNvPr id="26" name="">
            <a:extLst xmlns:a="http://schemas.openxmlformats.org/drawingml/2006/main">
              <a:ext uri="{FF2B5EF4-FFF2-40B4-BE49-F238E27FC236}">
                <a16:creationId xmlns:a16="http://schemas.microsoft.com/office/drawing/2014/main" id="{3BFDC897-5847-4B7B-9777-1B13FBD3AC70}"/>
              </a:ext>
            </a:extLst>
          </p:cNvPr>
          <p:cNvSpPr>
            <a:spLocks xmlns:a="http://schemas.openxmlformats.org/drawingml/2006/main" noGrp="1"/>
          </p:cNvSpPr>
          <p:nvPr/>
        </p:nvSpPr>
        <p:spPr>
          <a:xfrm xmlns:a="http://schemas.openxmlformats.org/drawingml/2006/main">
            <a:off x="609600" y="5695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693"/>
          </a:bodyPr>
          <a:lstStyle xmlns:a="http://schemas.openxmlformats.org/drawingml/2006/main"/>
          <a:p xmlns:a="http://schemas.openxmlformats.org/drawingml/2006/main">
            <a:pPr algn="l">
              <a:lnSpc>
                <a:spcPct val="100000"/>
              </a:lnSpc>
              <a:buNone/>
              <a:defRPr sz="1575" b="1" i="0">
                <a:solidFill>
                  <a:srgbClr val="F6F3EA"/>
                </a:solidFill>
                <a:latin typeface="Avenir Next"/>
                <a:ea typeface="Avenir Next"/>
                <a:cs typeface="Avenir Next"/>
              </a:defRPr>
            </a:pPr>
            <a:r>
              <a:rPr sz="1575" b="1" i="0">
                <a:solidFill>
                  <a:srgbClr val="F6F3EA"/>
                </a:solidFill>
                <a:latin typeface="Avenir Next"/>
                <a:ea typeface="Avenir Next"/>
                <a:cs typeface="Avenir Next"/>
              </a:rPr>
              <a:t>Arrival-Playbooks, Rollen- und Risikomodell</a:t>
            </a:r>
          </a:p>
        </p:txBody>
      </p:sp>
      <p:sp>
        <p:nvSpPr>
          <p:cNvPr id="27" name="">
            <a:extLst xmlns:a="http://schemas.openxmlformats.org/drawingml/2006/main">
              <a:ext uri="{FF2B5EF4-FFF2-40B4-BE49-F238E27FC236}">
                <a16:creationId xmlns:a16="http://schemas.microsoft.com/office/drawing/2014/main" id="{2F18C64E-69F8-4EBC-9F92-70AC0DA3A532}"/>
              </a:ext>
            </a:extLst>
          </p:cNvPr>
          <p:cNvSpPr>
            <a:spLocks xmlns:a="http://schemas.openxmlformats.org/drawingml/2006/main" noGrp="1"/>
          </p:cNvSpPr>
          <p:nvPr/>
        </p:nvSpPr>
        <p:spPr>
          <a:xfrm xmlns:a="http://schemas.openxmlformats.org/drawingml/2006/main">
            <a:off x="4857750" y="5695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717"/>
          </a:bodyPr>
          <a:lstStyle xmlns:a="http://schemas.openxmlformats.org/drawingml/2006/main"/>
          <a:p xmlns:a="http://schemas.openxmlformats.org/drawingml/2006/main">
            <a:pPr algn="l">
              <a:lnSpc>
                <a:spcPct val="100000"/>
              </a:lnSpc>
              <a:buNone/>
              <a:defRPr sz="1575" b="1" i="0">
                <a:solidFill>
                  <a:srgbClr val="F6F3EA"/>
                </a:solidFill>
                <a:latin typeface="Avenir Next"/>
                <a:ea typeface="Avenir Next"/>
                <a:cs typeface="Avenir Next"/>
              </a:defRPr>
            </a:pPr>
            <a:r>
              <a:rPr sz="1575" b="1" i="0">
                <a:solidFill>
                  <a:srgbClr val="F6F3EA"/>
                </a:solidFill>
                <a:latin typeface="Avenir Next"/>
                <a:ea typeface="Avenir Next"/>
                <a:cs typeface="Avenir Next"/>
              </a:rPr>
              <a:t>Konzeptdemo, Datenstruktur und MVP-Lastenheft</a:t>
            </a:r>
          </a:p>
        </p:txBody>
      </p:sp>
      <p:sp>
        <p:nvSpPr>
          <p:cNvPr id="28" name="">
            <a:extLst xmlns:a="http://schemas.openxmlformats.org/drawingml/2006/main">
              <a:ext uri="{FF2B5EF4-FFF2-40B4-BE49-F238E27FC236}">
                <a16:creationId xmlns:a16="http://schemas.microsoft.com/office/drawing/2014/main" id="{76EF89E3-7EF6-4F36-98E0-198363EA39B3}"/>
              </a:ext>
            </a:extLst>
          </p:cNvPr>
          <p:cNvSpPr>
            <a:spLocks xmlns:a="http://schemas.openxmlformats.org/drawingml/2006/main" noGrp="1"/>
          </p:cNvSpPr>
          <p:nvPr/>
        </p:nvSpPr>
        <p:spPr>
          <a:xfrm xmlns:a="http://schemas.openxmlformats.org/drawingml/2006/main">
            <a:off x="9048750" y="56959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6F3EA"/>
                </a:solidFill>
                <a:latin typeface="Avenir Next"/>
                <a:ea typeface="Avenir Next"/>
                <a:cs typeface="Avenir Next"/>
              </a:defRPr>
            </a:pPr>
            <a:r>
              <a:rPr sz="1350" b="1" i="0">
                <a:solidFill>
                  <a:srgbClr val="F6F3EA"/>
                </a:solidFill>
                <a:latin typeface="Avenir Next"/>
                <a:ea typeface="Avenir Next"/>
                <a:cs typeface="Avenir Next"/>
              </a:rPr>
              <a:t>Vorerfahrung: rund 40 Fachkräfte · 10 Standorte*</a:t>
            </a:r>
          </a:p>
        </p:txBody>
      </p:sp>
      <p:sp>
        <p:nvSpPr>
          <p:cNvPr id="29" name="">
            <a:extLst xmlns:a="http://schemas.openxmlformats.org/drawingml/2006/main">
              <a:ext uri="{FF2B5EF4-FFF2-40B4-BE49-F238E27FC236}">
                <a16:creationId xmlns:a16="http://schemas.microsoft.com/office/drawing/2014/main" id="{E5214A04-24CC-4F62-A177-0002E2EDD42E}"/>
              </a:ext>
            </a:extLst>
          </p:cNvPr>
          <p:cNvSpPr>
            <a:spLocks xmlns:a="http://schemas.openxmlformats.org/drawingml/2006/main" noGrp="1"/>
          </p:cNvSpPr>
          <p:nvPr/>
        </p:nvSpPr>
        <p:spPr>
          <a:xfrm xmlns:a="http://schemas.openxmlformats.org/drawingml/2006/main">
            <a:off x="9048750" y="62103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41"/>
          </a:bodyPr>
          <a:lstStyle xmlns:a="http://schemas.openxmlformats.org/drawingml/2006/main"/>
          <a:p xmlns:a="http://schemas.openxmlformats.org/drawingml/2006/main">
            <a:pPr algn="l">
              <a:lnSpc>
                <a:spcPct val="100000"/>
              </a:lnSpc>
              <a:buNone/>
              <a:defRPr sz="825" b="0" i="0">
                <a:solidFill>
                  <a:srgbClr val="AEB9C5"/>
                </a:solidFill>
                <a:latin typeface="Avenir Next"/>
                <a:ea typeface="Avenir Next"/>
                <a:cs typeface="Avenir Next"/>
              </a:defRPr>
            </a:pPr>
            <a:r>
              <a:rPr sz="825" b="0" i="0">
                <a:solidFill>
                  <a:srgbClr val="AEB9C5"/>
                </a:solidFill>
                <a:latin typeface="Avenir Next"/>
                <a:ea typeface="Avenir Next"/>
                <a:cs typeface="Avenir Next"/>
              </a:rPr>
              <a:t>* Persönliche Vorerfahrung vor AMAVIO; keine Kundenreferenz.</a:t>
            </a:r>
          </a:p>
        </p:txBody>
      </p:sp>
    </p:spTree>
    <p:extLst>
      <p:ext uri="{BB962C8B-B14F-4D97-AF65-F5344CB8AC3E}">
        <p14:creationId xmlns:p14="http://schemas.microsoft.com/office/powerpoint/2010/main" val="6590826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2abd131a921443e"/>
          <a:srcRect xmlns:a="http://schemas.openxmlformats.org/drawingml/2006/main" l="20297" t="0" r="20297" b="0"/>
          <a:stretch xmlns:a="http://schemas.openxmlformats.org/drawingml/2006/main">
            <a:fillRect l="0" t="0" r="0" b="0"/>
          </a:stretch>
        </p:blipFill>
        <p:spPr>
          <a:xfrm xmlns:a="http://schemas.openxmlformats.org/drawingml/2006/main">
            <a:off x="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8F5AA2-946A-4D63-9539-27DA52806AC3}"/>
              </a:ext>
            </a:extLst>
          </p:cNvPr>
          <p:cNvSpPr>
            <a:spLocks xmlns:a="http://schemas.openxmlformats.org/drawingml/2006/main" noGrp="1"/>
          </p:cNvSpPr>
          <p:nvPr/>
        </p:nvSpPr>
        <p:spPr>
          <a:xfrm xmlns:a="http://schemas.openxmlformats.org/drawingml/2006/main">
            <a:off x="6667500" y="0"/>
            <a:ext cx="5524500" cy="6858000"/>
          </a:xfrm>
          <a:prstGeom xmlns:a="http://schemas.openxmlformats.org/drawingml/2006/main" prst="rect">
            <a:avLst/>
          </a:prstGeom>
          <a:solidFill xmlns:a="http://schemas.openxmlformats.org/drawingml/2006/main">
            <a:srgbClr val="071527"/>
          </a:solidFill>
          <a:ln xmlns:a="http://schemas.openxmlformats.org/drawingml/2006/main" w="0">
            <a:no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f197de3fc28477e"/>
          <a:stretch xmlns:a="http://schemas.openxmlformats.org/drawingml/2006/main"/>
        </p:blipFill>
        <p:spPr>
          <a:xfrm xmlns:a="http://schemas.openxmlformats.org/drawingml/2006/main">
            <a:off x="9917029" y="323850"/>
            <a:ext cx="1616242" cy="495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5DF3DA-A6AF-4704-8589-5C3EE2516A85}"/>
              </a:ext>
            </a:extLst>
          </p:cNvPr>
          <p:cNvSpPr>
            <a:spLocks xmlns:a="http://schemas.openxmlformats.org/drawingml/2006/main" noGrp="1"/>
          </p:cNvSpPr>
          <p:nvPr/>
        </p:nvSpPr>
        <p:spPr>
          <a:xfrm xmlns:a="http://schemas.openxmlformats.org/drawingml/2006/main">
            <a:off x="7239000" y="12001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PARTNERNETZ UND KOSTENSTRUKTUR</a:t>
            </a:r>
          </a:p>
        </p:txBody>
      </p:sp>
      <p:sp>
        <p:nvSpPr>
          <p:cNvPr id="5" name="">
            <a:extLst xmlns:a="http://schemas.openxmlformats.org/drawingml/2006/main">
              <a:ext uri="{FF2B5EF4-FFF2-40B4-BE49-F238E27FC236}">
                <a16:creationId xmlns:a16="http://schemas.microsoft.com/office/drawing/2014/main" id="{FE049CD3-A9F3-49F7-AFFB-1668CBE2CED8}"/>
              </a:ext>
            </a:extLst>
          </p:cNvPr>
          <p:cNvSpPr>
            <a:spLocks xmlns:a="http://schemas.openxmlformats.org/drawingml/2006/main" noGrp="1"/>
          </p:cNvSpPr>
          <p:nvPr/>
        </p:nvSpPr>
        <p:spPr>
          <a:xfrm xmlns:a="http://schemas.openxmlformats.org/drawingml/2006/main">
            <a:off x="7239000" y="1562100"/>
            <a:ext cx="4191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563"/>
          </a:bodyPr>
          <a:lstStyle xmlns:a="http://schemas.openxmlformats.org/drawingml/2006/main"/>
          <a:p xmlns:a="http://schemas.openxmlformats.org/drawingml/2006/main">
            <a:pPr algn="l">
              <a:lnSpc>
                <a:spcPct val="95000"/>
              </a:lnSpc>
              <a:buNone/>
              <a:defRPr sz="2850" b="1" i="0">
                <a:solidFill>
                  <a:srgbClr val="F6F3EA"/>
                </a:solidFill>
                <a:latin typeface="Avenir Next"/>
                <a:ea typeface="Avenir Next"/>
                <a:cs typeface="Avenir Next"/>
              </a:defRPr>
            </a:pPr>
            <a:r>
              <a:rPr sz="2850" b="1" i="0">
                <a:solidFill>
                  <a:srgbClr val="F6F3EA"/>
                </a:solidFill>
                <a:latin typeface="Avenir Next"/>
                <a:ea typeface="Avenir Next"/>
                <a:cs typeface="Avenir Next"/>
              </a:rPr>
              <a:t>Partner erweitern die Leistung. AMAVIO hält den Prozesskern.</a:t>
            </a:r>
          </a:p>
        </p:txBody>
      </p:sp>
      <p:sp>
        <p:nvSpPr>
          <p:cNvPr id="6" name="">
            <a:extLst xmlns:a="http://schemas.openxmlformats.org/drawingml/2006/main">
              <a:ext uri="{FF2B5EF4-FFF2-40B4-BE49-F238E27FC236}">
                <a16:creationId xmlns:a16="http://schemas.microsoft.com/office/drawing/2014/main" id="{6EE74365-1072-4FC4-B967-63195AF5C50E}"/>
              </a:ext>
            </a:extLst>
          </p:cNvPr>
          <p:cNvSpPr>
            <a:spLocks xmlns:a="http://schemas.openxmlformats.org/drawingml/2006/main" noGrp="1"/>
          </p:cNvSpPr>
          <p:nvPr/>
        </p:nvSpPr>
        <p:spPr>
          <a:xfrm xmlns:a="http://schemas.openxmlformats.org/drawingml/2006/main">
            <a:off x="7239000" y="29908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8A25A"/>
                </a:solidFill>
                <a:latin typeface="Avenir Next"/>
                <a:ea typeface="Avenir Next"/>
                <a:cs typeface="Avenir Next"/>
              </a:defRPr>
            </a:pPr>
            <a:r>
              <a:rPr sz="1350" b="1" i="0">
                <a:solidFill>
                  <a:srgbClr val="C8A25A"/>
                </a:solidFill>
                <a:latin typeface="Avenir Next"/>
                <a:ea typeface="Avenir Next"/>
                <a:cs typeface="Avenir Next"/>
              </a:rPr>
              <a:t>Schlüsselpartner</a:t>
            </a:r>
          </a:p>
        </p:txBody>
      </p:sp>
      <p:sp>
        <p:nvSpPr>
          <p:cNvPr id="7" name="">
            <a:extLst xmlns:a="http://schemas.openxmlformats.org/drawingml/2006/main">
              <a:ext uri="{FF2B5EF4-FFF2-40B4-BE49-F238E27FC236}">
                <a16:creationId xmlns:a16="http://schemas.microsoft.com/office/drawing/2014/main" id="{F4236588-0848-46F3-8259-F462944739F4}"/>
              </a:ext>
            </a:extLst>
          </p:cNvPr>
          <p:cNvSpPr>
            <a:spLocks xmlns:a="http://schemas.openxmlformats.org/drawingml/2006/main" noGrp="1"/>
          </p:cNvSpPr>
          <p:nvPr/>
        </p:nvSpPr>
        <p:spPr>
          <a:xfrm xmlns:a="http://schemas.openxmlformats.org/drawingml/2006/main">
            <a:off x="7239000" y="3352800"/>
            <a:ext cx="390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22"/>
          </a:bodyPr>
          <a:lstStyle xmlns:a="http://schemas.openxmlformats.org/drawingml/2006/main"/>
          <a:p xmlns:a="http://schemas.openxmlformats.org/drawingml/2006/main">
            <a:pPr algn="l">
              <a:lnSpc>
                <a:spcPct val="118000"/>
              </a:lnSpc>
              <a:buNone/>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Geplante Pilot- und Designpartner</a:t>
            </a:r>
          </a:p>
          <a:p xmlns:a="http://schemas.openxmlformats.org/drawingml/2006/main">
            <a:pPr algn="l">
              <a:lnSpc>
                <a:spcPct val="118000"/>
              </a:lnSpc>
              <a:buNone/>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Technologie-, UX- und Datenschutzpartner</a:t>
            </a:r>
          </a:p>
          <a:p xmlns:a="http://schemas.openxmlformats.org/drawingml/2006/main">
            <a:pPr algn="l">
              <a:lnSpc>
                <a:spcPct val="118000"/>
              </a:lnSpc>
              <a:buNone/>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Qualifizierte regionale Anbieter</a:t>
            </a:r>
          </a:p>
        </p:txBody>
      </p:sp>
      <p:sp>
        <p:nvSpPr>
          <p:cNvPr id="8" name="">
            <a:extLst xmlns:a="http://schemas.openxmlformats.org/drawingml/2006/main">
              <a:ext uri="{FF2B5EF4-FFF2-40B4-BE49-F238E27FC236}">
                <a16:creationId xmlns:a16="http://schemas.microsoft.com/office/drawing/2014/main" id="{166A6F41-70F8-4D08-AF4B-14E55B62B8DB}"/>
              </a:ext>
            </a:extLst>
          </p:cNvPr>
          <p:cNvSpPr>
            <a:spLocks xmlns:a="http://schemas.openxmlformats.org/drawingml/2006/main" noGrp="1"/>
          </p:cNvSpPr>
          <p:nvPr/>
        </p:nvSpPr>
        <p:spPr>
          <a:xfrm xmlns:a="http://schemas.openxmlformats.org/drawingml/2006/main">
            <a:off x="7239000" y="4629150"/>
            <a:ext cx="3143250" cy="0"/>
          </a:xfrm>
          <a:prstGeom xmlns:a="http://schemas.openxmlformats.org/drawingml/2006/main" prst="line">
            <a:avLst/>
          </a:prstGeom>
          <a:noFill xmlns:a="http://schemas.openxmlformats.org/drawingml/2006/main"/>
          <a:ln xmlns:a="http://schemas.openxmlformats.org/drawingml/2006/main" w="14288">
            <a:solidFill>
              <a:srgbClr val="C8A25A"/>
            </a:solidFill>
            <a:prstDash val="solid"/>
          </a:ln>
        </p:spPr>
      </p:sp>
      <p:sp>
        <p:nvSpPr>
          <p:cNvPr id="9" name="">
            <a:extLst xmlns:a="http://schemas.openxmlformats.org/drawingml/2006/main">
              <a:ext uri="{FF2B5EF4-FFF2-40B4-BE49-F238E27FC236}">
                <a16:creationId xmlns:a16="http://schemas.microsoft.com/office/drawing/2014/main" id="{554319DF-C814-4F65-A059-0C7296CD69EF}"/>
              </a:ext>
            </a:extLst>
          </p:cNvPr>
          <p:cNvSpPr>
            <a:spLocks xmlns:a="http://schemas.openxmlformats.org/drawingml/2006/main" noGrp="1"/>
          </p:cNvSpPr>
          <p:nvPr/>
        </p:nvSpPr>
        <p:spPr>
          <a:xfrm xmlns:a="http://schemas.openxmlformats.org/drawingml/2006/main">
            <a:off x="7239000" y="4914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8A25A"/>
                </a:solidFill>
                <a:latin typeface="Avenir Next"/>
                <a:ea typeface="Avenir Next"/>
                <a:cs typeface="Avenir Next"/>
              </a:defRPr>
            </a:pPr>
            <a:r>
              <a:rPr sz="1350" b="1" i="0">
                <a:solidFill>
                  <a:srgbClr val="C8A25A"/>
                </a:solidFill>
                <a:latin typeface="Avenir Next"/>
                <a:ea typeface="Avenir Next"/>
                <a:cs typeface="Avenir Next"/>
              </a:rPr>
              <a:t>Kostenlogik</a:t>
            </a:r>
          </a:p>
        </p:txBody>
      </p:sp>
      <p:sp>
        <p:nvSpPr>
          <p:cNvPr id="10" name="">
            <a:extLst xmlns:a="http://schemas.openxmlformats.org/drawingml/2006/main">
              <a:ext uri="{FF2B5EF4-FFF2-40B4-BE49-F238E27FC236}">
                <a16:creationId xmlns:a16="http://schemas.microsoft.com/office/drawing/2014/main" id="{8185D0F4-74EC-4F36-9BB8-2D22BA10E3F7}"/>
              </a:ext>
            </a:extLst>
          </p:cNvPr>
          <p:cNvSpPr>
            <a:spLocks xmlns:a="http://schemas.openxmlformats.org/drawingml/2006/main" noGrp="1"/>
          </p:cNvSpPr>
          <p:nvPr/>
        </p:nvSpPr>
        <p:spPr>
          <a:xfrm xmlns:a="http://schemas.openxmlformats.org/drawingml/2006/main">
            <a:off x="7239000" y="5276850"/>
            <a:ext cx="4095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60" b="0" i="0">
                <a:solidFill>
                  <a:srgbClr val="CFD8E1"/>
                </a:solidFill>
                <a:latin typeface="Avenir Next"/>
                <a:ea typeface="Avenir Next"/>
                <a:cs typeface="Avenir Next"/>
              </a:defRPr>
            </a:pPr>
            <a:r>
              <a:rPr sz="1260" b="0" i="0">
                <a:solidFill>
                  <a:srgbClr val="CFD8E1"/>
                </a:solidFill>
                <a:latin typeface="Avenir Next"/>
                <a:ea typeface="Avenir Next"/>
                <a:cs typeface="Avenir Next"/>
              </a:rPr>
              <a:t>Team, Pilotsteuerung und Kundenbetreuung</a:t>
            </a:r>
          </a:p>
          <a:p xmlns:a="http://schemas.openxmlformats.org/drawingml/2006/main">
            <a:pPr algn="l">
              <a:lnSpc>
                <a:spcPct val="115000"/>
              </a:lnSpc>
              <a:buNone/>
              <a:defRPr sz="1260" b="0" i="0">
                <a:solidFill>
                  <a:srgbClr val="CFD8E1"/>
                </a:solidFill>
                <a:latin typeface="Avenir Next"/>
                <a:ea typeface="Avenir Next"/>
                <a:cs typeface="Avenir Next"/>
              </a:defRPr>
            </a:pPr>
            <a:r>
              <a:rPr sz="1260" b="0" i="0">
                <a:solidFill>
                  <a:srgbClr val="CFD8E1"/>
                </a:solidFill>
                <a:latin typeface="Avenir Next"/>
                <a:ea typeface="Avenir Next"/>
                <a:cs typeface="Avenir Next"/>
              </a:rPr>
              <a:t>Produktentwicklung, Hosting, Datenschutz und IT-Sicherheit</a:t>
            </a:r>
          </a:p>
          <a:p xmlns:a="http://schemas.openxmlformats.org/drawingml/2006/main">
            <a:pPr algn="l">
              <a:lnSpc>
                <a:spcPct val="115000"/>
              </a:lnSpc>
              <a:buNone/>
              <a:defRPr sz="1260" b="0" i="0">
                <a:solidFill>
                  <a:srgbClr val="CFD8E1"/>
                </a:solidFill>
                <a:latin typeface="Avenir Next"/>
                <a:ea typeface="Avenir Next"/>
                <a:cs typeface="Avenir Next"/>
              </a:defRPr>
            </a:pPr>
            <a:r>
              <a:rPr sz="1260" b="0" i="0">
                <a:solidFill>
                  <a:srgbClr val="CFD8E1"/>
                </a:solidFill>
                <a:latin typeface="Avenir Next"/>
                <a:ea typeface="Avenir Next"/>
                <a:cs typeface="Avenir Next"/>
              </a:rPr>
              <a:t>Vertrieb, Recht und Administration</a:t>
            </a:r>
          </a:p>
        </p:txBody>
      </p:sp>
      <p:sp>
        <p:nvSpPr>
          <p:cNvPr id="11" name="">
            <a:extLst xmlns:a="http://schemas.openxmlformats.org/drawingml/2006/main">
              <a:ext uri="{FF2B5EF4-FFF2-40B4-BE49-F238E27FC236}">
                <a16:creationId xmlns:a16="http://schemas.microsoft.com/office/drawing/2014/main" id="{2E8DCA5F-46F8-441C-AB44-CFF721338270}"/>
              </a:ext>
            </a:extLst>
          </p:cNvPr>
          <p:cNvSpPr>
            <a:spLocks xmlns:a="http://schemas.openxmlformats.org/drawingml/2006/main" noGrp="1"/>
          </p:cNvSpPr>
          <p:nvPr/>
        </p:nvSpPr>
        <p:spPr>
          <a:xfrm xmlns:a="http://schemas.openxmlformats.org/drawingml/2006/main">
            <a:off x="609600" y="609600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Partnerstatus erst nach belastbarer Zustimmung. Externe Fallkosten bleiben getrennt.</a:t>
            </a:r>
          </a:p>
        </p:txBody>
      </p:sp>
      <p:sp>
        <p:nvSpPr>
          <p:cNvPr id="12" name="">
            <a:extLst xmlns:a="http://schemas.openxmlformats.org/drawingml/2006/main">
              <a:ext uri="{FF2B5EF4-FFF2-40B4-BE49-F238E27FC236}">
                <a16:creationId xmlns:a16="http://schemas.microsoft.com/office/drawing/2014/main" id="{DE464BCC-C648-4168-9ED2-BAE8468F7805}"/>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13" name="">
            <a:extLst xmlns:a="http://schemas.openxmlformats.org/drawingml/2006/main">
              <a:ext uri="{FF2B5EF4-FFF2-40B4-BE49-F238E27FC236}">
                <a16:creationId xmlns:a16="http://schemas.microsoft.com/office/drawing/2014/main" id="{2F4EB6E9-960E-4224-9D3E-9579CCC42F7A}"/>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09</a:t>
            </a:r>
          </a:p>
        </p:txBody>
      </p:sp>
    </p:spTree>
    <p:extLst>
      <p:ext uri="{BB962C8B-B14F-4D97-AF65-F5344CB8AC3E}">
        <p14:creationId xmlns:p14="http://schemas.microsoft.com/office/powerpoint/2010/main" val="18126662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67b9522eb48408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3A2BF8-B902-4455-BCD7-D6A3495E80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527">
              <a:alpha val="5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3558C0-D931-42E2-8FA7-7A9006E74971}"/>
              </a:ext>
            </a:extLst>
          </p:cNvPr>
          <p:cNvSpPr>
            <a:spLocks xmlns:a="http://schemas.openxmlformats.org/drawingml/2006/main" noGrp="1"/>
          </p:cNvSpPr>
          <p:nvPr/>
        </p:nvSpPr>
        <p:spPr>
          <a:xfrm xmlns:a="http://schemas.openxmlformats.org/drawingml/2006/main">
            <a:off x="0" y="3429000"/>
            <a:ext cx="12192000" cy="3429000"/>
          </a:xfrm>
          <a:prstGeom xmlns:a="http://schemas.openxmlformats.org/drawingml/2006/main" prst="rect">
            <a:avLst/>
          </a:prstGeom>
          <a:solidFill xmlns:a="http://schemas.openxmlformats.org/drawingml/2006/main">
            <a:srgbClr val="071527">
              <a:alpha val="90000"/>
            </a:srgbClr>
          </a:solidFill>
          <a:ln xmlns:a="http://schemas.openxmlformats.org/drawingml/2006/main" w="0">
            <a:no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c8621afec9b4f65"/>
          <a:stretch xmlns:a="http://schemas.openxmlformats.org/drawingml/2006/main"/>
        </p:blipFill>
        <p:spPr>
          <a:xfrm xmlns:a="http://schemas.openxmlformats.org/drawingml/2006/main">
            <a:off x="9926554" y="323850"/>
            <a:ext cx="1616242" cy="49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04C5983-A76B-4A85-A278-D4A205A91E18}"/>
              </a:ext>
            </a:extLst>
          </p:cNvPr>
          <p:cNvSpPr>
            <a:spLocks xmlns:a="http://schemas.openxmlformats.org/drawingml/2006/main" noGrp="1"/>
          </p:cNvSpPr>
          <p:nvPr/>
        </p:nvSpPr>
        <p:spPr>
          <a:xfrm xmlns:a="http://schemas.openxmlformats.org/drawingml/2006/main">
            <a:off x="609600" y="6286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ROADMAP UND SKALIERUNG</a:t>
            </a:r>
          </a:p>
        </p:txBody>
      </p:sp>
      <p:sp>
        <p:nvSpPr>
          <p:cNvPr id="6" name="">
            <a:extLst xmlns:a="http://schemas.openxmlformats.org/drawingml/2006/main">
              <a:ext uri="{FF2B5EF4-FFF2-40B4-BE49-F238E27FC236}">
                <a16:creationId xmlns:a16="http://schemas.microsoft.com/office/drawing/2014/main" id="{957601E3-C416-440F-888D-F2C523E51240}"/>
              </a:ext>
            </a:extLst>
          </p:cNvPr>
          <p:cNvSpPr>
            <a:spLocks xmlns:a="http://schemas.openxmlformats.org/drawingml/2006/main" noGrp="1"/>
          </p:cNvSpPr>
          <p:nvPr/>
        </p:nvSpPr>
        <p:spPr>
          <a:xfrm xmlns:a="http://schemas.openxmlformats.org/drawingml/2006/main">
            <a:off x="609600" y="971550"/>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i="0">
                <a:solidFill>
                  <a:srgbClr val="F6F3EA"/>
                </a:solidFill>
                <a:latin typeface="Avenir Next"/>
                <a:ea typeface="Avenir Next"/>
                <a:cs typeface="Avenir Next"/>
              </a:defRPr>
            </a:pPr>
            <a:r>
              <a:rPr sz="3450" b="1" i="0">
                <a:solidFill>
                  <a:srgbClr val="F6F3EA"/>
                </a:solidFill>
                <a:latin typeface="Avenir Next"/>
                <a:ea typeface="Avenir Next"/>
                <a:cs typeface="Avenir Next"/>
              </a:rPr>
              <a:t>Düsseldorf als Startpunkt</a:t>
            </a:r>
          </a:p>
        </p:txBody>
      </p:sp>
      <p:sp>
        <p:nvSpPr>
          <p:cNvPr id="7" name="">
            <a:extLst xmlns:a="http://schemas.openxmlformats.org/drawingml/2006/main">
              <a:ext uri="{FF2B5EF4-FFF2-40B4-BE49-F238E27FC236}">
                <a16:creationId xmlns:a16="http://schemas.microsoft.com/office/drawing/2014/main" id="{462BF5BF-23C8-40BD-B1E4-A530A7602E9D}"/>
              </a:ext>
            </a:extLst>
          </p:cNvPr>
          <p:cNvSpPr>
            <a:spLocks xmlns:a="http://schemas.openxmlformats.org/drawingml/2006/main" noGrp="1"/>
          </p:cNvSpPr>
          <p:nvPr/>
        </p:nvSpPr>
        <p:spPr>
          <a:xfrm xmlns:a="http://schemas.openxmlformats.org/drawingml/2006/main">
            <a:off x="609600" y="21336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Avenir Next"/>
                <a:ea typeface="Avenir Next"/>
                <a:cs typeface="Avenir Next"/>
              </a:defRPr>
            </a:pPr>
            <a:r>
              <a:rPr sz="1725" b="1" i="0">
                <a:solidFill>
                  <a:srgbClr val="FFFFFF"/>
                </a:solidFill>
                <a:latin typeface="Avenir Next"/>
                <a:ea typeface="Avenir Next"/>
                <a:cs typeface="Avenir Next"/>
              </a:rPr>
              <a:t>Düsseldorf</a:t>
            </a:r>
          </a:p>
        </p:txBody>
      </p:sp>
      <p:sp>
        <p:nvSpPr>
          <p:cNvPr id="8" name="">
            <a:extLst xmlns:a="http://schemas.openxmlformats.org/drawingml/2006/main">
              <a:ext uri="{FF2B5EF4-FFF2-40B4-BE49-F238E27FC236}">
                <a16:creationId xmlns:a16="http://schemas.microsoft.com/office/drawing/2014/main" id="{D49CFAB9-23D0-45B4-A7B3-772B34A2B2C7}"/>
              </a:ext>
            </a:extLst>
          </p:cNvPr>
          <p:cNvSpPr>
            <a:spLocks xmlns:a="http://schemas.openxmlformats.org/drawingml/2006/main" noGrp="1"/>
          </p:cNvSpPr>
          <p:nvPr/>
        </p:nvSpPr>
        <p:spPr>
          <a:xfrm xmlns:a="http://schemas.openxmlformats.org/drawingml/2006/main">
            <a:off x="2324100" y="2286000"/>
            <a:ext cx="152400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9" name="">
            <a:extLst xmlns:a="http://schemas.openxmlformats.org/drawingml/2006/main">
              <a:ext uri="{FF2B5EF4-FFF2-40B4-BE49-F238E27FC236}">
                <a16:creationId xmlns:a16="http://schemas.microsoft.com/office/drawing/2014/main" id="{2B324D1A-CF9A-4691-86F5-2D2C20865310}"/>
              </a:ext>
            </a:extLst>
          </p:cNvPr>
          <p:cNvSpPr>
            <a:spLocks xmlns:a="http://schemas.openxmlformats.org/drawingml/2006/main" noGrp="1"/>
          </p:cNvSpPr>
          <p:nvPr/>
        </p:nvSpPr>
        <p:spPr>
          <a:xfrm xmlns:a="http://schemas.openxmlformats.org/drawingml/2006/main">
            <a:off x="4019550" y="21336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Avenir Next"/>
                <a:ea typeface="Avenir Next"/>
                <a:cs typeface="Avenir Next"/>
              </a:defRPr>
            </a:pPr>
            <a:r>
              <a:rPr sz="1725" b="1" i="0">
                <a:solidFill>
                  <a:srgbClr val="FFFFFF"/>
                </a:solidFill>
                <a:latin typeface="Avenir Next"/>
                <a:ea typeface="Avenir Next"/>
                <a:cs typeface="Avenir Next"/>
              </a:rPr>
              <a:t>NRW</a:t>
            </a:r>
          </a:p>
        </p:txBody>
      </p:sp>
      <p:sp>
        <p:nvSpPr>
          <p:cNvPr id="10" name="">
            <a:extLst xmlns:a="http://schemas.openxmlformats.org/drawingml/2006/main">
              <a:ext uri="{FF2B5EF4-FFF2-40B4-BE49-F238E27FC236}">
                <a16:creationId xmlns:a16="http://schemas.microsoft.com/office/drawing/2014/main" id="{3AAA46BF-6575-4A74-9A04-DA364FE2DE3A}"/>
              </a:ext>
            </a:extLst>
          </p:cNvPr>
          <p:cNvSpPr>
            <a:spLocks xmlns:a="http://schemas.openxmlformats.org/drawingml/2006/main" noGrp="1"/>
          </p:cNvSpPr>
          <p:nvPr/>
        </p:nvSpPr>
        <p:spPr>
          <a:xfrm xmlns:a="http://schemas.openxmlformats.org/drawingml/2006/main">
            <a:off x="4953000" y="2286000"/>
            <a:ext cx="152400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11" name="">
            <a:extLst xmlns:a="http://schemas.openxmlformats.org/drawingml/2006/main">
              <a:ext uri="{FF2B5EF4-FFF2-40B4-BE49-F238E27FC236}">
                <a16:creationId xmlns:a16="http://schemas.microsoft.com/office/drawing/2014/main" id="{6D2FB748-16E5-4DC7-8E6A-DFB527DFA8C5}"/>
              </a:ext>
            </a:extLst>
          </p:cNvPr>
          <p:cNvSpPr>
            <a:spLocks xmlns:a="http://schemas.openxmlformats.org/drawingml/2006/main" noGrp="1"/>
          </p:cNvSpPr>
          <p:nvPr/>
        </p:nvSpPr>
        <p:spPr>
          <a:xfrm xmlns:a="http://schemas.openxmlformats.org/drawingml/2006/main">
            <a:off x="6648450" y="21336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Avenir Next"/>
                <a:ea typeface="Avenir Next"/>
                <a:cs typeface="Avenir Next"/>
              </a:defRPr>
            </a:pPr>
            <a:r>
              <a:rPr sz="1725" b="1" i="0">
                <a:solidFill>
                  <a:srgbClr val="FFFFFF"/>
                </a:solidFill>
                <a:latin typeface="Avenir Next"/>
                <a:ea typeface="Avenir Next"/>
                <a:cs typeface="Avenir Next"/>
              </a:rPr>
              <a:t>Deutschland</a:t>
            </a:r>
          </a:p>
        </p:txBody>
      </p:sp>
      <p:sp>
        <p:nvSpPr>
          <p:cNvPr id="12" name="">
            <a:extLst xmlns:a="http://schemas.openxmlformats.org/drawingml/2006/main">
              <a:ext uri="{FF2B5EF4-FFF2-40B4-BE49-F238E27FC236}">
                <a16:creationId xmlns:a16="http://schemas.microsoft.com/office/drawing/2014/main" id="{E4DEF5CC-C269-443D-8CFF-FD4A31F9C9CE}"/>
              </a:ext>
            </a:extLst>
          </p:cNvPr>
          <p:cNvSpPr>
            <a:spLocks xmlns:a="http://schemas.openxmlformats.org/drawingml/2006/main" noGrp="1"/>
          </p:cNvSpPr>
          <p:nvPr/>
        </p:nvSpPr>
        <p:spPr>
          <a:xfrm xmlns:a="http://schemas.openxmlformats.org/drawingml/2006/main">
            <a:off x="8362950" y="2286000"/>
            <a:ext cx="152400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13" name="">
            <a:extLst xmlns:a="http://schemas.openxmlformats.org/drawingml/2006/main">
              <a:ext uri="{FF2B5EF4-FFF2-40B4-BE49-F238E27FC236}">
                <a16:creationId xmlns:a16="http://schemas.microsoft.com/office/drawing/2014/main" id="{4B42905A-F7AC-498D-99A2-7A741825DB81}"/>
              </a:ext>
            </a:extLst>
          </p:cNvPr>
          <p:cNvSpPr>
            <a:spLocks xmlns:a="http://schemas.openxmlformats.org/drawingml/2006/main" noGrp="1"/>
          </p:cNvSpPr>
          <p:nvPr/>
        </p:nvSpPr>
        <p:spPr>
          <a:xfrm xmlns:a="http://schemas.openxmlformats.org/drawingml/2006/main">
            <a:off x="10058400" y="21336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C8A25A"/>
                </a:solidFill>
                <a:latin typeface="Avenir Next"/>
                <a:ea typeface="Avenir Next"/>
                <a:cs typeface="Avenir Next"/>
              </a:defRPr>
            </a:pPr>
            <a:r>
              <a:rPr sz="1725" b="1" i="0">
                <a:solidFill>
                  <a:srgbClr val="C8A25A"/>
                </a:solidFill>
                <a:latin typeface="Avenir Next"/>
                <a:ea typeface="Avenir Next"/>
                <a:cs typeface="Avenir Next"/>
              </a:rPr>
              <a:t>Europa</a:t>
            </a:r>
          </a:p>
        </p:txBody>
      </p:sp>
      <p:sp>
        <p:nvSpPr>
          <p:cNvPr id="14" name="">
            <a:extLst xmlns:a="http://schemas.openxmlformats.org/drawingml/2006/main">
              <a:ext uri="{FF2B5EF4-FFF2-40B4-BE49-F238E27FC236}">
                <a16:creationId xmlns:a16="http://schemas.microsoft.com/office/drawing/2014/main" id="{042C806E-2C80-4BBF-940A-DDF1FF10FBC4}"/>
              </a:ext>
            </a:extLst>
          </p:cNvPr>
          <p:cNvSpPr>
            <a:spLocks xmlns:a="http://schemas.openxmlformats.org/drawingml/2006/main" noGrp="1"/>
          </p:cNvSpPr>
          <p:nvPr/>
        </p:nvSpPr>
        <p:spPr>
          <a:xfrm xmlns:a="http://schemas.openxmlformats.org/drawingml/2006/main">
            <a:off x="609600" y="3905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Monat 1 bis 4</a:t>
            </a:r>
          </a:p>
        </p:txBody>
      </p:sp>
      <p:sp>
        <p:nvSpPr>
          <p:cNvPr id="15" name="">
            <a:extLst xmlns:a="http://schemas.openxmlformats.org/drawingml/2006/main">
              <a:ext uri="{FF2B5EF4-FFF2-40B4-BE49-F238E27FC236}">
                <a16:creationId xmlns:a16="http://schemas.microsoft.com/office/drawing/2014/main" id="{28D11A29-F73A-4653-901C-FDC93E65A57E}"/>
              </a:ext>
            </a:extLst>
          </p:cNvPr>
          <p:cNvSpPr>
            <a:spLocks xmlns:a="http://schemas.openxmlformats.org/drawingml/2006/main" noGrp="1"/>
          </p:cNvSpPr>
          <p:nvPr/>
        </p:nvSpPr>
        <p:spPr>
          <a:xfrm xmlns:a="http://schemas.openxmlformats.org/drawingml/2006/main">
            <a:off x="609600" y="4286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FFFFFF"/>
                </a:solidFill>
                <a:latin typeface="Avenir Next"/>
                <a:ea typeface="Avenir Next"/>
                <a:cs typeface="Avenir Next"/>
              </a:defRPr>
            </a:pPr>
            <a:r>
              <a:rPr sz="2175" b="1" i="0">
                <a:solidFill>
                  <a:srgbClr val="FFFFFF"/>
                </a:solidFill>
                <a:latin typeface="Avenir Next"/>
                <a:ea typeface="Avenir Next"/>
                <a:cs typeface="Avenir Next"/>
              </a:rPr>
              <a:t>Designpartner</a:t>
            </a:r>
          </a:p>
        </p:txBody>
      </p:sp>
      <p:sp>
        <p:nvSpPr>
          <p:cNvPr id="16" name="">
            <a:extLst xmlns:a="http://schemas.openxmlformats.org/drawingml/2006/main">
              <a:ext uri="{FF2B5EF4-FFF2-40B4-BE49-F238E27FC236}">
                <a16:creationId xmlns:a16="http://schemas.microsoft.com/office/drawing/2014/main" id="{788F9F42-06AD-48AE-BD5E-949A95B779D3}"/>
              </a:ext>
            </a:extLst>
          </p:cNvPr>
          <p:cNvSpPr>
            <a:spLocks xmlns:a="http://schemas.openxmlformats.org/drawingml/2006/main" noGrp="1"/>
          </p:cNvSpPr>
          <p:nvPr/>
        </p:nvSpPr>
        <p:spPr>
          <a:xfrm xmlns:a="http://schemas.openxmlformats.org/drawingml/2006/main">
            <a:off x="609600" y="4800600"/>
            <a:ext cx="304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CFD8E1"/>
                </a:solidFill>
                <a:latin typeface="Avenir Next"/>
                <a:ea typeface="Avenir Next"/>
                <a:cs typeface="Avenir Next"/>
              </a:defRPr>
            </a:pPr>
            <a:r>
              <a:rPr sz="1425" b="0" i="0">
                <a:solidFill>
                  <a:srgbClr val="CFD8E1"/>
                </a:solidFill>
                <a:latin typeface="Avenir Next"/>
                <a:ea typeface="Avenir Next"/>
                <a:cs typeface="Avenir Next"/>
              </a:rPr>
              <a:t>Workflow, Rollen und Wohnraumpfad festlegen</a:t>
            </a:r>
          </a:p>
        </p:txBody>
      </p:sp>
      <p:sp>
        <p:nvSpPr>
          <p:cNvPr id="17" name="">
            <a:extLst xmlns:a="http://schemas.openxmlformats.org/drawingml/2006/main">
              <a:ext uri="{FF2B5EF4-FFF2-40B4-BE49-F238E27FC236}">
                <a16:creationId xmlns:a16="http://schemas.microsoft.com/office/drawing/2014/main" id="{1C55AC08-AB46-48B9-89CC-CB3F2BBB1928}"/>
              </a:ext>
            </a:extLst>
          </p:cNvPr>
          <p:cNvSpPr>
            <a:spLocks xmlns:a="http://schemas.openxmlformats.org/drawingml/2006/main" noGrp="1"/>
          </p:cNvSpPr>
          <p:nvPr/>
        </p:nvSpPr>
        <p:spPr>
          <a:xfrm xmlns:a="http://schemas.openxmlformats.org/drawingml/2006/main">
            <a:off x="3752850" y="4038600"/>
            <a:ext cx="438150" cy="0"/>
          </a:xfrm>
          <a:prstGeom xmlns:a="http://schemas.openxmlformats.org/drawingml/2006/main" prst="line">
            <a:avLst/>
          </a:prstGeom>
          <a:noFill xmlns:a="http://schemas.openxmlformats.org/drawingml/2006/main"/>
          <a:ln xmlns:a="http://schemas.openxmlformats.org/drawingml/2006/main" w="14288">
            <a:solidFill>
              <a:srgbClr val="778596"/>
            </a:solidFill>
            <a:prstDash val="solid"/>
          </a:ln>
        </p:spPr>
      </p:sp>
      <p:sp>
        <p:nvSpPr>
          <p:cNvPr id="18" name="">
            <a:extLst xmlns:a="http://schemas.openxmlformats.org/drawingml/2006/main">
              <a:ext uri="{FF2B5EF4-FFF2-40B4-BE49-F238E27FC236}">
                <a16:creationId xmlns:a16="http://schemas.microsoft.com/office/drawing/2014/main" id="{3A6D19D4-2385-425F-919F-C38297CC1A04}"/>
              </a:ext>
            </a:extLst>
          </p:cNvPr>
          <p:cNvSpPr>
            <a:spLocks xmlns:a="http://schemas.openxmlformats.org/drawingml/2006/main" noGrp="1"/>
          </p:cNvSpPr>
          <p:nvPr/>
        </p:nvSpPr>
        <p:spPr>
          <a:xfrm xmlns:a="http://schemas.openxmlformats.org/drawingml/2006/main">
            <a:off x="4400550" y="3905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Monat 5 bis 7</a:t>
            </a:r>
          </a:p>
        </p:txBody>
      </p:sp>
      <p:sp>
        <p:nvSpPr>
          <p:cNvPr id="19" name="">
            <a:extLst xmlns:a="http://schemas.openxmlformats.org/drawingml/2006/main">
              <a:ext uri="{FF2B5EF4-FFF2-40B4-BE49-F238E27FC236}">
                <a16:creationId xmlns:a16="http://schemas.microsoft.com/office/drawing/2014/main" id="{CF18E872-B376-4DBE-96D5-ACE1B11A0D3B}"/>
              </a:ext>
            </a:extLst>
          </p:cNvPr>
          <p:cNvSpPr>
            <a:spLocks xmlns:a="http://schemas.openxmlformats.org/drawingml/2006/main" noGrp="1"/>
          </p:cNvSpPr>
          <p:nvPr/>
        </p:nvSpPr>
        <p:spPr>
          <a:xfrm xmlns:a="http://schemas.openxmlformats.org/drawingml/2006/main">
            <a:off x="4400550" y="4286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FFFFFF"/>
                </a:solidFill>
                <a:latin typeface="Avenir Next"/>
                <a:ea typeface="Avenir Next"/>
                <a:cs typeface="Avenir Next"/>
              </a:defRPr>
            </a:pPr>
            <a:r>
              <a:rPr sz="2175" b="1" i="0">
                <a:solidFill>
                  <a:srgbClr val="FFFFFF"/>
                </a:solidFill>
                <a:latin typeface="Avenir Next"/>
                <a:ea typeface="Avenir Next"/>
                <a:cs typeface="Avenir Next"/>
              </a:rPr>
              <a:t>Bezahlter Pilot</a:t>
            </a:r>
          </a:p>
        </p:txBody>
      </p:sp>
      <p:sp>
        <p:nvSpPr>
          <p:cNvPr id="20" name="">
            <a:extLst xmlns:a="http://schemas.openxmlformats.org/drawingml/2006/main">
              <a:ext uri="{FF2B5EF4-FFF2-40B4-BE49-F238E27FC236}">
                <a16:creationId xmlns:a16="http://schemas.microsoft.com/office/drawing/2014/main" id="{4111DC46-2343-4D34-8206-848DB34FD96E}"/>
              </a:ext>
            </a:extLst>
          </p:cNvPr>
          <p:cNvSpPr>
            <a:spLocks xmlns:a="http://schemas.openxmlformats.org/drawingml/2006/main" noGrp="1"/>
          </p:cNvSpPr>
          <p:nvPr/>
        </p:nvSpPr>
        <p:spPr>
          <a:xfrm xmlns:a="http://schemas.openxmlformats.org/drawingml/2006/main">
            <a:off x="4400550" y="4800600"/>
            <a:ext cx="304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CFD8E1"/>
                </a:solidFill>
                <a:latin typeface="Avenir Next"/>
                <a:ea typeface="Avenir Next"/>
                <a:cs typeface="Avenir Next"/>
              </a:defRPr>
            </a:pPr>
            <a:r>
              <a:rPr sz="1425" b="0" i="0">
                <a:solidFill>
                  <a:srgbClr val="CFD8E1"/>
                </a:solidFill>
                <a:latin typeface="Avenir Next"/>
                <a:ea typeface="Avenir Next"/>
                <a:cs typeface="Avenir Next"/>
              </a:rPr>
              <a:t>Reale Fälle und Kernversion prüfen</a:t>
            </a:r>
          </a:p>
        </p:txBody>
      </p:sp>
      <p:sp>
        <p:nvSpPr>
          <p:cNvPr id="21" name="">
            <a:extLst xmlns:a="http://schemas.openxmlformats.org/drawingml/2006/main">
              <a:ext uri="{FF2B5EF4-FFF2-40B4-BE49-F238E27FC236}">
                <a16:creationId xmlns:a16="http://schemas.microsoft.com/office/drawing/2014/main" id="{74C74128-4B69-4F14-9BB6-AFCFAC1A0D94}"/>
              </a:ext>
            </a:extLst>
          </p:cNvPr>
          <p:cNvSpPr>
            <a:spLocks xmlns:a="http://schemas.openxmlformats.org/drawingml/2006/main" noGrp="1"/>
          </p:cNvSpPr>
          <p:nvPr/>
        </p:nvSpPr>
        <p:spPr>
          <a:xfrm xmlns:a="http://schemas.openxmlformats.org/drawingml/2006/main">
            <a:off x="7543800" y="4038600"/>
            <a:ext cx="438150" cy="0"/>
          </a:xfrm>
          <a:prstGeom xmlns:a="http://schemas.openxmlformats.org/drawingml/2006/main" prst="line">
            <a:avLst/>
          </a:prstGeom>
          <a:noFill xmlns:a="http://schemas.openxmlformats.org/drawingml/2006/main"/>
          <a:ln xmlns:a="http://schemas.openxmlformats.org/drawingml/2006/main" w="14288">
            <a:solidFill>
              <a:srgbClr val="778596"/>
            </a:solidFill>
            <a:prstDash val="solid"/>
          </a:ln>
        </p:spPr>
      </p:sp>
      <p:sp>
        <p:nvSpPr>
          <p:cNvPr id="22" name="">
            <a:extLst xmlns:a="http://schemas.openxmlformats.org/drawingml/2006/main">
              <a:ext uri="{FF2B5EF4-FFF2-40B4-BE49-F238E27FC236}">
                <a16:creationId xmlns:a16="http://schemas.microsoft.com/office/drawing/2014/main" id="{117C6FAD-D165-41D2-8C07-6E9E1FA08956}"/>
              </a:ext>
            </a:extLst>
          </p:cNvPr>
          <p:cNvSpPr>
            <a:spLocks xmlns:a="http://schemas.openxmlformats.org/drawingml/2006/main" noGrp="1"/>
          </p:cNvSpPr>
          <p:nvPr/>
        </p:nvSpPr>
        <p:spPr>
          <a:xfrm xmlns:a="http://schemas.openxmlformats.org/drawingml/2006/main">
            <a:off x="8191500" y="3905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Monat 8 bis 12</a:t>
            </a:r>
          </a:p>
        </p:txBody>
      </p:sp>
      <p:sp>
        <p:nvSpPr>
          <p:cNvPr id="23" name="">
            <a:extLst xmlns:a="http://schemas.openxmlformats.org/drawingml/2006/main">
              <a:ext uri="{FF2B5EF4-FFF2-40B4-BE49-F238E27FC236}">
                <a16:creationId xmlns:a16="http://schemas.microsoft.com/office/drawing/2014/main" id="{71B81846-6E80-4893-86DE-BA8966EEDE64}"/>
              </a:ext>
            </a:extLst>
          </p:cNvPr>
          <p:cNvSpPr>
            <a:spLocks xmlns:a="http://schemas.openxmlformats.org/drawingml/2006/main" noGrp="1"/>
          </p:cNvSpPr>
          <p:nvPr/>
        </p:nvSpPr>
        <p:spPr>
          <a:xfrm xmlns:a="http://schemas.openxmlformats.org/drawingml/2006/main">
            <a:off x="8191500" y="4286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FFFFFF"/>
                </a:solidFill>
                <a:latin typeface="Avenir Next"/>
                <a:ea typeface="Avenir Next"/>
                <a:cs typeface="Avenir Next"/>
              </a:defRPr>
            </a:pPr>
            <a:r>
              <a:rPr sz="2175" b="1" i="0">
                <a:solidFill>
                  <a:srgbClr val="FFFFFF"/>
                </a:solidFill>
                <a:latin typeface="Avenir Next"/>
                <a:ea typeface="Avenir Next"/>
                <a:cs typeface="Avenir Next"/>
              </a:rPr>
              <a:t>Transfer</a:t>
            </a:r>
          </a:p>
        </p:txBody>
      </p:sp>
      <p:sp>
        <p:nvSpPr>
          <p:cNvPr id="24" name="">
            <a:extLst xmlns:a="http://schemas.openxmlformats.org/drawingml/2006/main">
              <a:ext uri="{FF2B5EF4-FFF2-40B4-BE49-F238E27FC236}">
                <a16:creationId xmlns:a16="http://schemas.microsoft.com/office/drawing/2014/main" id="{8B3B85F9-2BE9-4165-94D7-873F7FB28F0B}"/>
              </a:ext>
            </a:extLst>
          </p:cNvPr>
          <p:cNvSpPr>
            <a:spLocks xmlns:a="http://schemas.openxmlformats.org/drawingml/2006/main" noGrp="1"/>
          </p:cNvSpPr>
          <p:nvPr/>
        </p:nvSpPr>
        <p:spPr>
          <a:xfrm xmlns:a="http://schemas.openxmlformats.org/drawingml/2006/main">
            <a:off x="8191500" y="4800600"/>
            <a:ext cx="304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CFD8E1"/>
                </a:solidFill>
                <a:latin typeface="Avenir Next"/>
                <a:ea typeface="Avenir Next"/>
                <a:cs typeface="Avenir Next"/>
              </a:defRPr>
            </a:pPr>
            <a:r>
              <a:rPr sz="1425" b="0" i="0">
                <a:solidFill>
                  <a:srgbClr val="CFD8E1"/>
                </a:solidFill>
                <a:latin typeface="Avenir Next"/>
                <a:ea typeface="Avenir Next"/>
                <a:cs typeface="Avenir Next"/>
              </a:rPr>
              <a:t>Zweiten Standort und Module vorbereiten</a:t>
            </a:r>
          </a:p>
        </p:txBody>
      </p:sp>
      <p:sp>
        <p:nvSpPr>
          <p:cNvPr id="25" name="">
            <a:extLst xmlns:a="http://schemas.openxmlformats.org/drawingml/2006/main">
              <a:ext uri="{FF2B5EF4-FFF2-40B4-BE49-F238E27FC236}">
                <a16:creationId xmlns:a16="http://schemas.microsoft.com/office/drawing/2014/main" id="{38C491C7-BBE3-4226-8D7C-A2688D665355}"/>
              </a:ext>
            </a:extLst>
          </p:cNvPr>
          <p:cNvSpPr>
            <a:spLocks xmlns:a="http://schemas.openxmlformats.org/drawingml/2006/main" noGrp="1"/>
          </p:cNvSpPr>
          <p:nvPr/>
        </p:nvSpPr>
        <p:spPr>
          <a:xfrm xmlns:a="http://schemas.openxmlformats.org/drawingml/2006/main">
            <a:off x="609600" y="60198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AEBAC6"/>
                </a:solidFill>
                <a:latin typeface="Avenir Next"/>
                <a:ea typeface="Avenir Next"/>
                <a:cs typeface="Avenir Next"/>
              </a:defRPr>
            </a:pPr>
            <a:r>
              <a:rPr sz="1050" b="0" i="0">
                <a:solidFill>
                  <a:srgbClr val="AEBAC6"/>
                </a:solidFill>
                <a:latin typeface="Avenir Next"/>
                <a:ea typeface="Avenir Next"/>
                <a:cs typeface="Avenir Next"/>
              </a:rPr>
              <a:t>Europäische Skalierung ist Entwicklungsziel, kein bestehender Marktzugang.</a:t>
            </a:r>
          </a:p>
        </p:txBody>
      </p:sp>
      <p:sp>
        <p:nvSpPr>
          <p:cNvPr id="26" name="">
            <a:extLst xmlns:a="http://schemas.openxmlformats.org/drawingml/2006/main">
              <a:ext uri="{FF2B5EF4-FFF2-40B4-BE49-F238E27FC236}">
                <a16:creationId xmlns:a16="http://schemas.microsoft.com/office/drawing/2014/main" id="{4CD6E97E-AA98-4CF6-8B68-E84FFBA69000}"/>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27" name="">
            <a:extLst xmlns:a="http://schemas.openxmlformats.org/drawingml/2006/main">
              <a:ext uri="{FF2B5EF4-FFF2-40B4-BE49-F238E27FC236}">
                <a16:creationId xmlns:a16="http://schemas.microsoft.com/office/drawing/2014/main" id="{33A5A1A1-3AB4-40D5-B345-237727B02DC6}"/>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10</a:t>
            </a:r>
          </a:p>
        </p:txBody>
      </p:sp>
    </p:spTree>
    <p:extLst>
      <p:ext uri="{BB962C8B-B14F-4D97-AF65-F5344CB8AC3E}">
        <p14:creationId xmlns:p14="http://schemas.microsoft.com/office/powerpoint/2010/main" val="376180922"/>
      </p:ext>
    </p:extLst>
  </p:cSld>
</p:sld>
</file>

<file path=ppt/slides/slide11.xml><?xml version="1.0" encoding="utf-8"?>
<p:sld xmlns:p="http://schemas.openxmlformats.org/presentationml/2006/main">
  <p:cSld>
    <p:bg>
      <p:bgPr>
        <a:solidFill xmlns:a="http://schemas.openxmlformats.org/drawingml/2006/main">
          <a:srgbClr val="071527"/>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b618a9f1848415c"/>
          <a:stretch xmlns:a="http://schemas.openxmlformats.org/drawingml/2006/main"/>
        </p:blipFill>
        <p:spPr>
          <a:xfrm xmlns:a="http://schemas.openxmlformats.org/drawingml/2006/main">
            <a:off x="639679" y="323850"/>
            <a:ext cx="1616242"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19EDE1-EA1D-4163-82A1-9BA5C1ECD314}"/>
              </a:ext>
            </a:extLst>
          </p:cNvPr>
          <p:cNvSpPr>
            <a:spLocks xmlns:a="http://schemas.openxmlformats.org/drawingml/2006/main" noGrp="1"/>
          </p:cNvSpPr>
          <p:nvPr/>
        </p:nvSpPr>
        <p:spPr>
          <a:xfrm xmlns:a="http://schemas.openxmlformats.org/drawingml/2006/main">
            <a:off x="609600" y="11239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INNOVATIONSBELEG</a:t>
            </a:r>
          </a:p>
        </p:txBody>
      </p:sp>
      <p:sp>
        <p:nvSpPr>
          <p:cNvPr id="3" name="">
            <a:extLst xmlns:a="http://schemas.openxmlformats.org/drawingml/2006/main">
              <a:ext uri="{FF2B5EF4-FFF2-40B4-BE49-F238E27FC236}">
                <a16:creationId xmlns:a16="http://schemas.microsoft.com/office/drawing/2014/main" id="{D17750C1-3A2A-4B30-BD45-34C80497A852}"/>
              </a:ext>
            </a:extLst>
          </p:cNvPr>
          <p:cNvSpPr>
            <a:spLocks xmlns:a="http://schemas.openxmlformats.org/drawingml/2006/main" noGrp="1"/>
          </p:cNvSpPr>
          <p:nvPr/>
        </p:nvSpPr>
        <p:spPr>
          <a:xfrm xmlns:a="http://schemas.openxmlformats.org/drawingml/2006/main">
            <a:off x="609600" y="1466850"/>
            <a:ext cx="4095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69"/>
          </a:bodyPr>
          <a:lstStyle xmlns:a="http://schemas.openxmlformats.org/drawingml/2006/main"/>
          <a:p xmlns:a="http://schemas.openxmlformats.org/drawingml/2006/main">
            <a:pPr algn="l">
              <a:lnSpc>
                <a:spcPct val="95000"/>
              </a:lnSpc>
              <a:buNone/>
              <a:defRPr sz="2925" b="1" i="0">
                <a:solidFill>
                  <a:srgbClr val="F6F3EA"/>
                </a:solidFill>
                <a:latin typeface="Avenir Next"/>
                <a:ea typeface="Avenir Next"/>
                <a:cs typeface="Avenir Next"/>
              </a:defRPr>
            </a:pPr>
            <a:r>
              <a:rPr sz="2925" b="1" i="0">
                <a:solidFill>
                  <a:srgbClr val="F6F3EA"/>
                </a:solidFill>
                <a:latin typeface="Avenir Next"/>
                <a:ea typeface="Avenir Next"/>
                <a:cs typeface="Avenir Next"/>
              </a:rPr>
              <a:t>Der V2.1-Prototyp zeigt die Mehrseitigkeit des Modells</a:t>
            </a:r>
          </a:p>
        </p:txBody>
      </p:sp>
      <p:sp>
        <p:nvSpPr>
          <p:cNvPr id="4" name="">
            <a:extLst xmlns:a="http://schemas.openxmlformats.org/drawingml/2006/main">
              <a:ext uri="{FF2B5EF4-FFF2-40B4-BE49-F238E27FC236}">
                <a16:creationId xmlns:a16="http://schemas.microsoft.com/office/drawing/2014/main" id="{07347072-E1FF-4255-8F2B-39EB4A09F434}"/>
              </a:ext>
            </a:extLst>
          </p:cNvPr>
          <p:cNvSpPr>
            <a:spLocks xmlns:a="http://schemas.openxmlformats.org/drawingml/2006/main" noGrp="1"/>
          </p:cNvSpPr>
          <p:nvPr/>
        </p:nvSpPr>
        <p:spPr>
          <a:xfrm xmlns:a="http://schemas.openxmlformats.org/drawingml/2006/main">
            <a:off x="609600" y="2800350"/>
            <a:ext cx="3962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97"/>
          </a:bodyPr>
          <a:lstStyle xmlns:a="http://schemas.openxmlformats.org/drawingml/2006/main"/>
          <a:p xmlns:a="http://schemas.openxmlformats.org/drawingml/2006/main">
            <a:pPr algn="l">
              <a:lnSpc>
                <a:spcPct val="108000"/>
              </a:lnSpc>
              <a:buNone/>
              <a:defRPr sz="1500" b="0" i="0">
                <a:solidFill>
                  <a:srgbClr val="D4DDE6"/>
                </a:solidFill>
                <a:latin typeface="Avenir Next"/>
                <a:ea typeface="Avenir Next"/>
                <a:cs typeface="Avenir Next"/>
              </a:defRPr>
            </a:pPr>
            <a:r>
              <a:rPr sz="1500" b="0" i="0">
                <a:solidFill>
                  <a:srgbClr val="D4DDE6"/>
                </a:solidFill>
                <a:latin typeface="Avenir Next"/>
                <a:ea typeface="Avenir Next"/>
                <a:cs typeface="Avenir Next"/>
              </a:rPr>
              <a:t>Arbeitgeber arbeiten im Arrival Control Center. Die App bildet die rollenspezifischen Zugänge für Fachkraft, Wohnanbieter und lokalen Partner ab.</a:t>
            </a:r>
          </a:p>
        </p:txBody>
      </p:sp>
      <p:sp>
        <p:nvSpPr>
          <p:cNvPr id="5" name="">
            <a:extLst xmlns:a="http://schemas.openxmlformats.org/drawingml/2006/main">
              <a:ext uri="{FF2B5EF4-FFF2-40B4-BE49-F238E27FC236}">
                <a16:creationId xmlns:a16="http://schemas.microsoft.com/office/drawing/2014/main" id="{08FF7FAB-6C43-4B13-B8D4-8BE63E936B31}"/>
              </a:ext>
            </a:extLst>
          </p:cNvPr>
          <p:cNvSpPr>
            <a:spLocks xmlns:a="http://schemas.openxmlformats.org/drawingml/2006/main" noGrp="1"/>
          </p:cNvSpPr>
          <p:nvPr/>
        </p:nvSpPr>
        <p:spPr>
          <a:xfrm xmlns:a="http://schemas.openxmlformats.org/drawingml/2006/main">
            <a:off x="609600" y="3943350"/>
            <a:ext cx="125730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6" name="">
            <a:extLst xmlns:a="http://schemas.openxmlformats.org/drawingml/2006/main">
              <a:ext uri="{FF2B5EF4-FFF2-40B4-BE49-F238E27FC236}">
                <a16:creationId xmlns:a16="http://schemas.microsoft.com/office/drawing/2014/main" id="{A9BC3A55-0B72-42BE-8B8E-730AFE686B43}"/>
              </a:ext>
            </a:extLst>
          </p:cNvPr>
          <p:cNvSpPr>
            <a:spLocks xmlns:a="http://schemas.openxmlformats.org/drawingml/2006/main" noGrp="1"/>
          </p:cNvSpPr>
          <p:nvPr/>
        </p:nvSpPr>
        <p:spPr>
          <a:xfrm xmlns:a="http://schemas.openxmlformats.org/drawingml/2006/main">
            <a:off x="609600" y="4257675"/>
            <a:ext cx="76200" cy="76200"/>
          </a:xfrm>
          <a:prstGeom xmlns:a="http://schemas.openxmlformats.org/drawingml/2006/main" prst="ellipse">
            <a:avLst/>
          </a:prstGeom>
          <a:solidFill xmlns:a="http://schemas.openxmlformats.org/drawingml/2006/main">
            <a:srgbClr val="35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C4B146-D61F-45F0-9913-64EF58A05B48}"/>
              </a:ext>
            </a:extLst>
          </p:cNvPr>
          <p:cNvSpPr>
            <a:spLocks xmlns:a="http://schemas.openxmlformats.org/drawingml/2006/main" noGrp="1"/>
          </p:cNvSpPr>
          <p:nvPr/>
        </p:nvSpPr>
        <p:spPr>
          <a:xfrm xmlns:a="http://schemas.openxmlformats.org/drawingml/2006/main">
            <a:off x="819150" y="4210050"/>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3EA"/>
                </a:solidFill>
                <a:latin typeface="Avenir Next"/>
                <a:ea typeface="Avenir Next"/>
                <a:cs typeface="Avenir Next"/>
              </a:defRPr>
            </a:pPr>
            <a:r>
              <a:rPr sz="1275" b="1" i="0">
                <a:solidFill>
                  <a:srgbClr val="F6F3EA"/>
                </a:solidFill>
                <a:latin typeface="Avenir Next"/>
                <a:ea typeface="Avenir Next"/>
                <a:cs typeface="Avenir Next"/>
              </a:rPr>
              <a:t>Eigene Daten- und Aufgabenansicht je Rolle</a:t>
            </a:r>
          </a:p>
        </p:txBody>
      </p:sp>
      <p:sp>
        <p:nvSpPr>
          <p:cNvPr id="8" name="">
            <a:extLst xmlns:a="http://schemas.openxmlformats.org/drawingml/2006/main">
              <a:ext uri="{FF2B5EF4-FFF2-40B4-BE49-F238E27FC236}">
                <a16:creationId xmlns:a16="http://schemas.microsoft.com/office/drawing/2014/main" id="{24CA736A-116A-4A5A-9106-193B5D23AF8A}"/>
              </a:ext>
            </a:extLst>
          </p:cNvPr>
          <p:cNvSpPr>
            <a:spLocks xmlns:a="http://schemas.openxmlformats.org/drawingml/2006/main" noGrp="1"/>
          </p:cNvSpPr>
          <p:nvPr/>
        </p:nvSpPr>
        <p:spPr>
          <a:xfrm xmlns:a="http://schemas.openxmlformats.org/drawingml/2006/main">
            <a:off x="609600" y="4638675"/>
            <a:ext cx="76200" cy="76200"/>
          </a:xfrm>
          <a:prstGeom xmlns:a="http://schemas.openxmlformats.org/drawingml/2006/main" prst="ellipse">
            <a:avLst/>
          </a:prstGeom>
          <a:solidFill xmlns:a="http://schemas.openxmlformats.org/drawingml/2006/main">
            <a:srgbClr val="356D6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40697B-027A-4692-BD84-31558518E74B}"/>
              </a:ext>
            </a:extLst>
          </p:cNvPr>
          <p:cNvSpPr>
            <a:spLocks xmlns:a="http://schemas.openxmlformats.org/drawingml/2006/main" noGrp="1"/>
          </p:cNvSpPr>
          <p:nvPr/>
        </p:nvSpPr>
        <p:spPr>
          <a:xfrm xmlns:a="http://schemas.openxmlformats.org/drawingml/2006/main">
            <a:off x="819150" y="4591050"/>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21"/>
          </a:bodyPr>
          <a:lstStyle xmlns:a="http://schemas.openxmlformats.org/drawingml/2006/main"/>
          <a:p xmlns:a="http://schemas.openxmlformats.org/drawingml/2006/main">
            <a:pPr algn="l">
              <a:lnSpc>
                <a:spcPct val="100000"/>
              </a:lnSpc>
              <a:buNone/>
              <a:defRPr sz="1275" b="1" i="0">
                <a:solidFill>
                  <a:srgbClr val="F6F3EA"/>
                </a:solidFill>
                <a:latin typeface="Avenir Next"/>
                <a:ea typeface="Avenir Next"/>
                <a:cs typeface="Avenir Next"/>
              </a:defRPr>
            </a:pPr>
            <a:r>
              <a:rPr sz="1275" b="1" i="0">
                <a:solidFill>
                  <a:srgbClr val="F6F3EA"/>
                </a:solidFill>
                <a:latin typeface="Avenir Next"/>
                <a:ea typeface="Avenir Next"/>
                <a:cs typeface="Avenir Next"/>
              </a:rPr>
              <a:t>Keine selbstständige Freigabe oder Veröffentlichung</a:t>
            </a:r>
          </a:p>
        </p:txBody>
      </p:sp>
      <p:sp>
        <p:nvSpPr>
          <p:cNvPr id="10" name="">
            <a:extLst xmlns:a="http://schemas.openxmlformats.org/drawingml/2006/main">
              <a:ext uri="{FF2B5EF4-FFF2-40B4-BE49-F238E27FC236}">
                <a16:creationId xmlns:a16="http://schemas.microsoft.com/office/drawing/2014/main" id="{9C4380DF-CBDD-42E3-A67A-2147EC10D983}"/>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D6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FE726A-7198-4B4E-BC7A-AABAEB53CFA3}"/>
              </a:ext>
            </a:extLst>
          </p:cNvPr>
          <p:cNvSpPr>
            <a:spLocks xmlns:a="http://schemas.openxmlformats.org/drawingml/2006/main" noGrp="1"/>
          </p:cNvSpPr>
          <p:nvPr/>
        </p:nvSpPr>
        <p:spPr>
          <a:xfrm xmlns:a="http://schemas.openxmlformats.org/drawingml/2006/main">
            <a:off x="819150" y="4972050"/>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3EA"/>
                </a:solidFill>
                <a:latin typeface="Avenir Next"/>
                <a:ea typeface="Avenir Next"/>
                <a:cs typeface="Avenir Next"/>
              </a:defRPr>
            </a:pPr>
            <a:r>
              <a:rPr sz="1275" b="1" i="0">
                <a:solidFill>
                  <a:srgbClr val="F6F3EA"/>
                </a:solidFill>
                <a:latin typeface="Avenir Next"/>
                <a:ea typeface="Avenir Next"/>
                <a:cs typeface="Avenir Next"/>
              </a:rPr>
              <a:t>AMAVIO bleibt Prozess- und Prüfpunkt</a:t>
            </a:r>
          </a:p>
        </p:txBody>
      </p:sp>
      <p:sp>
        <p:nvSpPr>
          <p:cNvPr id="12" name="">
            <a:extLst xmlns:a="http://schemas.openxmlformats.org/drawingml/2006/main">
              <a:ext uri="{FF2B5EF4-FFF2-40B4-BE49-F238E27FC236}">
                <a16:creationId xmlns:a16="http://schemas.microsoft.com/office/drawing/2014/main" id="{B1428377-39F9-4768-B5B0-008966809769}"/>
              </a:ext>
            </a:extLst>
          </p:cNvPr>
          <p:cNvSpPr>
            <a:spLocks xmlns:a="http://schemas.openxmlformats.org/drawingml/2006/main" noGrp="1"/>
          </p:cNvSpPr>
          <p:nvPr/>
        </p:nvSpPr>
        <p:spPr>
          <a:xfrm xmlns:a="http://schemas.openxmlformats.org/drawingml/2006/main">
            <a:off x="5238750" y="1085850"/>
            <a:ext cx="1981200" cy="4286250"/>
          </a:xfrm>
          <a:prstGeom xmlns:a="http://schemas.openxmlformats.org/drawingml/2006/main" prst="roundRect">
            <a:avLst>
              <a:gd name="adj" fmla="val 3846"/>
            </a:avLst>
          </a:prstGeom>
          <a:solidFill xmlns:a="http://schemas.openxmlformats.org/drawingml/2006/main">
            <a:srgbClr val="11161D"/>
          </a:solidFill>
          <a:ln xmlns:a="http://schemas.openxmlformats.org/drawingml/2006/main" w="14288">
            <a:solidFill>
              <a:srgbClr val="536071"/>
            </a:solidFill>
            <a:prstDash val="solid"/>
          </a:ln>
        </p:spPr>
      </p:sp>
      <p:sp>
        <p:nvSpPr>
          <p:cNvPr id="13" name="">
            <a:extLst xmlns:a="http://schemas.openxmlformats.org/drawingml/2006/main">
              <a:ext uri="{FF2B5EF4-FFF2-40B4-BE49-F238E27FC236}">
                <a16:creationId xmlns:a16="http://schemas.microsoft.com/office/drawing/2014/main" id="{4A42983D-2E9C-4097-A1BC-5BCC3B2CD3B6}"/>
              </a:ext>
            </a:extLst>
          </p:cNvPr>
          <p:cNvSpPr>
            <a:spLocks xmlns:a="http://schemas.openxmlformats.org/drawingml/2006/main" noGrp="1"/>
          </p:cNvSpPr>
          <p:nvPr/>
        </p:nvSpPr>
        <p:spPr>
          <a:xfrm xmlns:a="http://schemas.openxmlformats.org/drawingml/2006/main">
            <a:off x="5972175" y="1162050"/>
            <a:ext cx="514350" cy="47625"/>
          </a:xfrm>
          <a:prstGeom xmlns:a="http://schemas.openxmlformats.org/drawingml/2006/main" prst="roundRect">
            <a:avLst>
              <a:gd name="adj" fmla="val 50000"/>
            </a:avLst>
          </a:prstGeom>
          <a:solidFill xmlns:a="http://schemas.openxmlformats.org/drawingml/2006/main">
            <a:srgbClr val="5B616A"/>
          </a:solidFill>
          <a:ln xmlns:a="http://schemas.openxmlformats.org/drawingml/2006/main" w="0">
            <a:no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bf206c9476f4464"/>
          <a:srcRect xmlns:a="http://schemas.openxmlformats.org/drawingml/2006/main" l="1466" t="0" r="1466" b="0"/>
          <a:stretch xmlns:a="http://schemas.openxmlformats.org/drawingml/2006/main">
            <a:fillRect l="0" t="0" r="0" b="0"/>
          </a:stretch>
        </p:blipFill>
        <p:spPr>
          <a:xfrm xmlns:a="http://schemas.openxmlformats.org/drawingml/2006/main">
            <a:off x="5314950" y="1276350"/>
            <a:ext cx="1828800" cy="39433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0CEF0A7-09DD-4F2B-BB29-79BD0E777E15}"/>
              </a:ext>
            </a:extLst>
          </p:cNvPr>
          <p:cNvSpPr>
            <a:spLocks xmlns:a="http://schemas.openxmlformats.org/drawingml/2006/main" noGrp="1"/>
          </p:cNvSpPr>
          <p:nvPr/>
        </p:nvSpPr>
        <p:spPr>
          <a:xfrm xmlns:a="http://schemas.openxmlformats.org/drawingml/2006/main">
            <a:off x="5238750" y="5486400"/>
            <a:ext cx="1981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C8A25A"/>
                </a:solidFill>
                <a:latin typeface="Avenir Next"/>
                <a:ea typeface="Avenir Next"/>
                <a:cs typeface="Avenir Next"/>
              </a:defRPr>
            </a:pPr>
            <a:r>
              <a:rPr sz="975" b="1" i="0">
                <a:solidFill>
                  <a:srgbClr val="C8A25A"/>
                </a:solidFill>
                <a:latin typeface="Avenir Next"/>
                <a:ea typeface="Avenir Next"/>
                <a:cs typeface="Avenir Next"/>
              </a:rPr>
              <a:t>FACHKRAFT</a:t>
            </a:r>
          </a:p>
        </p:txBody>
      </p:sp>
      <p:sp>
        <p:nvSpPr>
          <p:cNvPr id="16" name="">
            <a:extLst xmlns:a="http://schemas.openxmlformats.org/drawingml/2006/main">
              <a:ext uri="{FF2B5EF4-FFF2-40B4-BE49-F238E27FC236}">
                <a16:creationId xmlns:a16="http://schemas.microsoft.com/office/drawing/2014/main" id="{BA52C581-5C39-423E-957F-0A68260DBE1A}"/>
              </a:ext>
            </a:extLst>
          </p:cNvPr>
          <p:cNvSpPr>
            <a:spLocks xmlns:a="http://schemas.openxmlformats.org/drawingml/2006/main" noGrp="1"/>
          </p:cNvSpPr>
          <p:nvPr/>
        </p:nvSpPr>
        <p:spPr>
          <a:xfrm xmlns:a="http://schemas.openxmlformats.org/drawingml/2006/main">
            <a:off x="7410450" y="1085850"/>
            <a:ext cx="1981200" cy="4286250"/>
          </a:xfrm>
          <a:prstGeom xmlns:a="http://schemas.openxmlformats.org/drawingml/2006/main" prst="roundRect">
            <a:avLst>
              <a:gd name="adj" fmla="val 3846"/>
            </a:avLst>
          </a:prstGeom>
          <a:solidFill xmlns:a="http://schemas.openxmlformats.org/drawingml/2006/main">
            <a:srgbClr val="11161D"/>
          </a:solidFill>
          <a:ln xmlns:a="http://schemas.openxmlformats.org/drawingml/2006/main" w="14288">
            <a:solidFill>
              <a:srgbClr val="536071"/>
            </a:solidFill>
            <a:prstDash val="solid"/>
          </a:ln>
        </p:spPr>
      </p:sp>
      <p:sp>
        <p:nvSpPr>
          <p:cNvPr id="17" name="">
            <a:extLst xmlns:a="http://schemas.openxmlformats.org/drawingml/2006/main">
              <a:ext uri="{FF2B5EF4-FFF2-40B4-BE49-F238E27FC236}">
                <a16:creationId xmlns:a16="http://schemas.microsoft.com/office/drawing/2014/main" id="{35D3ED2B-DBC4-425F-8BB9-0BE45AF5925D}"/>
              </a:ext>
            </a:extLst>
          </p:cNvPr>
          <p:cNvSpPr>
            <a:spLocks xmlns:a="http://schemas.openxmlformats.org/drawingml/2006/main" noGrp="1"/>
          </p:cNvSpPr>
          <p:nvPr/>
        </p:nvSpPr>
        <p:spPr>
          <a:xfrm xmlns:a="http://schemas.openxmlformats.org/drawingml/2006/main">
            <a:off x="8143875" y="1162050"/>
            <a:ext cx="514350" cy="47625"/>
          </a:xfrm>
          <a:prstGeom xmlns:a="http://schemas.openxmlformats.org/drawingml/2006/main" prst="roundRect">
            <a:avLst>
              <a:gd name="adj" fmla="val 50000"/>
            </a:avLst>
          </a:prstGeom>
          <a:solidFill xmlns:a="http://schemas.openxmlformats.org/drawingml/2006/main">
            <a:srgbClr val="5B616A"/>
          </a:solidFill>
          <a:ln xmlns:a="http://schemas.openxmlformats.org/drawingml/2006/main" w="0">
            <a:no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d770b94ac6764442"/>
          <a:srcRect xmlns:a="http://schemas.openxmlformats.org/drawingml/2006/main" l="1466" t="0" r="1466" b="0"/>
          <a:stretch xmlns:a="http://schemas.openxmlformats.org/drawingml/2006/main">
            <a:fillRect l="0" t="0" r="0" b="0"/>
          </a:stretch>
        </p:blipFill>
        <p:spPr>
          <a:xfrm xmlns:a="http://schemas.openxmlformats.org/drawingml/2006/main">
            <a:off x="7486650" y="1276350"/>
            <a:ext cx="1828800" cy="3943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C06668F-8F6F-410F-888F-CA12012A011A}"/>
              </a:ext>
            </a:extLst>
          </p:cNvPr>
          <p:cNvSpPr>
            <a:spLocks xmlns:a="http://schemas.openxmlformats.org/drawingml/2006/main" noGrp="1"/>
          </p:cNvSpPr>
          <p:nvPr/>
        </p:nvSpPr>
        <p:spPr>
          <a:xfrm xmlns:a="http://schemas.openxmlformats.org/drawingml/2006/main">
            <a:off x="7410450" y="5486400"/>
            <a:ext cx="1981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C8A25A"/>
                </a:solidFill>
                <a:latin typeface="Avenir Next"/>
                <a:ea typeface="Avenir Next"/>
                <a:cs typeface="Avenir Next"/>
              </a:defRPr>
            </a:pPr>
            <a:r>
              <a:rPr sz="975" b="1" i="0">
                <a:solidFill>
                  <a:srgbClr val="C8A25A"/>
                </a:solidFill>
                <a:latin typeface="Avenir Next"/>
                <a:ea typeface="Avenir Next"/>
                <a:cs typeface="Avenir Next"/>
              </a:rPr>
              <a:t>WOHNANBIETER</a:t>
            </a:r>
          </a:p>
        </p:txBody>
      </p:sp>
      <p:sp>
        <p:nvSpPr>
          <p:cNvPr id="20" name="">
            <a:extLst xmlns:a="http://schemas.openxmlformats.org/drawingml/2006/main">
              <a:ext uri="{FF2B5EF4-FFF2-40B4-BE49-F238E27FC236}">
                <a16:creationId xmlns:a16="http://schemas.microsoft.com/office/drawing/2014/main" id="{0D0564A9-F804-4CAD-8F30-A74F0166EF8B}"/>
              </a:ext>
            </a:extLst>
          </p:cNvPr>
          <p:cNvSpPr>
            <a:spLocks xmlns:a="http://schemas.openxmlformats.org/drawingml/2006/main" noGrp="1"/>
          </p:cNvSpPr>
          <p:nvPr/>
        </p:nvSpPr>
        <p:spPr>
          <a:xfrm xmlns:a="http://schemas.openxmlformats.org/drawingml/2006/main">
            <a:off x="9582150" y="1085850"/>
            <a:ext cx="1981200" cy="4286250"/>
          </a:xfrm>
          <a:prstGeom xmlns:a="http://schemas.openxmlformats.org/drawingml/2006/main" prst="roundRect">
            <a:avLst>
              <a:gd name="adj" fmla="val 3846"/>
            </a:avLst>
          </a:prstGeom>
          <a:solidFill xmlns:a="http://schemas.openxmlformats.org/drawingml/2006/main">
            <a:srgbClr val="11161D"/>
          </a:solidFill>
          <a:ln xmlns:a="http://schemas.openxmlformats.org/drawingml/2006/main" w="14288">
            <a:solidFill>
              <a:srgbClr val="536071"/>
            </a:solidFill>
            <a:prstDash val="solid"/>
          </a:ln>
        </p:spPr>
      </p:sp>
      <p:sp>
        <p:nvSpPr>
          <p:cNvPr id="21" name="">
            <a:extLst xmlns:a="http://schemas.openxmlformats.org/drawingml/2006/main">
              <a:ext uri="{FF2B5EF4-FFF2-40B4-BE49-F238E27FC236}">
                <a16:creationId xmlns:a16="http://schemas.microsoft.com/office/drawing/2014/main" id="{C7079073-9593-4B81-8BBF-FECAF79C93A2}"/>
              </a:ext>
            </a:extLst>
          </p:cNvPr>
          <p:cNvSpPr>
            <a:spLocks xmlns:a="http://schemas.openxmlformats.org/drawingml/2006/main" noGrp="1"/>
          </p:cNvSpPr>
          <p:nvPr/>
        </p:nvSpPr>
        <p:spPr>
          <a:xfrm xmlns:a="http://schemas.openxmlformats.org/drawingml/2006/main">
            <a:off x="10315575" y="1162050"/>
            <a:ext cx="514350" cy="47625"/>
          </a:xfrm>
          <a:prstGeom xmlns:a="http://schemas.openxmlformats.org/drawingml/2006/main" prst="roundRect">
            <a:avLst>
              <a:gd name="adj" fmla="val 50000"/>
            </a:avLst>
          </a:prstGeom>
          <a:solidFill xmlns:a="http://schemas.openxmlformats.org/drawingml/2006/main">
            <a:srgbClr val="5B616A"/>
          </a:solidFill>
          <a:ln xmlns:a="http://schemas.openxmlformats.org/drawingml/2006/main" w="0">
            <a:no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5522ba7907a4b5c"/>
          <a:srcRect xmlns:a="http://schemas.openxmlformats.org/drawingml/2006/main" l="1466" t="0" r="1466" b="0"/>
          <a:stretch xmlns:a="http://schemas.openxmlformats.org/drawingml/2006/main">
            <a:fillRect l="0" t="0" r="0" b="0"/>
          </a:stretch>
        </p:blipFill>
        <p:spPr>
          <a:xfrm xmlns:a="http://schemas.openxmlformats.org/drawingml/2006/main">
            <a:off x="9658350" y="1276350"/>
            <a:ext cx="1828800" cy="39433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E0F9E231-3B9B-4675-844D-BB7C0F3C76DB}"/>
              </a:ext>
            </a:extLst>
          </p:cNvPr>
          <p:cNvSpPr>
            <a:spLocks xmlns:a="http://schemas.openxmlformats.org/drawingml/2006/main" noGrp="1"/>
          </p:cNvSpPr>
          <p:nvPr/>
        </p:nvSpPr>
        <p:spPr>
          <a:xfrm xmlns:a="http://schemas.openxmlformats.org/drawingml/2006/main">
            <a:off x="9582150" y="5486400"/>
            <a:ext cx="1981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C8A25A"/>
                </a:solidFill>
                <a:latin typeface="Avenir Next"/>
                <a:ea typeface="Avenir Next"/>
                <a:cs typeface="Avenir Next"/>
              </a:defRPr>
            </a:pPr>
            <a:r>
              <a:rPr sz="975" b="1" i="0">
                <a:solidFill>
                  <a:srgbClr val="C8A25A"/>
                </a:solidFill>
                <a:latin typeface="Avenir Next"/>
                <a:ea typeface="Avenir Next"/>
                <a:cs typeface="Avenir Next"/>
              </a:rPr>
              <a:t>LOKALER PARTNER</a:t>
            </a:r>
          </a:p>
        </p:txBody>
      </p:sp>
      <p:sp>
        <p:nvSpPr>
          <p:cNvPr id="24" name="">
            <a:extLst xmlns:a="http://schemas.openxmlformats.org/drawingml/2006/main">
              <a:ext uri="{FF2B5EF4-FFF2-40B4-BE49-F238E27FC236}">
                <a16:creationId xmlns:a16="http://schemas.microsoft.com/office/drawing/2014/main" id="{C09842A1-CA90-41C6-A0AB-9FB01679899C}"/>
              </a:ext>
            </a:extLst>
          </p:cNvPr>
          <p:cNvSpPr>
            <a:spLocks xmlns:a="http://schemas.openxmlformats.org/drawingml/2006/main" noGrp="1"/>
          </p:cNvSpPr>
          <p:nvPr/>
        </p:nvSpPr>
        <p:spPr>
          <a:xfrm xmlns:a="http://schemas.openxmlformats.org/drawingml/2006/main">
            <a:off x="609600" y="6229350"/>
            <a:ext cx="10972800" cy="0"/>
          </a:xfrm>
          <a:prstGeom xmlns:a="http://schemas.openxmlformats.org/drawingml/2006/main" prst="line">
            <a:avLst/>
          </a:prstGeom>
          <a:noFill xmlns:a="http://schemas.openxmlformats.org/drawingml/2006/main"/>
          <a:ln xmlns:a="http://schemas.openxmlformats.org/drawingml/2006/main" w="9525">
            <a:solidFill>
              <a:srgbClr val="344459"/>
            </a:solidFill>
            <a:prstDash val="solid"/>
          </a:ln>
        </p:spPr>
      </p:sp>
      <p:sp>
        <p:nvSpPr>
          <p:cNvPr id="25" name="">
            <a:extLst xmlns:a="http://schemas.openxmlformats.org/drawingml/2006/main">
              <a:ext uri="{FF2B5EF4-FFF2-40B4-BE49-F238E27FC236}">
                <a16:creationId xmlns:a16="http://schemas.microsoft.com/office/drawing/2014/main" id="{F429C4F9-71DC-408C-88C5-E90F13214B8D}"/>
              </a:ext>
            </a:extLst>
          </p:cNvPr>
          <p:cNvSpPr>
            <a:spLocks xmlns:a="http://schemas.openxmlformats.org/drawingml/2006/main" noGrp="1"/>
          </p:cNvSpPr>
          <p:nvPr/>
        </p:nvSpPr>
        <p:spPr>
          <a:xfrm xmlns:a="http://schemas.openxmlformats.org/drawingml/2006/main">
            <a:off x="609600" y="6362700"/>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63" b="0" i="0">
                <a:solidFill>
                  <a:srgbClr val="AEB9C5"/>
                </a:solidFill>
                <a:latin typeface="Avenir Next"/>
                <a:ea typeface="Avenir Next"/>
                <a:cs typeface="Avenir Next"/>
              </a:defRPr>
            </a:pPr>
            <a:r>
              <a:rPr sz="863" b="0" i="0">
                <a:solidFill>
                  <a:srgbClr val="AEB9C5"/>
                </a:solidFill>
                <a:latin typeface="Avenir Next"/>
                <a:ea typeface="Avenir Next"/>
                <a:cs typeface="Avenir Next"/>
              </a:rPr>
              <a:t>Lokaler V2.1-Klickprototyp mit synthetischen Daten. Keine produktive Anmeldung, Buchung, Veröffentlichung oder ACC-Integration.</a:t>
            </a:r>
          </a:p>
        </p:txBody>
      </p:sp>
      <p:sp>
        <p:nvSpPr>
          <p:cNvPr id="26" name="">
            <a:extLst xmlns:a="http://schemas.openxmlformats.org/drawingml/2006/main">
              <a:ext uri="{FF2B5EF4-FFF2-40B4-BE49-F238E27FC236}">
                <a16:creationId xmlns:a16="http://schemas.microsoft.com/office/drawing/2014/main" id="{AF424B09-2BBB-4FB8-B7D2-1E2311E6CAE4}"/>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11</a:t>
            </a:r>
          </a:p>
        </p:txBody>
      </p:sp>
    </p:spTree>
    <p:extLst>
      <p:ext uri="{BB962C8B-B14F-4D97-AF65-F5344CB8AC3E}">
        <p14:creationId xmlns:p14="http://schemas.microsoft.com/office/powerpoint/2010/main" val="1237791334"/>
      </p:ext>
    </p:extLst>
  </p:cSld>
</p:sld>
</file>

<file path=ppt/slides/slide12.xml><?xml version="1.0" encoding="utf-8"?>
<p:sld xmlns:p="http://schemas.openxmlformats.org/presentationml/2006/main">
  <p:cSld>
    <p:bg>
      <p:bgPr>
        <a:solidFill xmlns:a="http://schemas.openxmlformats.org/drawingml/2006/main">
          <a:srgbClr val="071527"/>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2599d1480d1418a"/>
          <a:srcRect xmlns:a="http://schemas.openxmlformats.org/drawingml/2006/main" l="3333" t="0" r="3333" b="0"/>
          <a:stretch xmlns:a="http://schemas.openxmlformats.org/drawingml/2006/main">
            <a:fillRect l="0" t="0" r="0" b="0"/>
          </a:stretch>
        </p:blipFill>
        <p:spPr>
          <a:xfrm xmlns:a="http://schemas.openxmlformats.org/drawingml/2006/main">
            <a:off x="7924800" y="0"/>
            <a:ext cx="4267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190621-C083-4ED9-8353-14471A6D1E65}"/>
              </a:ext>
            </a:extLst>
          </p:cNvPr>
          <p:cNvSpPr>
            <a:spLocks xmlns:a="http://schemas.openxmlformats.org/drawingml/2006/main" noGrp="1"/>
          </p:cNvSpPr>
          <p:nvPr/>
        </p:nvSpPr>
        <p:spPr>
          <a:xfrm xmlns:a="http://schemas.openxmlformats.org/drawingml/2006/main">
            <a:off x="7429500" y="0"/>
            <a:ext cx="952500" cy="6858000"/>
          </a:xfrm>
          <a:prstGeom xmlns:a="http://schemas.openxmlformats.org/drawingml/2006/main" prst="rect">
            <a:avLst/>
          </a:prstGeom>
          <a:solidFill xmlns:a="http://schemas.openxmlformats.org/drawingml/2006/main">
            <a:srgbClr val="071527">
              <a:alpha val="70000"/>
            </a:srgbClr>
          </a:solidFill>
          <a:ln xmlns:a="http://schemas.openxmlformats.org/drawingml/2006/main" w="0">
            <a:no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dfe22c7faa747d4"/>
          <a:stretch xmlns:a="http://schemas.openxmlformats.org/drawingml/2006/main"/>
        </p:blipFill>
        <p:spPr>
          <a:xfrm xmlns:a="http://schemas.openxmlformats.org/drawingml/2006/main">
            <a:off x="648703" y="381000"/>
            <a:ext cx="1864895" cy="57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CD26667-898F-496D-82C8-42F448044854}"/>
              </a:ext>
            </a:extLst>
          </p:cNvPr>
          <p:cNvSpPr>
            <a:spLocks xmlns:a="http://schemas.openxmlformats.org/drawingml/2006/main" noGrp="1"/>
          </p:cNvSpPr>
          <p:nvPr/>
        </p:nvSpPr>
        <p:spPr>
          <a:xfrm xmlns:a="http://schemas.openxmlformats.org/drawingml/2006/main">
            <a:off x="609600" y="1428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GRÜNDER UND STANDORTBEZUG</a:t>
            </a:r>
          </a:p>
        </p:txBody>
      </p:sp>
      <p:sp>
        <p:nvSpPr>
          <p:cNvPr id="5" name="">
            <a:extLst xmlns:a="http://schemas.openxmlformats.org/drawingml/2006/main">
              <a:ext uri="{FF2B5EF4-FFF2-40B4-BE49-F238E27FC236}">
                <a16:creationId xmlns:a16="http://schemas.microsoft.com/office/drawing/2014/main" id="{53B7187B-4751-4CB9-8ED8-6E2B7AC6EE31}"/>
              </a:ext>
            </a:extLst>
          </p:cNvPr>
          <p:cNvSpPr>
            <a:spLocks xmlns:a="http://schemas.openxmlformats.org/drawingml/2006/main" noGrp="1"/>
          </p:cNvSpPr>
          <p:nvPr/>
        </p:nvSpPr>
        <p:spPr>
          <a:xfrm xmlns:a="http://schemas.openxmlformats.org/drawingml/2006/main">
            <a:off x="609600" y="1790700"/>
            <a:ext cx="619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450" b="1" i="0">
                <a:solidFill>
                  <a:srgbClr val="F6F3EA"/>
                </a:solidFill>
                <a:latin typeface="Avenir Next"/>
                <a:ea typeface="Avenir Next"/>
                <a:cs typeface="Avenir Next"/>
              </a:defRPr>
            </a:pPr>
            <a:r>
              <a:rPr sz="3450" b="1" i="0">
                <a:solidFill>
                  <a:srgbClr val="F6F3EA"/>
                </a:solidFill>
                <a:latin typeface="Avenir Next"/>
                <a:ea typeface="Avenir Next"/>
                <a:cs typeface="Avenir Next"/>
              </a:rPr>
              <a:t>Düsseldorf ist Heimat und Ausgangspunkt</a:t>
            </a:r>
          </a:p>
        </p:txBody>
      </p:sp>
      <p:sp>
        <p:nvSpPr>
          <p:cNvPr id="6" name="">
            <a:extLst xmlns:a="http://schemas.openxmlformats.org/drawingml/2006/main">
              <a:ext uri="{FF2B5EF4-FFF2-40B4-BE49-F238E27FC236}">
                <a16:creationId xmlns:a16="http://schemas.microsoft.com/office/drawing/2014/main" id="{756D60B3-72D3-4850-A7EF-BB3F4BDEF7CC}"/>
              </a:ext>
            </a:extLst>
          </p:cNvPr>
          <p:cNvSpPr>
            <a:spLocks xmlns:a="http://schemas.openxmlformats.org/drawingml/2006/main" noGrp="1"/>
          </p:cNvSpPr>
          <p:nvPr/>
        </p:nvSpPr>
        <p:spPr>
          <a:xfrm xmlns:a="http://schemas.openxmlformats.org/drawingml/2006/main">
            <a:off x="609600" y="3143250"/>
            <a:ext cx="5905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D2DAE3"/>
                </a:solidFill>
                <a:latin typeface="Avenir Next"/>
                <a:ea typeface="Avenir Next"/>
                <a:cs typeface="Avenir Next"/>
              </a:defRPr>
            </a:pPr>
            <a:r>
              <a:rPr sz="1725" b="0" i="0">
                <a:solidFill>
                  <a:srgbClr val="D2DAE3"/>
                </a:solidFill>
                <a:latin typeface="Avenir Next"/>
                <a:ea typeface="Avenir Next"/>
                <a:cs typeface="Avenir Next"/>
              </a:rPr>
              <a:t>In Düsseldorf geboren. Hier zur Schule gegangen und ausgebildet. Die Familie lebt seit den 1970er-Jahren in der Stadt.</a:t>
            </a:r>
          </a:p>
        </p:txBody>
      </p:sp>
      <p:sp>
        <p:nvSpPr>
          <p:cNvPr id="7" name="">
            <a:extLst xmlns:a="http://schemas.openxmlformats.org/drawingml/2006/main">
              <a:ext uri="{FF2B5EF4-FFF2-40B4-BE49-F238E27FC236}">
                <a16:creationId xmlns:a16="http://schemas.microsoft.com/office/drawing/2014/main" id="{746169E2-AEE2-4BA8-B820-A1BDF4AC9427}"/>
              </a:ext>
            </a:extLst>
          </p:cNvPr>
          <p:cNvSpPr>
            <a:spLocks xmlns:a="http://schemas.openxmlformats.org/drawingml/2006/main" noGrp="1"/>
          </p:cNvSpPr>
          <p:nvPr/>
        </p:nvSpPr>
        <p:spPr>
          <a:xfrm xmlns:a="http://schemas.openxmlformats.org/drawingml/2006/main">
            <a:off x="609600" y="4362450"/>
            <a:ext cx="2476500" cy="0"/>
          </a:xfrm>
          <a:prstGeom xmlns:a="http://schemas.openxmlformats.org/drawingml/2006/main" prst="line">
            <a:avLst/>
          </a:prstGeom>
          <a:noFill xmlns:a="http://schemas.openxmlformats.org/drawingml/2006/main"/>
          <a:ln xmlns:a="http://schemas.openxmlformats.org/drawingml/2006/main" w="19050">
            <a:solidFill>
              <a:srgbClr val="C8A25A"/>
            </a:solidFill>
            <a:prstDash val="solid"/>
          </a:ln>
        </p:spPr>
      </p:sp>
      <p:sp>
        <p:nvSpPr>
          <p:cNvPr id="8" name="">
            <a:extLst xmlns:a="http://schemas.openxmlformats.org/drawingml/2006/main">
              <a:ext uri="{FF2B5EF4-FFF2-40B4-BE49-F238E27FC236}">
                <a16:creationId xmlns:a16="http://schemas.microsoft.com/office/drawing/2014/main" id="{24F18B5D-EB61-4184-978D-3518AE00F22D}"/>
              </a:ext>
            </a:extLst>
          </p:cNvPr>
          <p:cNvSpPr>
            <a:spLocks xmlns:a="http://schemas.openxmlformats.org/drawingml/2006/main" noGrp="1"/>
          </p:cNvSpPr>
          <p:nvPr/>
        </p:nvSpPr>
        <p:spPr>
          <a:xfrm xmlns:a="http://schemas.openxmlformats.org/drawingml/2006/main">
            <a:off x="609600" y="46672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FFFF"/>
                </a:solidFill>
                <a:latin typeface="Avenir Next"/>
                <a:ea typeface="Avenir Next"/>
                <a:cs typeface="Avenir Next"/>
              </a:defRPr>
            </a:pPr>
            <a:r>
              <a:rPr sz="2550" b="1" i="0">
                <a:solidFill>
                  <a:srgbClr val="FFFFFF"/>
                </a:solidFill>
                <a:latin typeface="Avenir Next"/>
                <a:ea typeface="Avenir Next"/>
                <a:cs typeface="Avenir Next"/>
              </a:rPr>
              <a:t>Zaki Amawi</a:t>
            </a:r>
          </a:p>
        </p:txBody>
      </p:sp>
      <p:sp>
        <p:nvSpPr>
          <p:cNvPr id="9" name="">
            <a:extLst xmlns:a="http://schemas.openxmlformats.org/drawingml/2006/main">
              <a:ext uri="{FF2B5EF4-FFF2-40B4-BE49-F238E27FC236}">
                <a16:creationId xmlns:a16="http://schemas.microsoft.com/office/drawing/2014/main" id="{2D5CB75D-41DA-4267-B789-A9ECDC1E2D49}"/>
              </a:ext>
            </a:extLst>
          </p:cNvPr>
          <p:cNvSpPr>
            <a:spLocks xmlns:a="http://schemas.openxmlformats.org/drawingml/2006/main" noGrp="1"/>
          </p:cNvSpPr>
          <p:nvPr/>
        </p:nvSpPr>
        <p:spPr>
          <a:xfrm xmlns:a="http://schemas.openxmlformats.org/drawingml/2006/main">
            <a:off x="609600" y="51435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8A25A"/>
                </a:solidFill>
                <a:latin typeface="Avenir Next"/>
                <a:ea typeface="Avenir Next"/>
                <a:cs typeface="Avenir Next"/>
              </a:defRPr>
            </a:pPr>
            <a:r>
              <a:rPr sz="1350" b="0" i="0">
                <a:solidFill>
                  <a:srgbClr val="C8A25A"/>
                </a:solidFill>
                <a:latin typeface="Avenir Next"/>
                <a:ea typeface="Avenir Next"/>
                <a:cs typeface="Avenir Next"/>
              </a:rPr>
              <a:t>Alleiniger Gründer und vorgesehener Geschäftsführer</a:t>
            </a:r>
          </a:p>
        </p:txBody>
      </p:sp>
      <p:sp>
        <p:nvSpPr>
          <p:cNvPr id="10" name="">
            <a:extLst xmlns:a="http://schemas.openxmlformats.org/drawingml/2006/main">
              <a:ext uri="{FF2B5EF4-FFF2-40B4-BE49-F238E27FC236}">
                <a16:creationId xmlns:a16="http://schemas.microsoft.com/office/drawing/2014/main" id="{B5376249-C33C-4AB9-A2DC-63A338BD6960}"/>
              </a:ext>
            </a:extLst>
          </p:cNvPr>
          <p:cNvSpPr>
            <a:spLocks xmlns:a="http://schemas.openxmlformats.org/drawingml/2006/main" noGrp="1"/>
          </p:cNvSpPr>
          <p:nvPr/>
        </p:nvSpPr>
        <p:spPr>
          <a:xfrm xmlns:a="http://schemas.openxmlformats.org/drawingml/2006/main">
            <a:off x="609600" y="552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B7C2CD"/>
                </a:solidFill>
                <a:latin typeface="Avenir Next"/>
                <a:ea typeface="Avenir Next"/>
                <a:cs typeface="Avenir Next"/>
              </a:defRPr>
            </a:pPr>
            <a:r>
              <a:rPr sz="1200" b="0" i="0">
                <a:solidFill>
                  <a:srgbClr val="B7C2CD"/>
                </a:solidFill>
                <a:latin typeface="Avenir Next"/>
                <a:ea typeface="Avenir Next"/>
                <a:cs typeface="Avenir Next"/>
              </a:rPr>
              <a:t>zaki@amavio.com</a:t>
            </a:r>
          </a:p>
        </p:txBody>
      </p:sp>
      <p:sp>
        <p:nvSpPr>
          <p:cNvPr id="11" name="">
            <a:extLst xmlns:a="http://schemas.openxmlformats.org/drawingml/2006/main">
              <a:ext uri="{FF2B5EF4-FFF2-40B4-BE49-F238E27FC236}">
                <a16:creationId xmlns:a16="http://schemas.microsoft.com/office/drawing/2014/main" id="{B8DA169F-5C9E-4813-AA24-A0809D6BD32A}"/>
              </a:ext>
            </a:extLst>
          </p:cNvPr>
          <p:cNvSpPr>
            <a:spLocks xmlns:a="http://schemas.openxmlformats.org/drawingml/2006/main" noGrp="1"/>
          </p:cNvSpPr>
          <p:nvPr/>
        </p:nvSpPr>
        <p:spPr>
          <a:xfrm xmlns:a="http://schemas.openxmlformats.org/drawingml/2006/main">
            <a:off x="609600" y="58674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8A25A"/>
                </a:solidFill>
                <a:latin typeface="Avenir Next"/>
                <a:ea typeface="Avenir Next"/>
                <a:cs typeface="Avenir Next"/>
              </a:defRPr>
            </a:pPr>
            <a:r>
              <a:rPr sz="1125" b="1" i="0">
                <a:solidFill>
                  <a:srgbClr val="C8A25A"/>
                </a:solidFill>
                <a:latin typeface="Avenir Next"/>
                <a:ea typeface="Avenir Next"/>
                <a:cs typeface="Avenir Next"/>
              </a:rPr>
              <a:t>NEXT BESCHLEUNIGT</a:t>
            </a:r>
          </a:p>
        </p:txBody>
      </p:sp>
      <p:sp>
        <p:nvSpPr>
          <p:cNvPr id="12" name="">
            <a:extLst xmlns:a="http://schemas.openxmlformats.org/drawingml/2006/main">
              <a:ext uri="{FF2B5EF4-FFF2-40B4-BE49-F238E27FC236}">
                <a16:creationId xmlns:a16="http://schemas.microsoft.com/office/drawing/2014/main" id="{AFE0495A-EB17-44DA-911B-B0200412F201}"/>
              </a:ext>
            </a:extLst>
          </p:cNvPr>
          <p:cNvSpPr>
            <a:spLocks xmlns:a="http://schemas.openxmlformats.org/drawingml/2006/main" noGrp="1"/>
          </p:cNvSpPr>
          <p:nvPr/>
        </p:nvSpPr>
        <p:spPr>
          <a:xfrm xmlns:a="http://schemas.openxmlformats.org/drawingml/2006/main">
            <a:off x="609600" y="61341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3EA"/>
                </a:solidFill>
                <a:latin typeface="Avenir Next"/>
                <a:ea typeface="Avenir Next"/>
                <a:cs typeface="Avenir Next"/>
              </a:defRPr>
            </a:pPr>
            <a:r>
              <a:rPr sz="1500" b="1" i="0">
                <a:solidFill>
                  <a:srgbClr val="F6F3EA"/>
                </a:solidFill>
                <a:latin typeface="Avenir Next"/>
                <a:ea typeface="Avenir Next"/>
                <a:cs typeface="Avenir Next"/>
              </a:rPr>
              <a:t>Pilotzugang · Produktdesign · GmbH-Gründung in Düsseldorf</a:t>
            </a:r>
          </a:p>
        </p:txBody>
      </p:sp>
      <p:sp>
        <p:nvSpPr>
          <p:cNvPr id="13" name="">
            <a:extLst xmlns:a="http://schemas.openxmlformats.org/drawingml/2006/main">
              <a:ext uri="{FF2B5EF4-FFF2-40B4-BE49-F238E27FC236}">
                <a16:creationId xmlns:a16="http://schemas.microsoft.com/office/drawing/2014/main" id="{95B4B16F-BE7D-4D94-97C7-FDDB79294AB5}"/>
              </a:ext>
            </a:extLst>
          </p:cNvPr>
          <p:cNvSpPr>
            <a:spLocks xmlns:a="http://schemas.openxmlformats.org/drawingml/2006/main" noGrp="1"/>
          </p:cNvSpPr>
          <p:nvPr/>
        </p:nvSpPr>
        <p:spPr>
          <a:xfrm xmlns:a="http://schemas.openxmlformats.org/drawingml/2006/main">
            <a:off x="609600" y="64770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5DCE5"/>
                </a:solidFill>
                <a:latin typeface="Avenir Next"/>
                <a:ea typeface="Avenir Next"/>
                <a:cs typeface="Avenir Next"/>
              </a:defRPr>
            </a:pPr>
            <a:r>
              <a:rPr sz="975" b="0" i="0">
                <a:solidFill>
                  <a:srgbClr val="D5DCE5"/>
                </a:solidFill>
                <a:latin typeface="Avenir Next"/>
                <a:ea typeface="Avenir Next"/>
                <a:cs typeface="Avenir Next"/>
              </a:rPr>
              <a:t>NEXT Award Düsseldorf 2026</a:t>
            </a:r>
          </a:p>
        </p:txBody>
      </p:sp>
      <p:sp>
        <p:nvSpPr>
          <p:cNvPr id="14" name="">
            <a:extLst xmlns:a="http://schemas.openxmlformats.org/drawingml/2006/main">
              <a:ext uri="{FF2B5EF4-FFF2-40B4-BE49-F238E27FC236}">
                <a16:creationId xmlns:a16="http://schemas.microsoft.com/office/drawing/2014/main" id="{4806156C-A2EE-4A5F-B82A-0F69C04AB0C2}"/>
              </a:ext>
            </a:extLst>
          </p:cNvPr>
          <p:cNvSpPr>
            <a:spLocks xmlns:a="http://schemas.openxmlformats.org/drawingml/2006/main" noGrp="1"/>
          </p:cNvSpPr>
          <p:nvPr/>
        </p:nvSpPr>
        <p:spPr>
          <a:xfrm xmlns:a="http://schemas.openxmlformats.org/drawingml/2006/main">
            <a:off x="112395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0" i="0">
                <a:solidFill>
                  <a:srgbClr val="C8A25A"/>
                </a:solidFill>
                <a:latin typeface="Avenir Next"/>
                <a:ea typeface="Avenir Next"/>
                <a:cs typeface="Avenir Next"/>
              </a:defRPr>
            </a:pPr>
            <a:r>
              <a:rPr sz="975" b="0" i="0">
                <a:solidFill>
                  <a:srgbClr val="C8A25A"/>
                </a:solidFill>
                <a:latin typeface="Avenir Next"/>
                <a:ea typeface="Avenir Next"/>
                <a:cs typeface="Avenir Next"/>
              </a:rPr>
              <a:t>12</a:t>
            </a:r>
          </a:p>
        </p:txBody>
      </p:sp>
    </p:spTree>
    <p:extLst>
      <p:ext uri="{BB962C8B-B14F-4D97-AF65-F5344CB8AC3E}">
        <p14:creationId xmlns:p14="http://schemas.microsoft.com/office/powerpoint/2010/main" val="165808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2026-09-30T11:02:17.4280000Z</dcterms:created>
  <dcterms:modified xsi:type="dcterms:W3CDTF">2026-09-30T11:02:17.4280000Z</dcterms:modified>
</coreProperties>
</file>