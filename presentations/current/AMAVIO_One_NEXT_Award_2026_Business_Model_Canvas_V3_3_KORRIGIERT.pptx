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6454d7eaf243de" /><Relationship Type="http://schemas.openxmlformats.org/officeDocument/2006/relationships/extended-properties" Target="/docProps/app.xml" Id="Rc8de98032fa240c5" /><Relationship Type="http://schemas.openxmlformats.org/officeDocument/2006/relationships/officeDocument" Target="/ppt/presentation.xml" Id="R126ff999ce164e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362fcfea194167"/>
  </p:sldMasterIdLst>
  <p:notesMasterIdLst>
    <p:notesMasterId xmlns:r="http://schemas.openxmlformats.org/officeDocument/2006/relationships" r:id="R8759b787b8c8490f"/>
  </p:notesMasterIdLst>
  <p:sldIdLst>
    <p:sldId xmlns:r="http://schemas.openxmlformats.org/officeDocument/2006/relationships" id="256" r:id="Rf50baa68639e4f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e4979709304e7d" /><Relationship Type="http://schemas.openxmlformats.org/officeDocument/2006/relationships/slideMaster" Target="/ppt/slideMasters/slideMaster1.xml" Id="R03362fcfea194167" /><Relationship Type="http://schemas.openxmlformats.org/officeDocument/2006/relationships/notesMaster" Target="/ppt/notesMasters/notesMaster1.xml" Id="R8759b787b8c8490f" /><Relationship Type="http://schemas.openxmlformats.org/officeDocument/2006/relationships/presProps" Target="/ppt/presProps.xml" Id="Reac37a4249e0454b" /><Relationship Type="http://schemas.openxmlformats.org/officeDocument/2006/relationships/tableStyles" Target="/ppt/tableStyles.xml" Id="R22817121e7b34bc3" /><Relationship Type="http://schemas.openxmlformats.org/officeDocument/2006/relationships/slide" Target="/ppt/slides/slide1.xml" Id="Rf50baa68639e4f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379d005744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c9405858d548d0" /><Relationship Type="http://schemas.openxmlformats.org/officeDocument/2006/relationships/notesMaster" Target="/ppt/notesMasters/notesMaster1.xml" Id="R75af45200f8541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Korrigierte einseitige Zuordnung aller neun Business-Model-Canvas-Bausteine. Quellen: NEXT BMC-Vorlage 2026, AMAVIO One NEXT Business Model Canvas Inhaltsmaster, Executive Summary FINAL V2 und Juryfassung V3.1. Geplante Partner, spätere Self-Services und die Produktreifegrenze sind ausdrücklich gekennzeichnet. Die Seite ist eine gestaltete Canvas-Zuordnung und keine Bestätigung der Startup Unit zur formalen Akzeptanz. Preise netto; Planwerte und Leistungen Dritter bleiben getrennt.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fa08ccd41a4a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e89a8f8bad40b6" /><Relationship Type="http://schemas.openxmlformats.org/officeDocument/2006/relationships/slideLayout" Target="/ppt/slideLayouts/slideLayout1.xml" Id="Ra278a7ab761f4f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78a7ab761f4f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12b2a42ef477a" /><Relationship Type="http://schemas.openxmlformats.org/officeDocument/2006/relationships/image" Target="/ppt/media/image.png" Id="R2f70f76de25c49ab" /><Relationship Type="http://schemas.openxmlformats.org/officeDocument/2006/relationships/notesSlide" Target="/ppt/notesSlides/notesSlide1.xml" Id="Rd8a3f0a7089e4a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70f76de25c49ab"/>
          <a:stretch xmlns:a="http://schemas.openxmlformats.org/drawingml/2006/main"/>
        </p:blipFill>
        <p:spPr>
          <a:xfrm xmlns:a="http://schemas.openxmlformats.org/drawingml/2006/main">
            <a:off x="487279" y="228600"/>
            <a:ext cx="1616242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9E7B9-8F1A-40BC-94C8-05D6203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rPr>
              <a:t>NEXT Award Düsseldorf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F9433-11DA-4973-AF38-A3D4DB1A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7630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2325" b="1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AMAVIO One - Business Model Canvas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7542-B7AB-4540-9853-C5873AE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rPr>
              <a:t>Digitale Workforce-Arrival-Infrastruktur | Einseitige Zuordnung der neun Canvas-Bausteine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D635A-F760-4654-ABBD-CDFB8C5E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A2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D8500-AF2D-4269-8F16-99AF73CB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2095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1FF1A-354B-42F9-B308-8ACC0D2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SCHLÜSSELPARTNER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80D38-8799-4E0D-BC3B-9859938B3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DCC591-D626-41AD-A09E-2C3702B6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288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Geplante Pilot-/Designpartner: Fälle und Feedback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Technologie-, UX- und Datenschutzpartner: Produkt und Governance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1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Qualifizierte lokale Anbieter: Leistungen und Verfügbarkeit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A087A-5CF7-4B22-821B-C8B722E5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669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D45A0D-1699-4F78-B613-4C420B1B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SCHLÜSSELAKTIVITÄTEN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A3CF3-742A-4FB5-BE75-897DDDCF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247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06A72-3C0C-4E0B-82BB-1CC84CDC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Readiness prüfen und Piloten steuern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Portal, App und Datenmodell entwickeln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Partnerpfade aufbauen, Wirkung messen und standardisieren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6968C-DCB0-4535-815E-93F9CCAC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5242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A5C31F-DC23-42B4-9F3A-8BBC24AB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385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SCHLÜSSELRESSOURCEN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55D25-BD6A-4E06-85F0-1BC97C8F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9052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32803-6292-4B01-8B08-0350B16E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3860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Playbooks, Rollen- und Risikomodell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Konzeptdemo, Datenstruktur und MVP-Lastenheft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Gründererfahrung und Düsseldorfer Marktkenntnis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56A10-F4A4-40CE-BD26-46EF2C093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66900"/>
            <a:ext cx="26289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7"/>
          </a:solidFill>
          <a:ln xmlns:a="http://schemas.openxmlformats.org/drawingml/2006/main" w="14288">
            <a:solidFill>
              <a:srgbClr val="C8A2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22088B-F0FC-4686-B7BE-58C490BD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WERTVERSPRECHEN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DF7149-21C4-4F9B-AFC4-D39F92A3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247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A25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5D3D2-EFFE-4DC7-BBC6-79C94F7E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23622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9000"/>
              </a:lnSpc>
              <a:buNone/>
              <a:def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Geführter Prozess nach der Personalzusage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Transparenz über Aufgaben, Risiken, Freigaben und Kosten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Vier Rollen auf einem Prozessstand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9000"/>
              </a:lnSpc>
              <a:buNone/>
              <a:def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982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Readiness, Arrival Control und 30/60/90/180-Tage-Monitoring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55D69C-E03D-4A38-8C78-B4D45A5A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6690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E5EC51-87AD-4BF9-9A88-2A087D72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8120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KUNDENBEZIEHUNGEN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783C62-2C24-4E1D-9745-ECDE9BE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247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E97CB-5590-48CB-9C59-7A0E928E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38125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Beratungsnaher Sprint oder Pilot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Persönliche Steuerung und Reporting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Wiederkehrendes Monitoring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1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Später digitale Selbstbedienung im Portal und in der App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AAEA72-5184-4E95-9822-A01C8945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2095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D4B60F-75FE-4EC2-8EBB-400B2E9F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38550"/>
            <a:ext cx="1828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KANÄLE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A229B6-730B-44AD-A9AE-D5298F99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052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68041E-0287-4AFC-A375-1F188384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38600"/>
            <a:ext cx="1828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Direkter Gründervertrieb und Zielaccount-Ansprache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Empfehlungen und geplante Designpartnergespräche</a:t>
            </a:r>
          </a:p>
          <a:p xmlns:a="http://schemas.openxmlformats.org/drawingml/2006/main">
            <a:pPr algn="l">
              <a:lnSpc>
                <a:spcPct val="103000"/>
              </a:lnSpc>
              <a:buNone/>
              <a:def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78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Kammern, Arbeitgebernetzwerke und kommunale Ökosysteme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7C6900-9697-4844-9015-0599C302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66900"/>
            <a:ext cx="20574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2BDB43-2C60-4E63-980D-B882C919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981200"/>
            <a:ext cx="1790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KUNDENSEGMENTE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51603B-5660-41F4-A6C4-99137255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479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FA24B9-FD07-435F-B779-255B7FDE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790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Primär: Pflegeanbieter, Kliniken und soziale Träger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Weitere: standortgebundene Mittelständler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Käufer: Geschäftsführung, HR, Standort-/Budgetleitung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885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Sekundär: Fachkräfte, Wohnraum- und lokale Servicepartner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E86A15-523C-459D-A0C3-7F3CFE2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00650"/>
            <a:ext cx="552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9E1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DCD1AD-336A-4BB9-B6BC-CBC6A9F3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525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KOSTENSTRUKTUR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D1AE1A-2A0A-473A-A60D-5E261F32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816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834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A486F7-045C-4801-9EC1-CA904736D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Team, Pilotsteuerung und Kundenbetreuung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Produktentwicklung, Hosting, Datenschutz und IT-Sicherheit</a:t>
            </a:r>
          </a:p>
          <a:p xmlns:a="http://schemas.openxmlformats.org/drawingml/2006/main">
            <a:pPr algn="l">
              <a:lnSpc>
                <a:spcPct val="104000"/>
              </a:lnSpc>
              <a:buNone/>
              <a:def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defRPr>
            </a:pPr>
            <a:r>
              <a:rPr sz="938" b="0" i="0">
                <a:solidFill>
                  <a:srgbClr val="071527"/>
                </a:solidFill>
                <a:latin typeface="Avenir Next"/>
                <a:ea typeface="Avenir Next"/>
                <a:cs typeface="Avenir Next"/>
              </a:rPr>
              <a:t>Vertrieb, Recht und Administration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C298437-4694-403D-BCFF-BC74F220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5638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7"/>
          </a:solidFill>
          <a:ln xmlns:a="http://schemas.openxmlformats.org/drawingml/2006/main" w="14288">
            <a:solidFill>
              <a:srgbClr val="C8A25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5D1199-E1C0-4BF3-A33D-084545F4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14950"/>
            <a:ext cx="537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 i="0">
                <a:solidFill>
                  <a:srgbClr val="C8A25A"/>
                </a:solidFill>
                <a:latin typeface="Avenir Next"/>
                <a:ea typeface="Avenir Next"/>
                <a:cs typeface="Avenir Next"/>
              </a:rPr>
              <a:t>EINNAHMEQUELLEN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FB0326-1DB3-4BFD-B6B8-FCB02179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8165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A25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52055A6-98A5-4D63-B545-A61F19DB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15000"/>
            <a:ext cx="5372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Readiness Sprint ab 5.900 EUR und Arrival Control Pilot ab 18.500 EUR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Erweitertes Mandat mit 42.000 EUR Planpreis sowie Monitoring ab 2.900 EUR/Monat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defRPr>
            </a:pPr>
            <a:r>
              <a:rPr sz="878" b="1" i="0">
                <a:solidFill>
                  <a:srgbClr val="F6F3EA"/>
                </a:solidFill>
                <a:latin typeface="Avenir Next"/>
                <a:ea typeface="Avenir Next"/>
                <a:cs typeface="Avenir Next"/>
              </a:rPr>
              <a:t>Nach nachgewiesener Produktreife: Plattform- oder Standortlizenz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3177CF9-0A62-4ECF-AC2C-B13802411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752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66717D"/>
                </a:solidFill>
                <a:latin typeface="Avenir Next"/>
                <a:ea typeface="Avenir Next"/>
                <a:cs typeface="Avenir Next"/>
              </a:rPr>
              <a:t>Preise netto. Planwerte, keine Zusagen. Fremdkosten und Leistungen Dritter bleiben getrennt.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F5FFDD-D712-479F-805C-EFFAC1CB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77000"/>
            <a:ext cx="1733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 i="0">
                <a:solidFill>
                  <a:srgbClr val="A78342"/>
                </a:solidFill>
                <a:latin typeface="Avenir Next"/>
                <a:ea typeface="Avenir Next"/>
                <a:cs typeface="Avenir Next"/>
              </a:defRPr>
            </a:pPr>
            <a:r>
              <a:rPr sz="825" b="0" i="0">
                <a:solidFill>
                  <a:srgbClr val="A78342"/>
                </a:solidFill>
                <a:latin typeface="Avenir Next"/>
                <a:ea typeface="Avenir Next"/>
                <a:cs typeface="Avenir Next"/>
              </a:rPr>
              <a:t>BMC-Einseiter | V3.3</a:t>
            </a:r>
          </a:p>
        </p:txBody>
      </p:sp>
    </p:spTree>
    <p:extLst>
      <p:ext uri="{BB962C8B-B14F-4D97-AF65-F5344CB8AC3E}">
        <p14:creationId xmlns:p14="http://schemas.microsoft.com/office/powerpoint/2010/main" val="15343317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2026-09-30T11:02:06.9030000Z</dcterms:created>
  <dcterms:modified xsi:type="dcterms:W3CDTF">2026-09-30T11:02:06.9030000Z</dcterms:modified>
</coreProperties>
</file>