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9c968de416433e" /><Relationship Type="http://schemas.openxmlformats.org/officeDocument/2006/relationships/extended-properties" Target="/docProps/app.xml" Id="Rc5e3e4fa2b3b4e97" /><Relationship Type="http://schemas.openxmlformats.org/officeDocument/2006/relationships/officeDocument" Target="/ppt/presentation.xml" Id="Rfc954772973749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5ae0e1a25e4aee"/>
  </p:sldMasterIdLst>
  <p:notesMasterIdLst>
    <p:notesMasterId xmlns:r="http://schemas.openxmlformats.org/officeDocument/2006/relationships" r:id="R299d6d7c65cd4bef"/>
  </p:notesMasterIdLst>
  <p:sldIdLst>
    <p:sldId xmlns:r="http://schemas.openxmlformats.org/officeDocument/2006/relationships" id="256" r:id="Rfb7b6943f9f0406a"/>
    <p:sldId xmlns:r="http://schemas.openxmlformats.org/officeDocument/2006/relationships" id="257" r:id="R39214833c147484f"/>
    <p:sldId xmlns:r="http://schemas.openxmlformats.org/officeDocument/2006/relationships" id="258" r:id="R6349dacc597d4474"/>
    <p:sldId xmlns:r="http://schemas.openxmlformats.org/officeDocument/2006/relationships" id="259" r:id="R4c9265c2ab7241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270be489b4b55" /><Relationship Type="http://schemas.openxmlformats.org/officeDocument/2006/relationships/slideMaster" Target="/ppt/slideMasters/slideMaster1.xml" Id="R4f5ae0e1a25e4aee" /><Relationship Type="http://schemas.openxmlformats.org/officeDocument/2006/relationships/notesMaster" Target="/ppt/notesMasters/notesMaster1.xml" Id="R299d6d7c65cd4bef" /><Relationship Type="http://schemas.openxmlformats.org/officeDocument/2006/relationships/presProps" Target="/ppt/presProps.xml" Id="Ra941e220f7ae4478" /><Relationship Type="http://schemas.openxmlformats.org/officeDocument/2006/relationships/tableStyles" Target="/ppt/tableStyles.xml" Id="R7d04cbaa08804e35" /><Relationship Type="http://schemas.openxmlformats.org/officeDocument/2006/relationships/slide" Target="/ppt/slides/slide1.xml" Id="Rfb7b6943f9f0406a" /><Relationship Type="http://schemas.openxmlformats.org/officeDocument/2006/relationships/slide" Target="/ppt/slides/slide2.xml" Id="R39214833c147484f" /><Relationship Type="http://schemas.openxmlformats.org/officeDocument/2006/relationships/slide" Target="/ppt/slides/slide3.xml" Id="R6349dacc597d4474" /><Relationship Type="http://schemas.openxmlformats.org/officeDocument/2006/relationships/slide" Target="/ppt/slides/slide4.xml" Id="R4c9265c2ab7241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d33c6a0f4f41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dc1cff0d79414c" /><Relationship Type="http://schemas.openxmlformats.org/officeDocument/2006/relationships/notesMaster" Target="/ppt/notesMasters/notesMaster1.xml" Id="R7a4f3e371a0d44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468142af084ae7" /><Relationship Type="http://schemas.openxmlformats.org/officeDocument/2006/relationships/notesMaster" Target="/ppt/notesMasters/notesMaster1.xml" Id="R291235fb2c1b4a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1db0cecd814045" /><Relationship Type="http://schemas.openxmlformats.org/officeDocument/2006/relationships/notesMaster" Target="/ppt/notesMasters/notesMaster1.xml" Id="R3dda8a7b7b83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72cb04732b44ff" /><Relationship Type="http://schemas.openxmlformats.org/officeDocument/2006/relationships/notesMaster" Target="/ppt/notesMasters/notesMaster1.xml" Id="R5f2bb647662d48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Zielgruppe: Arbeitgeber und operative Entscheider. Quelle: lokaler AMAVIO One App V2.1-Prototyp, Screenshots vom 25.09.2026. Der Arbeitgeber arbeitet weiterhin im separaten Arrival Control Center. Alle dargestellten Daten sind synthetisch; es besteht keine produktive Authentifizierung, Speicherung, Buchung, Veröffentlichung oder ACC-Integration.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Zielgruppe: Investoren. Quelle: lokaler AMAVIO One App V2.1-Prototyp und QA-Notiz vom 25.09.2026. Nachgewiesen sind ein lokaler Build, Lint und mobile Browser-QA. Nicht nachgewiesen und nicht behauptet sind produktives Backend, echte Authentifizierung, Hosting, ACC-Integration, reale Nutzerkonten oder Marktvalidierung.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Zielgruppe: Jury Gründerstipendium NRW. Quelle: lokaler AMAVIO One App V2.1-Prototyp, README und QA-Notiz vom 25.09.2026. Die Folie trennt den nachgewiesenen lokalen Prototypstatus von der noch zu finanzierenden Produktstufe. Keine Förder-, Pilot-, Markt- oder Produktfreigabe wird behauptet.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Zielgruppe: NEXT Award Düsseldorf 2026. Quelle: lokaler AMAVIO One App V2.1-Prototyp vom 25.09.2026. Die Darstellung belegt einen lokal klickbaren Entwicklungsstand, nicht produktive Marktreife. Alle Daten sind synthetisch; Authentifizierung, Backend, Hosting, Veröffentlichung und ACC-Integration sind nicht produktiv umgesetzt.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a9459ba3c43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fe5442e31a41f7" /><Relationship Type="http://schemas.openxmlformats.org/officeDocument/2006/relationships/slideLayout" Target="/ppt/slideLayouts/slideLayout1.xml" Id="Ra53a3904fb1441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3a3904fb1441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f626faa284eb8" /><Relationship Type="http://schemas.openxmlformats.org/officeDocument/2006/relationships/image" Target="/ppt/media/image.png" Id="Rfb1c617bd41b4652" /><Relationship Type="http://schemas.openxmlformats.org/officeDocument/2006/relationships/image" Target="/ppt/media/image2.png" Id="R4b50932d56964106" /><Relationship Type="http://schemas.openxmlformats.org/officeDocument/2006/relationships/image" Target="/ppt/media/image3.png" Id="Rcd754dbcb11a434e" /><Relationship Type="http://schemas.openxmlformats.org/officeDocument/2006/relationships/image" Target="/ppt/media/image4.png" Id="R085f069df1af41db" /><Relationship Type="http://schemas.openxmlformats.org/officeDocument/2006/relationships/notesSlide" Target="/ppt/notesSlides/notesSlide1.xml" Id="Rf3b0dbb5c283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06662b760468a" /><Relationship Type="http://schemas.openxmlformats.org/officeDocument/2006/relationships/image" Target="/ppt/media/image5.png" Id="R4af37417e1344d2b" /><Relationship Type="http://schemas.openxmlformats.org/officeDocument/2006/relationships/image" Target="/ppt/media/image6.png" Id="R9866698521e14c3a" /><Relationship Type="http://schemas.openxmlformats.org/officeDocument/2006/relationships/image" Target="/ppt/media/image7.png" Id="R53e624f00f6c4933" /><Relationship Type="http://schemas.openxmlformats.org/officeDocument/2006/relationships/image" Target="/ppt/media/image8.png" Id="Rb00627779e744769" /><Relationship Type="http://schemas.openxmlformats.org/officeDocument/2006/relationships/notesSlide" Target="/ppt/notesSlides/notesSlide2.xml" Id="R56dae98f4de240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febb491c04e63" /><Relationship Type="http://schemas.openxmlformats.org/officeDocument/2006/relationships/image" Target="/ppt/media/image9.png" Id="Rbcf6a6d8a63141ac" /><Relationship Type="http://schemas.openxmlformats.org/officeDocument/2006/relationships/image" Target="/ppt/media/image10.png" Id="R4d3b9027424840cd" /><Relationship Type="http://schemas.openxmlformats.org/officeDocument/2006/relationships/image" Target="/ppt/media/image11.png" Id="R96da764c53b74545" /><Relationship Type="http://schemas.openxmlformats.org/officeDocument/2006/relationships/image" Target="/ppt/media/image12.png" Id="Rec529fc5468343b0" /><Relationship Type="http://schemas.openxmlformats.org/officeDocument/2006/relationships/notesSlide" Target="/ppt/notesSlides/notesSlide3.xml" Id="R04b591ee9e434e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22182ab794588" /><Relationship Type="http://schemas.openxmlformats.org/officeDocument/2006/relationships/image" Target="/ppt/media/image13.png" Id="R697e1c0188bc4cc6" /><Relationship Type="http://schemas.openxmlformats.org/officeDocument/2006/relationships/image" Target="/ppt/media/image14.png" Id="R85597e9adccb422f" /><Relationship Type="http://schemas.openxmlformats.org/officeDocument/2006/relationships/image" Target="/ppt/media/image15.png" Id="Rc21d4530373b43d6" /><Relationship Type="http://schemas.openxmlformats.org/officeDocument/2006/relationships/image" Target="/ppt/media/image16.png" Id="Rcaf5801039784250" /><Relationship Type="http://schemas.openxmlformats.org/officeDocument/2006/relationships/notesSlide" Target="/ppt/notesSlides/notesSlide4.xml" Id="R159685c5719542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c617bd41b4652"/>
          <a:stretch xmlns:a="http://schemas.openxmlformats.org/drawingml/2006/main"/>
        </p:blipFill>
        <p:spPr>
          <a:xfrm xmlns:a="http://schemas.openxmlformats.org/drawingml/2006/main">
            <a:off x="639679" y="323850"/>
            <a:ext cx="1616242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28A18-D830-43E8-A0DD-3A39680A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APP-PROTOTYP V2.1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F7032-EAFA-4E5C-A4BB-EC7E2713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Drei getrennte App-Zugänge im operativen Ablauf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3DA19-A1E0-4543-AFB0-17475A91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962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Fachkraft, Wohnanbieter und lokaler Partner sehen nur die Aufgaben und Angaben ihrer Rolle. Arbeitgebersteuerung und Freigaben bleiben im Arrival Control Center.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756C3-FA7E-455F-9293-83ECD82E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83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D5C52-4582-48AE-A3E2-4096BBF2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C9AEF-3166-44BB-B6AB-FD46FC67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Rollenfeste mobile Arbeitsbereiche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39903-734C-4146-8BA1-559DC613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F2A4F-60FE-4836-8CB5-7DFC4ED9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Kontrollierte Übergabe an AMAVIO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11534-62E9-40EA-AF5B-ADABDD94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FE9F8-D99A-4402-877E-1E0DABC2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Ankunft, Kapazitäten und Angebote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37355-777D-46C1-9596-3E33067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C5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DAA6B-8674-4858-802A-3B175B04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B2A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0932d56964106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E0B11-70CB-4513-BD94-282FF4A9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FACHKRAFT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2F046-B865-446A-865A-37023B14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C5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3D7EA-9666-40AF-94BA-9FD682E7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B2A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54dbcb11a434e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3F52C-F09C-492A-8ECF-2E4FB942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WOHNANBIETER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867D7-DC79-4367-B2B0-B79292B2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C5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57ECC-B207-42FC-AE36-6F0BD2D8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B2A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f069df1af41db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583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89EFF-5DAE-4B54-A54D-D777FDA9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LOKALER PARTNER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4A0A2-1A9C-4C4A-976C-20085B7A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38BEC-8F89-48B4-A73D-57DBE29E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rPr>
              <a:t>Lokaler V2.1-Klickprototyp mit synthetischen Daten. Keine produktive Anmeldung, Buchung, Veröffentlichung oder ACC-Integration.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E719C-E65C-478C-831F-A17E4E44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63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KUNDENPRÄSENTATION</a:t>
            </a:r>
          </a:p>
        </p:txBody>
      </p:sp>
    </p:spTree>
    <p:extLst>
      <p:ext uri="{BB962C8B-B14F-4D97-AF65-F5344CB8AC3E}">
        <p14:creationId xmlns:p14="http://schemas.microsoft.com/office/powerpoint/2010/main" val="977338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37417e1344d2b"/>
          <a:stretch xmlns:a="http://schemas.openxmlformats.org/drawingml/2006/main"/>
        </p:blipFill>
        <p:spPr>
          <a:xfrm xmlns:a="http://schemas.openxmlformats.org/drawingml/2006/main">
            <a:off x="639679" y="323850"/>
            <a:ext cx="1616242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36725-9238-4FEC-BEEF-E9FF7014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PRODUKTREIFE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4BBBA-15A9-4315-AAF5-AF5C8475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Der V2.1-Prototyp macht die Plattformlogik prüfbar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C2FBB-C021-4F63-8E39-A0F7BB2A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962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D4DDE6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D4DDE6"/>
                </a:solidFill>
                <a:latin typeface="Avenir Next"/>
                <a:ea typeface="Avenir Next"/>
                <a:cs typeface="Avenir Next"/>
              </a:rPr>
              <a:t>Drei mobile Workspaces bilden die externe Prozessseite ab. Rollenwechsel, Freigabe und Veröffentlichung bleiben begrenzt; die operative Steuerung liegt im Arrival Control Center.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F09B5-BA38-4FB5-B336-3CDE34B3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A2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A793C-EC9D-420B-96DB-13B46CD7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BC508-A4D2-45EB-9C50-42583C8D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Klickbare Kernflüsse für drei Rollen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6A61A-8D4F-443A-ABAE-D953BA44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3391A-EDC5-4B4A-8C09-2A653B09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Lokale Workflow- und Übergabestatus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E6D6F-A752-4278-8D86-EB19EF85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FE6C6-51D6-41F7-A47D-A2CCB9D5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Lint, Build und mobile Browser-QA bestanden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9EF89-A653-4596-88F9-FD851131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61D"/>
          </a:solidFill>
          <a:ln xmlns:a="http://schemas.openxmlformats.org/drawingml/2006/main" w="14288">
            <a:solidFill>
              <a:srgbClr val="5360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CCB25-8500-43D8-BF82-B9E6A81F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1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6698521e14c3a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5293B-30DE-426C-8788-AC8BA8CD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FACHKRAFT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1C3A5-6AF9-4ACB-B5A9-8E27CD3F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61D"/>
          </a:solidFill>
          <a:ln xmlns:a="http://schemas.openxmlformats.org/drawingml/2006/main" w="14288">
            <a:solidFill>
              <a:srgbClr val="536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D53D7-3173-42CE-A462-91589707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1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624f00f6c4933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713D1-56C0-454A-9CA5-35BB004A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WOHNANBIETER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8EEBA-FE97-4946-93A4-DF950CE3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61D"/>
          </a:solidFill>
          <a:ln xmlns:a="http://schemas.openxmlformats.org/drawingml/2006/main" w="14288">
            <a:solidFill>
              <a:srgbClr val="5360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5A7B0-C97E-47A4-84EA-C6A4654E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1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627779e744769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583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D2352-DA12-46A5-95FF-7E9C490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LOKALER PARTNER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F2F70-0C5D-434F-87A1-EBC61841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9DDDC-FDDA-4116-B01F-BE2CE7D9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9C5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9C5"/>
                </a:solidFill>
                <a:latin typeface="Avenir Next"/>
                <a:ea typeface="Avenir Next"/>
                <a:cs typeface="Avenir Next"/>
              </a:rPr>
              <a:t>Lokaler V2.1-Klickprototyp mit synthetischen Daten. Keine produktive Anmeldung, Buchung, Veröffentlichung oder ACC-Integration.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74C8C-B6E3-405D-A398-533164DA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INVESTORENPRÄSENTATION</a:t>
            </a:r>
          </a:p>
        </p:txBody>
      </p:sp>
    </p:spTree>
    <p:extLst>
      <p:ext uri="{BB962C8B-B14F-4D97-AF65-F5344CB8AC3E}">
        <p14:creationId xmlns:p14="http://schemas.microsoft.com/office/powerpoint/2010/main" val="1810024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6a6d8a63141ac"/>
          <a:stretch xmlns:a="http://schemas.openxmlformats.org/drawingml/2006/main"/>
        </p:blipFill>
        <p:spPr>
          <a:xfrm xmlns:a="http://schemas.openxmlformats.org/drawingml/2006/main">
            <a:off x="639679" y="323850"/>
            <a:ext cx="1616242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A5A24-0319-446A-8ED7-AB2ED436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PRODUKTNACHWEIS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5500E-F77A-4801-AD90-572A580E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Lokaler V2.1-Prototyp als überprüfbarer Entwicklungsstand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EB01E-27DB-478A-8310-FA982958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962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Heute sind drei Rollenpfade mobil klickbar und mit synthetischen Testdaten prüfbar. Die nächste Produktstufe verbindet die App mit einem sicheren Backend und dem Arrival Control Center.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3CF2C-8EAD-442F-BFDA-98B580ED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981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5"/>
          </a:solidFill>
          <a:ln xmlns:a="http://schemas.openxmlformats.org/drawingml/2006/main" w="9525">
            <a:solidFill>
              <a:srgbClr val="356D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8646D-D175-4B43-91F2-8C6E0045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356D6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56D69"/>
                </a:solidFill>
                <a:latin typeface="Avenir Next"/>
                <a:ea typeface="Avenir Next"/>
                <a:cs typeface="Avenir Next"/>
              </a:rPr>
              <a:t>HEUTE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0419E-C6F8-458B-B63B-353685C1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6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1163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Rollenpfade, lokale Zustände und mobile Oberfläche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B5409-1FE5-4196-B3F8-7369D427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981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A"/>
          </a:solidFill>
          <a:ln xmlns:a="http://schemas.openxmlformats.org/drawingml/2006/main" w="9525">
            <a:solidFill>
              <a:srgbClr val="C8A2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817E5-2F0C-4CD4-8EF9-7E0E7EFA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NÄCHSTE STUFE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FC3C8-8225-435D-A944-2F020795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1163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Backend, sichere Identität, ACC-Anbindung und Pilotbetrieb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3CE03-6A5B-4E30-9194-17C7BBCF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C5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C66B5-9C83-40A5-B5FB-E6C8BB98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B2A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b9027424840cd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29209-E159-4A96-9B74-ADDABF4C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FACHKRAFT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A877C-FD4F-434D-A375-02C509BC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C5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5F64A-ECF8-4919-861D-86EE530D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B2A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a764c53b74545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42549-17B2-4FE6-9ED6-33C0569C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WOHNANBIETER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5F9B8-7119-4875-9951-CD294D0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C5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9992-DE24-4B41-B66D-839AAE5A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B2A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29fc5468343b0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583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BB604-445F-4FAF-80DA-5A06B4E8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LOKALER PARTNER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C9288-47D3-4C9A-A663-3B837DA0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7996E-A9AE-4332-8ABD-3D6A0A29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rPr>
              <a:t>Lokaler V2.1-Klickprototyp mit synthetischen Daten. Keine produktive Anmeldung, Buchung, Veröffentlichung oder ACC-Integration.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DA0B8-7A11-403B-B64F-C7E27578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63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GRÜNDERSTIPENDIUM NRW</a:t>
            </a:r>
          </a:p>
        </p:txBody>
      </p:sp>
    </p:spTree>
    <p:extLst>
      <p:ext uri="{BB962C8B-B14F-4D97-AF65-F5344CB8AC3E}">
        <p14:creationId xmlns:p14="http://schemas.microsoft.com/office/powerpoint/2010/main" val="865757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e1c0188bc4cc6"/>
          <a:stretch xmlns:a="http://schemas.openxmlformats.org/drawingml/2006/main"/>
        </p:blipFill>
        <p:spPr>
          <a:xfrm xmlns:a="http://schemas.openxmlformats.org/drawingml/2006/main">
            <a:off x="639679" y="323850"/>
            <a:ext cx="1616242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0460D-EDDB-494A-812B-497B2BAD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INNOVATIONSBELEG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6DD81-A5CC-4B02-8E3D-0C455912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Der V2.1-Prototyp zeigt die Mehrseitigkeit des Modells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0DF3F-48A5-4BDD-8A18-A9AE3E8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962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D4DDE6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D4DDE6"/>
                </a:solidFill>
                <a:latin typeface="Avenir Next"/>
                <a:ea typeface="Avenir Next"/>
                <a:cs typeface="Avenir Next"/>
              </a:rPr>
              <a:t>Arbeitgeber arbeiten im Arrival Control Center. Die App bildet die rollenspezifischen Zugänge für Fachkraft, Wohnanbieter und lokalen Partner ab.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5074E-1471-4C7C-BE0D-90E374C2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A2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E542E-7958-4769-88E1-A7E9F585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F0091-8AFB-432B-8D77-86D136DE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Eigene Daten- und Aufgabenansicht je Rolle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75DED-8CE0-4818-AE9B-ADCC8320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E6ABC-F1E9-4976-8585-72FE224C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Keine selbstständige Freigabe oder Veröffentlichung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E99DA-5EB0-48D1-9FBB-659FC73B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00CCE-D3CC-4D33-8DF3-D8E04646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AMAVIO bleibt Prozess- und Prüfpunkt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956B0-7821-4F9A-9296-FA44F8AB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61D"/>
          </a:solidFill>
          <a:ln xmlns:a="http://schemas.openxmlformats.org/drawingml/2006/main" w="14288">
            <a:solidFill>
              <a:srgbClr val="5360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00E1E-C7AF-47D1-AC5A-9201191A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1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97e9adccb422f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9F050-9CCE-45B4-B349-5FC63A5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FACHKRAFT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C1B87-593C-4A7B-ABF7-E574CD7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61D"/>
          </a:solidFill>
          <a:ln xmlns:a="http://schemas.openxmlformats.org/drawingml/2006/main" w="14288">
            <a:solidFill>
              <a:srgbClr val="5360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8B36B-A93A-42C2-9AFB-AEC5E8A9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1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d4530373b43d6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F8762-6401-4A96-9174-EE661825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WOHNANBIETER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8EE95-D829-44AD-BD34-D25EE1E0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085850"/>
            <a:ext cx="1981200" cy="4286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61D"/>
          </a:solidFill>
          <a:ln xmlns:a="http://schemas.openxmlformats.org/drawingml/2006/main" w="14288">
            <a:solidFill>
              <a:srgbClr val="5360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3759D-BC52-4E31-91DE-514D0AA0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162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16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5801039784250"/>
          <a:srcRect xmlns:a="http://schemas.openxmlformats.org/drawingml/2006/main" l="1466" t="0" r="1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58350" y="1276350"/>
            <a:ext cx="1828800" cy="39433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1CC55-9DA2-47EB-8F9C-9C89B4EA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864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LOKALER PARTNER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58A9E-6684-421E-A0C7-5AEA1104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A1C3B-9FA1-4C7C-BB77-7EF26C67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9C5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9C5"/>
                </a:solidFill>
                <a:latin typeface="Avenir Next"/>
                <a:ea typeface="Avenir Next"/>
                <a:cs typeface="Avenir Next"/>
              </a:rPr>
              <a:t>Lokaler V2.1-Klickprototyp mit synthetischen Daten. Keine produktive Anmeldung, Buchung, Veröffentlichung oder ACC-Integration.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E726D-5E6E-4306-B2B1-6A15A16A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63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NEXT AWARD DÜSSELDORF 2026</a:t>
            </a:r>
          </a:p>
        </p:txBody>
      </p:sp>
    </p:spTree>
    <p:extLst>
      <p:ext uri="{BB962C8B-B14F-4D97-AF65-F5344CB8AC3E}">
        <p14:creationId xmlns:p14="http://schemas.microsoft.com/office/powerpoint/2010/main" val="328520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2026-09-30T11:01:58.8450000Z</dcterms:created>
  <dcterms:modified xsi:type="dcterms:W3CDTF">2026-09-30T11:01:58.8460000Z</dcterms:modified>
</coreProperties>
</file>