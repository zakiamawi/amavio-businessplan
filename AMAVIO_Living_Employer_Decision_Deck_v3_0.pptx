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a359ef4cc4517" /><Relationship Type="http://schemas.openxmlformats.org/officeDocument/2006/relationships/extended-properties" Target="/docProps/app.xml" Id="R7e5c7efce9614559" /><Relationship Type="http://schemas.openxmlformats.org/officeDocument/2006/relationships/officeDocument" Target="/ppt/presentation.xml" Id="R015ea159738f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d5ec907e09474c"/>
  </p:sldMasterIdLst>
  <p:notesMasterIdLst>
    <p:notesMasterId xmlns:r="http://schemas.openxmlformats.org/officeDocument/2006/relationships" r:id="R447065a3c18e4137"/>
  </p:notesMasterIdLst>
  <p:sldIdLst>
    <p:sldId xmlns:r="http://schemas.openxmlformats.org/officeDocument/2006/relationships" id="256" r:id="Rb44344f636014145"/>
    <p:sldId xmlns:r="http://schemas.openxmlformats.org/officeDocument/2006/relationships" id="257" r:id="R7ec36a4d0b49474c"/>
    <p:sldId xmlns:r="http://schemas.openxmlformats.org/officeDocument/2006/relationships" id="258" r:id="R70db0a132f074302"/>
    <p:sldId xmlns:r="http://schemas.openxmlformats.org/officeDocument/2006/relationships" id="259" r:id="R9d5e30e76ffe470f"/>
    <p:sldId xmlns:r="http://schemas.openxmlformats.org/officeDocument/2006/relationships" id="260" r:id="Re41e216d213a406e"/>
    <p:sldId xmlns:r="http://schemas.openxmlformats.org/officeDocument/2006/relationships" id="261" r:id="R8405b0f0eac64077"/>
    <p:sldId xmlns:r="http://schemas.openxmlformats.org/officeDocument/2006/relationships" id="262" r:id="R97f58b600a594cac"/>
    <p:sldId xmlns:r="http://schemas.openxmlformats.org/officeDocument/2006/relationships" id="263" r:id="R6b115e2f0b164d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8284bb5d55449d" /><Relationship Type="http://schemas.openxmlformats.org/officeDocument/2006/relationships/slideMaster" Target="/ppt/slideMasters/slideMaster1.xml" Id="Redd5ec907e09474c" /><Relationship Type="http://schemas.openxmlformats.org/officeDocument/2006/relationships/notesMaster" Target="/ppt/notesMasters/notesMaster1.xml" Id="R447065a3c18e4137" /><Relationship Type="http://schemas.openxmlformats.org/officeDocument/2006/relationships/presProps" Target="/ppt/presProps.xml" Id="Rde53462287e448fd" /><Relationship Type="http://schemas.openxmlformats.org/officeDocument/2006/relationships/tableStyles" Target="/ppt/tableStyles.xml" Id="Rc0da0d574800447f" /><Relationship Type="http://schemas.openxmlformats.org/officeDocument/2006/relationships/slide" Target="/ppt/slides/slide1.xml" Id="Rb44344f636014145" /><Relationship Type="http://schemas.openxmlformats.org/officeDocument/2006/relationships/slide" Target="/ppt/slides/slide2.xml" Id="R7ec36a4d0b49474c" /><Relationship Type="http://schemas.openxmlformats.org/officeDocument/2006/relationships/slide" Target="/ppt/slides/slide3.xml" Id="R70db0a132f074302" /><Relationship Type="http://schemas.openxmlformats.org/officeDocument/2006/relationships/slide" Target="/ppt/slides/slide4.xml" Id="R9d5e30e76ffe470f" /><Relationship Type="http://schemas.openxmlformats.org/officeDocument/2006/relationships/slide" Target="/ppt/slides/slide5.xml" Id="Re41e216d213a406e" /><Relationship Type="http://schemas.openxmlformats.org/officeDocument/2006/relationships/slide" Target="/ppt/slides/slide6.xml" Id="R8405b0f0eac64077" /><Relationship Type="http://schemas.openxmlformats.org/officeDocument/2006/relationships/slide" Target="/ppt/slides/slide7.xml" Id="R97f58b600a594cac" /><Relationship Type="http://schemas.openxmlformats.org/officeDocument/2006/relationships/slide" Target="/ppt/slides/slide8.xml" Id="R6b115e2f0b16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6d5ed2d43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63582a2a442ec" /><Relationship Type="http://schemas.openxmlformats.org/officeDocument/2006/relationships/notesMaster" Target="/ppt/notesMasters/notesMaster1.xml" Id="R2232445275ed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34e47b5f794f09" /><Relationship Type="http://schemas.openxmlformats.org/officeDocument/2006/relationships/notesMaster" Target="/ppt/notesMasters/notesMaster1.xml" Id="R36fcdf7b54fe4d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ddd771c8644ca8" /><Relationship Type="http://schemas.openxmlformats.org/officeDocument/2006/relationships/notesMaster" Target="/ppt/notesMasters/notesMaster1.xml" Id="Rfd8422990c9444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93232855dd4ef8" /><Relationship Type="http://schemas.openxmlformats.org/officeDocument/2006/relationships/notesMaster" Target="/ppt/notesMasters/notesMaster1.xml" Id="R2f0c5932cbfc42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da7618267948ee" /><Relationship Type="http://schemas.openxmlformats.org/officeDocument/2006/relationships/notesMaster" Target="/ppt/notesMasters/notesMaster1.xml" Id="R0733d9078ca246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80b24446364b05" /><Relationship Type="http://schemas.openxmlformats.org/officeDocument/2006/relationships/notesMaster" Target="/ppt/notesMasters/notesMaster1.xml" Id="Rd8770dc4b294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65861a25d24fb6" /><Relationship Type="http://schemas.openxmlformats.org/officeDocument/2006/relationships/notesMaster" Target="/ppt/notesMasters/notesMaster1.xml" Id="Ra237465d230b4c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72adfe769142e5" /><Relationship Type="http://schemas.openxmlformats.org/officeDocument/2006/relationships/notesMaster" Target="/ppt/notesMasters/notesMaster1.xml" Id="Rd7215635440c41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editorial image, created for AMAVIO presentation use.</a:t>
            </a:r>
          </a:p>
          <a:p xmlns:a="http://schemas.openxmlformats.org/drawingml/2006/main">
            <a:r>
              <a:t>- Internal positioning statement;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AMAVIO delivery model. No external quantitative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service boundaries adapted from P0 Commercial Architecture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P0 Commercial Architecture v1.0. Prices are net starting prices and subject to scope and gate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P0 Commercial Architecture v1.0, Cohort Landing Launch scope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P0 Abnahme v1.1 and P0 Commercial Architecture v1.0.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P1 Commercial Operating System v1.0, discovery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closing statement.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3960976a248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cec1d1a2ae48cd" /><Relationship Type="http://schemas.openxmlformats.org/officeDocument/2006/relationships/slideLayout" Target="/ppt/slideLayouts/slideLayout1.xml" Id="Re162b3cfeb2c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2b3cfeb2c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6baab82c14414" /><Relationship Type="http://schemas.openxmlformats.org/officeDocument/2006/relationships/image" Target="/ppt/media/image.png" Id="R56507d2d4c95448d" /><Relationship Type="http://schemas.openxmlformats.org/officeDocument/2006/relationships/notesSlide" Target="/ppt/notesSlides/notesSlide1.xml" Id="R5bc5c85c48e6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da996020b4c53" /><Relationship Type="http://schemas.openxmlformats.org/officeDocument/2006/relationships/notesSlide" Target="/ppt/notesSlides/notesSlide2.xml" Id="R43cfd434a310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f1b586d274e6d" /><Relationship Type="http://schemas.openxmlformats.org/officeDocument/2006/relationships/notesSlide" Target="/ppt/notesSlides/notesSlide3.xml" Id="R86a4633ceb2245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290346174768" /><Relationship Type="http://schemas.openxmlformats.org/officeDocument/2006/relationships/notesSlide" Target="/ppt/notesSlides/notesSlide4.xml" Id="R66327c28ec584a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7b35417f49b3" /><Relationship Type="http://schemas.openxmlformats.org/officeDocument/2006/relationships/notesSlide" Target="/ppt/notesSlides/notesSlide5.xml" Id="Rf22924445d1f4c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c7be494d94e4c" /><Relationship Type="http://schemas.openxmlformats.org/officeDocument/2006/relationships/notesSlide" Target="/ppt/notesSlides/notesSlide6.xml" Id="R63663c12e4634c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528ce7b84aef" /><Relationship Type="http://schemas.openxmlformats.org/officeDocument/2006/relationships/notesSlide" Target="/ppt/notesSlides/notesSlide7.xml" Id="R0c6dffa5fe1b41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3e86ff68b47fc" /><Relationship Type="http://schemas.openxmlformats.org/officeDocument/2006/relationships/notesSlide" Target="/ppt/notesSlides/notesSlide8.xml" Id="R439c32baa37346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07d2d4c9544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D17A6-E919-431F-954B-B5A858B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09C8F-0DC0-47D2-A9DC-1C85623E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8F8B8-1721-474D-9389-BCA610B6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2996-CAE1-42B3-9592-B7FD23E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4806-5F9A-4639-8C11-9A698DE4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AC0E0-5CBD-4F76-9E90-14402CB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94FD-62B1-4938-ACE6-8830912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ARBEITGEBER-DECK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8A7CE-94F4-47ED-A28E-5326669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D110E-C315-4FC0-9BCF-30CCD51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619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Wenn Fachkräfte ankommen,</a:t>
            </a:r>
          </a:p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soll der Arbeitsstart nicht</a:t>
            </a:r>
          </a:p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an Koordination scheitern.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6F9F2-2057-410C-8B43-3958076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E4E4"/>
                </a:solidFill>
              </a:defRPr>
            </a:pPr>
            <a:r>
              <a:rPr sz="1500" b="0" i="0">
                <a:solidFill>
                  <a:srgbClr val="D7E4E4"/>
                </a:solidFill>
              </a:rPr>
              <a:t>AMAVIO Living verbindet Wohnraum, Bezugsfertigkeit und Ankunft zu einem kontrollierten Launch.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098E6-FBFD-479D-B213-76F7442D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F9BFB-9E0C-4302-897C-766DE1C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Wohnen. Ankommen. Dazugehören.</a:t>
            </a:r>
          </a:p>
        </p:txBody>
      </p:sp>
    </p:spTree>
    <p:extLst>
      <p:ext uri="{BB962C8B-B14F-4D97-AF65-F5344CB8AC3E}">
        <p14:creationId xmlns:p14="http://schemas.microsoft.com/office/powerpoint/2010/main" val="36564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BCC63-7BDF-41A8-B12D-675969A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6819-062E-451C-AE78-0B531E6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4EEB1-A648-4FF3-B263-DF311DA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32AE0-5335-4069-AFB7-3ADEC28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6B4C-956A-4394-94D1-D43EE22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OPERATIVE LÜCKE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F10D-30B1-426B-8728-D5B4BE2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86ECB-730D-49BF-A721-6412A47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Die Zusage ist da. Der Start ist noch nicht gesichert.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CA9B2-C713-4580-AC81-0965DB8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Zwischen Arbeitsvertrag und erstem stabilen Arbeitstag entstehen viele kleine, aber kritische Abhängigkeiten.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3799A-9183-4BCD-B3E0-03200F9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34341-A818-4C93-AC6E-16108337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5B6FC-8EEC-4D2B-A198-9F2BBA0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Bedarf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CD74-8BEC-4D29-AA7A-F8D86DB5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Kohorte, Stadt, Termin,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6AF4-E553-4565-A17A-F36393F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1B44A-B1CB-4CF6-8031-D3A42E4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E4A38-E99C-4CD6-9C44-8941D3A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Wohnlösung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082C4-11AA-4E9B-AF55-93150B1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Objekte, Partner, Freigaben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533E3-9F7E-4BC3-9410-C48BC5F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670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1C12C-DAC9-4837-A11B-F5EDD4AF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7C65F-0DD2-404E-A952-A33D287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Bezugsfertigkeit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1E821-0324-4685-B6FF-0016A61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528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Möbel, Lieferanten, Übergabe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92376-DF7E-4000-A200-AA2FF11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FE72E-D62D-435A-A63E-B046255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399BE-259D-4F05-BE13-E000016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Einzug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469F7-93D0-4574-9458-4344848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Zuordnung, Schlüssel, Orientierung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FABB3-30C7-4587-946D-26ECB99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815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B4E16-EB6D-4AFA-BD2A-03DEC3F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0B2D2-4C41-4E5C-BE3C-C7C4961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Stabilisierung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F194B-4493-4D9C-8EA3-99E3F7B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30-Tage-Review, Eskalationen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03D5E-BF0A-414D-A0B4-0FA928C6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B7181-C915-4631-B177-56164DE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Ein verantworteter Prozess statt unverbundener Einzelaufgaben.</a:t>
            </a:r>
          </a:p>
        </p:txBody>
      </p:sp>
    </p:spTree>
    <p:extLst>
      <p:ext uri="{BB962C8B-B14F-4D97-AF65-F5344CB8AC3E}">
        <p14:creationId xmlns:p14="http://schemas.microsoft.com/office/powerpoint/2010/main" val="1437611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77FE2-D788-4328-AA3D-3E34176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6DB22-994A-4DAB-A97D-607C1E2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B49C2-1FA0-4E57-AA43-B73849F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7AFD1-193F-48F4-875C-4507364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125D9-BA3C-43B6-B89A-37FD336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LEISTUNG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ADCD-748C-4E95-8092-7337CEC4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3A503-11F5-49BA-97C4-CDE5CE89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Ein Lieferpfad. Klare Verantwortlichkeiten. Sichtbare Entscheidungen.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1EC62-59BB-4F2A-BEFF-09D5148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AMAVIO steuert die Schnittstellen; Verträge, Genehmigungen und Fremdkosten bleiben bei den jeweils zuständigen Parteien.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C2E13-FBCE-45AA-A837-4D3B989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5FE97-A352-4634-89AC-F4F4414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53887-EE77-4061-9591-0434453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C652F-7BA1-4607-9D79-E824A7C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Klarer 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F3E90-2373-44DA-9EC4-6E7370E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Bedarfsmatrix, Rollen, kritischer Pfad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A38A-0DA1-4285-88F4-54F3EF6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96186-5641-4712-B792-895A527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1A0C-6708-4CCA-8576-4D2F304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Kontrollierte Umsetzung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14689-FA6B-4ACA-A9A3-8A9482B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Meilensteine, Lieferantenkoordination, Abnahme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01897-BFA9-40EF-8090-21E76B7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89410-F8C8-4C0B-A6CB-8A758FA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FF19C-5959-4797-815A-40D3C115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Stabiler Übergang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43A2-E737-452E-A92B-6002CB4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Einzug, Issue Log, 30-Tage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4E39E-A6F3-4578-A864-14F93BF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9DA86-254B-4D77-9D78-EFAE50F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AMAVIO Living ist Projekt- und Implementierungspartner – keine Wohnungsgarantie.</a:t>
            </a:r>
          </a:p>
        </p:txBody>
      </p:sp>
    </p:spTree>
    <p:extLst>
      <p:ext uri="{BB962C8B-B14F-4D97-AF65-F5344CB8AC3E}">
        <p14:creationId xmlns:p14="http://schemas.microsoft.com/office/powerpoint/2010/main" val="649801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88EED-2070-41D4-A826-4F5C5DCF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3B43C-A039-415A-B4D0-7CEEC1BA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C6107-20E0-43D8-96AB-A3311BC7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1F2B0-6181-475B-B84E-99FEEF03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8D15E-5821-473E-AD71-D7A0C128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PRODUKTLEITER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DC309-DC1C-4522-BEC7-6F2161B3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79845-7478-4748-A43E-0EFFFFFF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Der richtige Einstieg folgt Ihrer Entscheidung.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1B466-433E-4327-9694-4F9FB20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219450" cy="3571875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20D65-015F-44A2-BB26-115CDDC3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DECISION 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90E1A-B15E-4B6E-B158-7DE0480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Readiness</a:t>
            </a:r>
          </a:p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Blueprint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7961F-DFFB-4B19-972C-74686B80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4022C-083F-431F-9C12-31799CC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6B70"/>
                </a:solidFill>
              </a:defRPr>
            </a:pPr>
            <a:r>
              <a:rPr sz="1350" b="1" i="0">
                <a:solidFill>
                  <a:srgbClr val="0C6B70"/>
                </a:solidFill>
              </a:rPr>
              <a:t>ab 12.500 € netto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A123A-B839-4031-AEDF-AF02094E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C2C38"/>
                </a:solidFill>
              </a:defRPr>
            </a:pPr>
            <a:r>
              <a:rPr sz="1200" b="1" i="0">
                <a:solidFill>
                  <a:srgbClr val="1C2C38"/>
                </a:solidFill>
              </a:rPr>
              <a:t>Beschlussfähiger Housing-&amp;-Arrival-Plan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0DDD1-AF2D-427C-9C17-C7857FCC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785"/>
                </a:solidFill>
              </a:defRPr>
            </a:pPr>
            <a:r>
              <a:rPr sz="975" b="0" i="0">
                <a:solidFill>
                  <a:srgbClr val="667785"/>
                </a:solidFill>
              </a:rPr>
              <a:t>1 Stadt · 1 Zielgruppe · bis 25 Ankünfte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6D854-7BD8-4ED4-9E6F-B7E8B034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90800"/>
            <a:ext cx="3219450" cy="3571875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FE037-4E0F-4688-ABB4-C038A967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57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1E9DC"/>
                </a:solidFill>
              </a:defRPr>
            </a:pPr>
            <a:r>
              <a:rPr sz="825" b="1" i="0">
                <a:solidFill>
                  <a:srgbClr val="F1E9DC"/>
                </a:solidFill>
              </a:rPr>
              <a:t>LAUNCH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79E10-5B23-4F46-A56F-9A746DB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623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Cohort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Landing Launch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AE2D8-A96D-4211-B5D6-91EAA73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24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69E35-421F-4805-B830-39B86BD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1E9DC"/>
                </a:solidFill>
              </a:defRPr>
            </a:pPr>
            <a:r>
              <a:rPr sz="1350" b="1" i="0">
                <a:solidFill>
                  <a:srgbClr val="F1E9DC"/>
                </a:solidFill>
              </a:rPr>
              <a:t>ab 29.500 € netto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9E7F9-61ED-41F3-9A30-815139D6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38675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Koordinierter, dokumentierter Launch-Pfad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77383-9A39-4BCF-B8A5-2665222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4387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FDADA"/>
                </a:solidFill>
              </a:defRPr>
            </a:pPr>
            <a:r>
              <a:rPr sz="975" b="0" i="0">
                <a:solidFill>
                  <a:srgbClr val="CFDADA"/>
                </a:solidFill>
              </a:rPr>
              <a:t>1 Stadt · bis 20 Ankünfte · 4 Wochen Stabilisierung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124B3-32E4-423F-9A1B-9037E089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3219450" cy="3571875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CEA51-CC1D-434F-AED4-DF32F937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SCALE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02A00-CC2C-41DD-96AA-08A2517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Arrival</a:t>
            </a:r>
          </a:p>
          <a:p xmlns:a="http://schemas.openxmlformats.org/drawingml/2006/main"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Office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5C944-2CA4-4B21-83B6-534D3538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5350B-2DE8-40EB-A332-AD2A09CD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6B70"/>
                </a:solidFill>
              </a:defRPr>
            </a:pPr>
            <a:r>
              <a:rPr sz="1350" b="1" i="0">
                <a:solidFill>
                  <a:srgbClr val="0C6B70"/>
                </a:solidFill>
              </a:rPr>
              <a:t>ab 15.000 € Setup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7E024-D827-41F8-813B-02D01738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38675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C2C38"/>
                </a:solidFill>
              </a:defRPr>
            </a:pPr>
            <a:r>
              <a:rPr sz="1200" b="1" i="0">
                <a:solidFill>
                  <a:srgbClr val="1C2C38"/>
                </a:solidFill>
              </a:rPr>
              <a:t>Wiederholbare Arrival-Funktion mit Reporting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63059-1E89-4840-A17C-F702DEEF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387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785"/>
                </a:solidFill>
              </a:defRPr>
            </a:pPr>
            <a:r>
              <a:rPr sz="975" b="0" i="0">
                <a:solidFill>
                  <a:srgbClr val="667785"/>
                </a:solidFill>
              </a:rPr>
              <a:t>Setup + SLA · Retainer ab 4.500 €/Monat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B5DD5-0DE6-4A9C-8139-2A779DC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171B1-21F0-4B8E-AF7A-CBB099BC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Alle Preise zzgl. Fremdkosten; finaler Umfang und Zahlungsmeilensteine im individuellen SOW.</a:t>
            </a:r>
          </a:p>
        </p:txBody>
      </p:sp>
    </p:spTree>
    <p:extLst>
      <p:ext uri="{BB962C8B-B14F-4D97-AF65-F5344CB8AC3E}">
        <p14:creationId xmlns:p14="http://schemas.microsoft.com/office/powerpoint/2010/main" val="439984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5B706-FF66-41C5-89A8-9365606B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BD06-ECBC-4097-80B0-E6FC2D8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BED8-0C14-4B47-879B-42C65F6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0B0A7-D268-497B-8553-512A166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1B7B4-DDD8-4DCF-9617-0DD825D6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WAS SIE KONKRET BEKOMMEN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08A96-99DA-48A4-A91A-B4C680E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F73A2-35B2-450B-B485-0526F7E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Der Launch wird nicht versprochen. Er wird steuerbar gemacht.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317C-E048-4790-9A03-32C543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Beispiel: Cohort Landing Launch für eine konkret terminierte Rekrutierungswelle.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F53C-4127-4D63-A6A5-984BC66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DB7D7-3C45-42AE-B40D-E20E24C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Stadt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A1FA-4C03-4D25-9CF3-5567D93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klarer Standort- und Entscheidungsrahmen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E66C0-6A63-43BB-A2D2-E56E645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≤20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2E76-2CEB-4DE7-A000-EE22864C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Ankünfte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1821D-5074-4A69-AC17-726B631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definierte Kohorte und Zimmer-/Einzugstaktung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4C5DD-A622-42A7-8633-79A50E19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3D81C-3B5C-4AF2-A64B-E9D4A9F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Wochen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D11B3-39D7-41F4-94B4-E2BA5AA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Stabilisierung nach dem Einzug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EEB09-5199-4411-8CD7-AA130DF9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1E9DC"/>
                </a:solidFill>
              </a:defRPr>
            </a:pPr>
            <a:r>
              <a:rPr sz="2700" b="1" i="0">
                <a:solidFill>
                  <a:srgbClr val="F1E9DC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F4F73-528F-4A2E-A576-4C0BBE2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62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Readout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6558D-0A19-4ED9-98AB-233F467F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957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dokumentierter Status, offene Punkte, nächste Entscheidung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E8F96-B745-4676-9F9B-0FBC16A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8784F-7FB2-4FE9-A797-9E47AD5F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Keine Garantie für Mietvertrag, Visa, Anerkennung, Lieferverfügbarkeit oder Arbeitsbeginn.</a:t>
            </a:r>
          </a:p>
        </p:txBody>
      </p:sp>
    </p:spTree>
    <p:extLst>
      <p:ext uri="{BB962C8B-B14F-4D97-AF65-F5344CB8AC3E}">
        <p14:creationId xmlns:p14="http://schemas.microsoft.com/office/powerpoint/2010/main" val="495363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C1381-B69C-4EDF-B51C-2215F14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E564A-419F-4D2E-BDC7-35E897C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0150-7E96-4ECA-9033-3E9D3A6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283A-7FA5-428A-937D-A0B8292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87791-E7F4-4A90-8E87-67B46DC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KONTROLLE VOR 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DF3B-BAE8-4C98-8078-928EFB74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80C0-A3D9-493C-AE9A-C9C03F9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Fünf Freigaben schützen Budget, Qualität und Arbeitsstart.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BFA8A-44F8-495A-A506-5447F00C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Ein Projekt beginnt erst, wenn Scope, Cash, Daten, Rollen und Kapazität zusammenpassen.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4B92-4EF4-41CD-8178-77552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313D-A56D-4102-A298-4E9C6F9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AC27-6AEF-45FF-B115-3815330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Scope &amp; Abnahme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7377-3B70-44F1-BC5F-861B2F5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0E51-8180-438A-87E3-19DACD77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5950-4F4E-4C78-9431-3E6A624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Externe Kosten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50801-0DE9-4D97-AA79-BC7DBD6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5E8F2-88F4-4541-A567-2A471E5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836E-FB7B-4751-AE71-9B0B5F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Daten &amp;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211C2-895C-4A6B-9A29-9D97E9A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D9750-2CD0-4FA1-8D81-8105E2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853FC-396F-43A7-AE91-ADE347D2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Kapazität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1F88F-CA44-43A5-849F-B14FF21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42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FAD39-2D34-4104-8BF3-A8DCCC5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12258-D7CD-4D8A-B24C-7B297F75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9097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Change 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EF985-3DD1-45CA-B789-0A7D36FC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9E5B3-8D74-4C76-9EC3-A5BBBBE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„Ein Projektplan ist erst dann gut, wenn er auch die Stopps kennt.“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B90FC-9B2C-416E-BBB3-77FA393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Delivery Principle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68184-6279-4397-9E02-54518D3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B5B14-E9C7-498B-81FA-D210E55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P0-Gates gelten vor jeder verbindlichen Leistungserbringung.</a:t>
            </a:r>
          </a:p>
        </p:txBody>
      </p:sp>
    </p:spTree>
    <p:extLst>
      <p:ext uri="{BB962C8B-B14F-4D97-AF65-F5344CB8AC3E}">
        <p14:creationId xmlns:p14="http://schemas.microsoft.com/office/powerpoint/2010/main" val="490779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9263A-2EE5-4FED-9CB3-900F839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7F9AC-43D4-4088-AA1F-886CFEA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35FA2-743B-49B4-AC0C-FF7279C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F5F8B-766E-4D99-BC59-6B975ED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37282-C05C-485C-8262-7DA5D68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NÄCHSTE ENTSCHEIDUNG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8CED-A978-4C4A-8278-251B48F9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59280-F3B9-45F5-BC04-1BEC0B0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In 45 Minuten wissen wir, ob ein Readiness Blueprint der richtige erste Schritt 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1834-A448-4639-994E-41016FE7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Kein Standard-Pitch: Wir klären Ihre Kohorte, Stadt, Zeitachse, Budgetroute, Verantwortlichkeiten und Stop-Fragen.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39F0-7B48-47CD-8F61-C11C288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01  Wie viele Personen – wann?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4EF36-68A0-43E0-B0E2-B67CEE5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02  Welche Stadt und Pendellogik?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E0B62-0FE4-41C7-AF6E-6EBF4AF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03  Wer trägt Budget und Abnahme?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76D57-F929-4DDD-AAC7-44F702B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04  Welche Wohnoptionen existieren?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3CBD-09D7-4032-85AA-E7BEEFBE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</a:defRPr>
            </a:pPr>
            <a:r>
              <a:rPr sz="1275" b="0" i="0">
                <a:solidFill>
                  <a:srgbClr val="102A43"/>
                </a:solidFill>
              </a:rPr>
              <a:t>05  Welche Fremdkosten müssen freigegeben werden?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484E-69B7-4F3F-A7C4-5748086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C6B70"/>
                </a:solidFill>
              </a:defRPr>
            </a:pPr>
            <a:r>
              <a:rPr sz="1275" b="1" i="0">
                <a:solidFill>
                  <a:srgbClr val="0C6B70"/>
                </a:solidFill>
              </a:rPr>
              <a:t>06  Welche Stop-Frage ist heute noch offen?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C9782-F7C7-4239-A6F2-A767833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AAA2-A070-463B-9453-D4B27F5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Empfohlener Start: Discovery → Readiness Blueprint → Entscheidung über Launch oder Arrival Office.</a:t>
            </a:r>
          </a:p>
        </p:txBody>
      </p:sp>
    </p:spTree>
    <p:extLst>
      <p:ext uri="{BB962C8B-B14F-4D97-AF65-F5344CB8AC3E}">
        <p14:creationId xmlns:p14="http://schemas.microsoft.com/office/powerpoint/2010/main" val="197158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71920-986C-440B-A93C-F883580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EFC6-C1DB-4A04-85BF-1A211CD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DA7DC-8FC7-490B-9345-199545DA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79BE-0128-4D10-8BC5-FA82CB74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D66C8-462A-486E-9F51-0F3106E3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>
                <a:solidFill>
                  <a:srgbClr val="FFFFFF"/>
                </a:solidFill>
              </a:rPr>
              <a:t>Wohnen. Ankommen. Dazugehören.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BC06-2D3F-4411-B506-A8FCA5A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7E4E4"/>
                </a:solidFill>
              </a:defRPr>
            </a:pPr>
            <a:r>
              <a:rPr sz="1650" b="0" i="0">
                <a:solidFill>
                  <a:srgbClr val="D7E4E4"/>
                </a:solidFill>
              </a:rPr>
              <a:t>AMAVIO Living schafft die operative Infrastruktur, damit internationale Teams nicht nur eingestellt werden – sondern gut starten können.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0708-97D5-4581-93C0-55EA8B46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C2B2-E044-4F45-AA45-06765322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1E9DC"/>
                </a:solidFill>
              </a:defRPr>
            </a:pPr>
            <a:r>
              <a:rPr sz="975" b="1" i="0">
                <a:solidFill>
                  <a:srgbClr val="F1E9DC"/>
                </a:solidFill>
              </a:rPr>
              <a:t>Nächster Schritt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EF635-5C62-4E52-8A62-40089DA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45-Minuten Readiness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FFA80-69D7-4F37-AB37-7114DE4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6C6C8"/>
                </a:solidFill>
              </a:defRPr>
            </a:pPr>
            <a:r>
              <a:rPr sz="900" b="0" i="0">
                <a:solidFill>
                  <a:srgbClr val="B6C6C8"/>
                </a:solidFill>
              </a:rPr>
              <a:t>AMAVIO Holding UG (haftungsbeschränkt) · Düsseldorf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1B50D-9E29-4EB2-8A65-28D1408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730DB-4110-4EFE-A90A-513BB7C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AMAVIO Living · Workforce Housing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45608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2026-07-28T06:15:37.1250000Z</dcterms:created>
  <dcterms:modified xsi:type="dcterms:W3CDTF">2026-07-28T06:15:37.1250000Z</dcterms:modified>
</coreProperties>
</file>